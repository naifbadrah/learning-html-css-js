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86" r:id="rId1"/>
  </p:sldMasterIdLst>
  <p:sldIdLst>
    <p:sldId id="256" r:id="rId2"/>
    <p:sldId id="257" r:id="rId3"/>
    <p:sldId id="259" r:id="rId4"/>
    <p:sldId id="266" r:id="rId5"/>
    <p:sldId id="262" r:id="rId6"/>
    <p:sldId id="263" r:id="rId7"/>
    <p:sldId id="260" r:id="rId8"/>
    <p:sldId id="261"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p>
            <a:fld id="{5D5FDBAC-A098-4333-9FF2-D3358269CEA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191C7-B3FA-418B-AE60-43C47FBEAFA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54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5D5FDBAC-A098-4333-9FF2-D3358269CEA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191C7-B3FA-418B-AE60-43C47FBEAFAE}" type="slidenum">
              <a:rPr lang="en-US" smtClean="0"/>
              <a:t>‹#›</a:t>
            </a:fld>
            <a:endParaRPr lang="en-US"/>
          </a:p>
        </p:txBody>
      </p:sp>
    </p:spTree>
    <p:extLst>
      <p:ext uri="{BB962C8B-B14F-4D97-AF65-F5344CB8AC3E}">
        <p14:creationId xmlns:p14="http://schemas.microsoft.com/office/powerpoint/2010/main" val="2419531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5D5FDBAC-A098-4333-9FF2-D3358269CEA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191C7-B3FA-418B-AE60-43C47FBEAFA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727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5D5FDBAC-A098-4333-9FF2-D3358269CEAE}"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B191C7-B3FA-418B-AE60-43C47FBEAFAE}" type="slidenum">
              <a:rPr lang="en-US" smtClean="0"/>
              <a:t>‹#›</a:t>
            </a:fld>
            <a:endParaRPr lang="en-US"/>
          </a:p>
        </p:txBody>
      </p:sp>
    </p:spTree>
    <p:extLst>
      <p:ext uri="{BB962C8B-B14F-4D97-AF65-F5344CB8AC3E}">
        <p14:creationId xmlns:p14="http://schemas.microsoft.com/office/powerpoint/2010/main" val="1773457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1097280" y="2582334"/>
            <a:ext cx="4937760" cy="33782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217920" y="2582334"/>
            <a:ext cx="4937760" cy="33782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5D5FDBAC-A098-4333-9FF2-D3358269CEAE}" type="datetimeFigureOut">
              <a:rPr lang="en-US" smtClean="0"/>
              <a:t>12/11/2024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B191C7-B3FA-418B-AE60-43C47FBEAFAE}" type="slidenum">
              <a:rPr lang="en-US" smtClean="0"/>
              <a:t>‹#›</a:t>
            </a:fld>
            <a:endParaRPr lang="en-US"/>
          </a:p>
        </p:txBody>
      </p:sp>
    </p:spTree>
    <p:extLst>
      <p:ext uri="{BB962C8B-B14F-4D97-AF65-F5344CB8AC3E}">
        <p14:creationId xmlns:p14="http://schemas.microsoft.com/office/powerpoint/2010/main" val="3794680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5D5FDBAC-A098-4333-9FF2-D3358269CEAE}" type="datetimeFigureOut">
              <a:rPr lang="en-US" smtClean="0"/>
              <a:t>12/11/2024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B191C7-B3FA-418B-AE60-43C47FBEAFAE}" type="slidenum">
              <a:rPr lang="en-US" smtClean="0"/>
              <a:t>‹#›</a:t>
            </a:fld>
            <a:endParaRPr lang="en-US"/>
          </a:p>
        </p:txBody>
      </p:sp>
    </p:spTree>
    <p:extLst>
      <p:ext uri="{BB962C8B-B14F-4D97-AF65-F5344CB8AC3E}">
        <p14:creationId xmlns:p14="http://schemas.microsoft.com/office/powerpoint/2010/main" val="666726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فارغ">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D5FDBAC-A098-4333-9FF2-D3358269CEAE}" type="datetimeFigureOut">
              <a:rPr lang="en-US" smtClean="0"/>
              <a:t>12/11/2024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1B191C7-B3FA-418B-AE60-43C47FBEAFAE}" type="slidenum">
              <a:rPr lang="en-US" smtClean="0"/>
              <a:t>‹#›</a:t>
            </a:fld>
            <a:endParaRPr lang="en-US"/>
          </a:p>
        </p:txBody>
      </p:sp>
    </p:spTree>
    <p:extLst>
      <p:ext uri="{BB962C8B-B14F-4D97-AF65-F5344CB8AC3E}">
        <p14:creationId xmlns:p14="http://schemas.microsoft.com/office/powerpoint/2010/main" val="961704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محتوى مع تسمية توضيحية">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D5FDBAC-A098-4333-9FF2-D3358269CEAE}" type="datetimeFigureOut">
              <a:rPr lang="en-US" smtClean="0"/>
              <a:t>12/11/2024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1B191C7-B3FA-418B-AE60-43C47FBEAFAE}" type="slidenum">
              <a:rPr lang="en-US" smtClean="0"/>
              <a:t>‹#›</a:t>
            </a:fld>
            <a:endParaRPr lang="en-US"/>
          </a:p>
        </p:txBody>
      </p:sp>
    </p:spTree>
    <p:extLst>
      <p:ext uri="{BB962C8B-B14F-4D97-AF65-F5344CB8AC3E}">
        <p14:creationId xmlns:p14="http://schemas.microsoft.com/office/powerpoint/2010/main" val="1547271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مع تسمية توضيحية">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5D5FDBAC-A098-4333-9FF2-D3358269CEAE}"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B191C7-B3FA-418B-AE60-43C47FBEAFAE}" type="slidenum">
              <a:rPr lang="en-US" smtClean="0"/>
              <a:t>‹#›</a:t>
            </a:fld>
            <a:endParaRPr lang="en-US"/>
          </a:p>
        </p:txBody>
      </p:sp>
    </p:spTree>
    <p:extLst>
      <p:ext uri="{BB962C8B-B14F-4D97-AF65-F5344CB8AC3E}">
        <p14:creationId xmlns:p14="http://schemas.microsoft.com/office/powerpoint/2010/main" val="1098146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5D5FDBAC-A098-4333-9FF2-D3358269CEA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191C7-B3FA-418B-AE60-43C47FBEAFAE}" type="slidenum">
              <a:rPr lang="en-US" smtClean="0"/>
              <a:t>‹#›</a:t>
            </a:fld>
            <a:endParaRPr lang="en-US"/>
          </a:p>
        </p:txBody>
      </p:sp>
    </p:spTree>
    <p:extLst>
      <p:ext uri="{BB962C8B-B14F-4D97-AF65-F5344CB8AC3E}">
        <p14:creationId xmlns:p14="http://schemas.microsoft.com/office/powerpoint/2010/main" val="3664292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عنوان ونص عموديان">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5D5FDBAC-A098-4333-9FF2-D3358269CEA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191C7-B3FA-418B-AE60-43C47FBEAFAE}" type="slidenum">
              <a:rPr lang="en-US" smtClean="0"/>
              <a:t>‹#›</a:t>
            </a:fld>
            <a:endParaRPr lang="en-US"/>
          </a:p>
        </p:txBody>
      </p:sp>
    </p:spTree>
    <p:extLst>
      <p:ext uri="{BB962C8B-B14F-4D97-AF65-F5344CB8AC3E}">
        <p14:creationId xmlns:p14="http://schemas.microsoft.com/office/powerpoint/2010/main" val="2413343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5FDBAC-A098-4333-9FF2-D3358269CEAE}" type="datetimeFigureOut">
              <a:rPr lang="en-US" smtClean="0"/>
              <a:t>12/11/2024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1B191C7-B3FA-418B-AE60-43C47FBEAFAE}"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7132507"/>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40ACECD7-B55C-C824-44DD-CBD6ABF2E590}"/>
              </a:ext>
            </a:extLst>
          </p:cNvPr>
          <p:cNvSpPr>
            <a:spLocks noGrp="1"/>
          </p:cNvSpPr>
          <p:nvPr>
            <p:ph type="ctrTitle"/>
          </p:nvPr>
        </p:nvSpPr>
        <p:spPr>
          <a:xfrm>
            <a:off x="1097280" y="758952"/>
            <a:ext cx="10058400" cy="3892168"/>
          </a:xfrm>
        </p:spPr>
        <p:style>
          <a:lnRef idx="2">
            <a:schemeClr val="dk1"/>
          </a:lnRef>
          <a:fillRef idx="1">
            <a:schemeClr val="lt1"/>
          </a:fillRef>
          <a:effectRef idx="0">
            <a:schemeClr val="dk1"/>
          </a:effectRef>
          <a:fontRef idx="minor">
            <a:schemeClr val="dk1"/>
          </a:fontRef>
        </p:style>
        <p:txBody>
          <a:bodyPr>
            <a:normAutofit fontScale="90000"/>
          </a:bodyPr>
          <a:lstStyle/>
          <a:p>
            <a:pPr algn="ctr"/>
            <a:br>
              <a:rPr lang="en-US" dirty="0"/>
            </a:br>
            <a:r>
              <a:rPr lang="en-US" dirty="0"/>
              <a:t>magnesite</a:t>
            </a:r>
            <a:br>
              <a:rPr lang="en-US" dirty="0"/>
            </a:br>
            <a:br>
              <a:rPr lang="en-US" dirty="0"/>
            </a:br>
            <a:endParaRPr lang="en-US" dirty="0"/>
          </a:p>
        </p:txBody>
      </p:sp>
      <p:sp>
        <p:nvSpPr>
          <p:cNvPr id="10" name="Rectangle 9">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عنوان فرعي 2">
            <a:extLst>
              <a:ext uri="{FF2B5EF4-FFF2-40B4-BE49-F238E27FC236}">
                <a16:creationId xmlns:a16="http://schemas.microsoft.com/office/drawing/2014/main" id="{C65D5861-EEBC-D163-7B0D-7CC416BAAA4D}"/>
              </a:ext>
            </a:extLst>
          </p:cNvPr>
          <p:cNvSpPr>
            <a:spLocks noGrp="1"/>
          </p:cNvSpPr>
          <p:nvPr>
            <p:ph type="subTitle" idx="1"/>
          </p:nvPr>
        </p:nvSpPr>
        <p:spPr>
          <a:xfrm>
            <a:off x="1100051" y="5225240"/>
            <a:ext cx="10058400" cy="1143000"/>
          </a:xfrm>
        </p:spPr>
        <p:txBody>
          <a:bodyPr>
            <a:normAutofit/>
          </a:bodyPr>
          <a:lstStyle/>
          <a:p>
            <a:endParaRPr lang="en-US" dirty="0">
              <a:solidFill>
                <a:srgbClr val="FFFFFF"/>
              </a:solidFill>
            </a:endParaRPr>
          </a:p>
        </p:txBody>
      </p:sp>
      <p:sp>
        <p:nvSpPr>
          <p:cNvPr id="12" name="Rectangle 11">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8082274"/>
      </p:ext>
    </p:extLst>
  </p:cSld>
  <p:clrMapOvr>
    <a:masterClrMapping/>
  </p:clrMapOvr>
  <mc:AlternateContent xmlns:mc="http://schemas.openxmlformats.org/markup-compatibility/2006" xmlns:p14="http://schemas.microsoft.com/office/powerpoint/2010/main">
    <mc:Choice Requires="p14">
      <p:transition spd="slow" p14:dur="1500">
        <p14:reveal thruBlk="1"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58" name="Rectangle 1043">
            <a:extLst>
              <a:ext uri="{FF2B5EF4-FFF2-40B4-BE49-F238E27FC236}">
                <a16:creationId xmlns:a16="http://schemas.microsoft.com/office/drawing/2014/main" id="{87008D65-4C48-4CAB-8600-9F4C427CE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9" name="Rectangle 1045">
            <a:extLst>
              <a:ext uri="{FF2B5EF4-FFF2-40B4-BE49-F238E27FC236}">
                <a16:creationId xmlns:a16="http://schemas.microsoft.com/office/drawing/2014/main" id="{9D286FC8-DD5D-4402-A2C0-8739BDAFE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060" name="Straight Connector 1047">
            <a:extLst>
              <a:ext uri="{FF2B5EF4-FFF2-40B4-BE49-F238E27FC236}">
                <a16:creationId xmlns:a16="http://schemas.microsoft.com/office/drawing/2014/main" id="{5CC23917-FA20-4DBD-BA3C-868A3EA84D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061" name="Rectangle 1049">
            <a:extLst>
              <a:ext uri="{FF2B5EF4-FFF2-40B4-BE49-F238E27FC236}">
                <a16:creationId xmlns:a16="http://schemas.microsoft.com/office/drawing/2014/main" id="{44F0AD82-F56E-467D-95C2-3BD4458AF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3F49683F-7247-ED3F-D0AC-26302098095C}"/>
              </a:ext>
            </a:extLst>
          </p:cNvPr>
          <p:cNvSpPr>
            <a:spLocks noGrp="1"/>
          </p:cNvSpPr>
          <p:nvPr>
            <p:ph type="title"/>
          </p:nvPr>
        </p:nvSpPr>
        <p:spPr>
          <a:xfrm>
            <a:off x="5289754" y="639098"/>
            <a:ext cx="6253317" cy="1238616"/>
          </a:xfrm>
        </p:spPr>
        <p:txBody>
          <a:bodyPr vert="horz" lIns="91440" tIns="45720" rIns="91440" bIns="45720" rtlCol="0" anchor="b">
            <a:normAutofit/>
          </a:bodyPr>
          <a:lstStyle/>
          <a:p>
            <a:r>
              <a:rPr lang="en-US" sz="8000" dirty="0">
                <a:solidFill>
                  <a:schemeClr val="tx1">
                    <a:lumMod val="85000"/>
                    <a:lumOff val="15000"/>
                  </a:schemeClr>
                </a:solidFill>
              </a:rPr>
              <a:t>magnesite</a:t>
            </a:r>
          </a:p>
        </p:txBody>
      </p:sp>
      <p:cxnSp>
        <p:nvCxnSpPr>
          <p:cNvPr id="1062" name="Straight Connector 1051">
            <a:extLst>
              <a:ext uri="{FF2B5EF4-FFF2-40B4-BE49-F238E27FC236}">
                <a16:creationId xmlns:a16="http://schemas.microsoft.com/office/drawing/2014/main" id="{3A96147B-46E1-408E-9328-A144698D84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063" name="Rectangle 1053">
            <a:extLst>
              <a:ext uri="{FF2B5EF4-FFF2-40B4-BE49-F238E27FC236}">
                <a16:creationId xmlns:a16="http://schemas.microsoft.com/office/drawing/2014/main" id="{C157AC55-E4B8-4916-B591-6F8F77F5F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64" name="Rectangle 1055">
            <a:extLst>
              <a:ext uri="{FF2B5EF4-FFF2-40B4-BE49-F238E27FC236}">
                <a16:creationId xmlns:a16="http://schemas.microsoft.com/office/drawing/2014/main" id="{20FA8493-BCD7-4CF6-8320-089C60869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2" name="عنصر نائب للمحتوى 41">
            <a:extLst>
              <a:ext uri="{FF2B5EF4-FFF2-40B4-BE49-F238E27FC236}">
                <a16:creationId xmlns:a16="http://schemas.microsoft.com/office/drawing/2014/main" id="{59741754-982A-423D-A64C-1B2F43B8EEEB}"/>
              </a:ext>
            </a:extLst>
          </p:cNvPr>
          <p:cNvSpPr>
            <a:spLocks noGrp="1"/>
          </p:cNvSpPr>
          <p:nvPr>
            <p:ph idx="1"/>
          </p:nvPr>
        </p:nvSpPr>
        <p:spPr>
          <a:xfrm>
            <a:off x="5455058" y="1910540"/>
            <a:ext cx="5865926" cy="3904547"/>
          </a:xfrm>
        </p:spPr>
        <p:txBody>
          <a:bodyPr>
            <a:normAutofit/>
          </a:bodyPr>
          <a:lstStyle/>
          <a:p>
            <a:r>
              <a:rPr lang="en-US" sz="3200" dirty="0"/>
              <a:t>It is a mineral composed of magnesium </a:t>
            </a:r>
            <a:r>
              <a:rPr lang="en-US" sz="3200" dirty="0" err="1"/>
              <a:t>carbonat</a:t>
            </a:r>
            <a:r>
              <a:rPr lang="en-US" sz="3200" dirty="0"/>
              <a:t> (MgCO3) which is a widespread mineral </a:t>
            </a:r>
          </a:p>
          <a:p>
            <a:r>
              <a:rPr lang="en-US" sz="3200" dirty="0"/>
              <a:t>And belongs to the family of carbonate minerals</a:t>
            </a:r>
          </a:p>
        </p:txBody>
      </p:sp>
      <p:pic>
        <p:nvPicPr>
          <p:cNvPr id="44" name="Picture 22">
            <a:extLst>
              <a:ext uri="{FF2B5EF4-FFF2-40B4-BE49-F238E27FC236}">
                <a16:creationId xmlns:a16="http://schemas.microsoft.com/office/drawing/2014/main" id="{4A4A5218-7A76-0577-04B2-1213CD811B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783" y="1137028"/>
            <a:ext cx="3937727" cy="3617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825381"/>
      </p:ext>
    </p:extLst>
  </p:cSld>
  <p:clrMapOvr>
    <a:masterClrMapping/>
  </p:clrMapOvr>
  <mc:AlternateContent xmlns:mc="http://schemas.openxmlformats.org/markup-compatibility/2006" xmlns:p14="http://schemas.microsoft.com/office/powerpoint/2010/main">
    <mc:Choice Requires="p14">
      <p:transition spd="slow" p14:dur="1500">
        <p14:reveal thruBlk="1"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2">
                                            <p:txEl>
                                              <p:pRg st="0" end="0"/>
                                            </p:txEl>
                                          </p:spTgt>
                                        </p:tgtEl>
                                        <p:attrNameLst>
                                          <p:attrName>style.visibility</p:attrName>
                                        </p:attrNameLst>
                                      </p:cBhvr>
                                      <p:to>
                                        <p:strVal val="visible"/>
                                      </p:to>
                                    </p:set>
                                    <p:animEffect transition="in" filter="fade">
                                      <p:cBhvr>
                                        <p:cTn id="12" dur="1000"/>
                                        <p:tgtEl>
                                          <p:spTgt spid="42">
                                            <p:txEl>
                                              <p:pRg st="0" end="0"/>
                                            </p:txEl>
                                          </p:spTgt>
                                        </p:tgtEl>
                                      </p:cBhvr>
                                    </p:animEffect>
                                    <p:anim calcmode="lin" valueType="num">
                                      <p:cBhvr>
                                        <p:cTn id="13"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2">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2">
                                            <p:txEl>
                                              <p:pRg st="1" end="1"/>
                                            </p:txEl>
                                          </p:spTgt>
                                        </p:tgtEl>
                                        <p:attrNameLst>
                                          <p:attrName>style.visibility</p:attrName>
                                        </p:attrNameLst>
                                      </p:cBhvr>
                                      <p:to>
                                        <p:strVal val="visible"/>
                                      </p:to>
                                    </p:set>
                                    <p:animEffect transition="in" filter="fade">
                                      <p:cBhvr>
                                        <p:cTn id="17" dur="1000"/>
                                        <p:tgtEl>
                                          <p:spTgt spid="42">
                                            <p:txEl>
                                              <p:pRg st="1" end="1"/>
                                            </p:txEl>
                                          </p:spTgt>
                                        </p:tgtEl>
                                      </p:cBhvr>
                                    </p:animEffect>
                                    <p:anim calcmode="lin" valueType="num">
                                      <p:cBhvr>
                                        <p:cTn id="18" dur="1000" fill="hold"/>
                                        <p:tgtEl>
                                          <p:spTgt spid="42">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4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wheel(1)">
                                      <p:cBhvr>
                                        <p:cTn id="24" dur="2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22C8022-48C4-14C9-B1C9-61FE33A72C57}"/>
              </a:ext>
            </a:extLst>
          </p:cNvPr>
          <p:cNvSpPr>
            <a:spLocks noGrp="1"/>
          </p:cNvSpPr>
          <p:nvPr>
            <p:ph type="title"/>
          </p:nvPr>
        </p:nvSpPr>
        <p:spPr/>
        <p:txBody>
          <a:bodyPr>
            <a:normAutofit/>
          </a:bodyPr>
          <a:lstStyle/>
          <a:p>
            <a:r>
              <a:rPr lang="en-US" sz="6600" dirty="0">
                <a:solidFill>
                  <a:schemeClr val="tx1"/>
                </a:solidFill>
              </a:rPr>
              <a:t>Magnesite</a:t>
            </a:r>
          </a:p>
        </p:txBody>
      </p:sp>
      <p:sp>
        <p:nvSpPr>
          <p:cNvPr id="3" name="عنصر نائب للمحتوى 2">
            <a:extLst>
              <a:ext uri="{FF2B5EF4-FFF2-40B4-BE49-F238E27FC236}">
                <a16:creationId xmlns:a16="http://schemas.microsoft.com/office/drawing/2014/main" id="{9DFFCB1F-201D-BE8A-A9A9-9A50F8FFAFF6}"/>
              </a:ext>
            </a:extLst>
          </p:cNvPr>
          <p:cNvSpPr>
            <a:spLocks noGrp="1"/>
          </p:cNvSpPr>
          <p:nvPr>
            <p:ph idx="1"/>
          </p:nvPr>
        </p:nvSpPr>
        <p:spPr/>
        <p:txBody>
          <a:bodyPr>
            <a:normAutofit/>
          </a:bodyPr>
          <a:lstStyle/>
          <a:p>
            <a:r>
              <a:rPr lang="en-US" sz="3600" dirty="0">
                <a:solidFill>
                  <a:schemeClr val="tx1"/>
                </a:solidFill>
              </a:rPr>
              <a:t>Scientifically, magnesite is an essential component of the Earth's crust. It serves as an important source of magnesium, a critical element for many living organisms and industrial processes. The mineral is formed when magnesium-rich rocks come into contact.</a:t>
            </a:r>
          </a:p>
        </p:txBody>
      </p:sp>
    </p:spTree>
    <p:extLst>
      <p:ext uri="{BB962C8B-B14F-4D97-AF65-F5344CB8AC3E}">
        <p14:creationId xmlns:p14="http://schemas.microsoft.com/office/powerpoint/2010/main" val="1129904705"/>
      </p:ext>
    </p:extLst>
  </p:cSld>
  <p:clrMapOvr>
    <a:masterClrMapping/>
  </p:clrMapOvr>
  <mc:AlternateContent xmlns:mc="http://schemas.openxmlformats.org/markup-compatibility/2006" xmlns:p14="http://schemas.microsoft.com/office/powerpoint/2010/main">
    <mc:Choice Requires="p14">
      <p:transition spd="slow" p14:dur="1500">
        <p14:reveal thruBlk="1"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circle(in)">
                                      <p:cBhvr>
                                        <p:cTn id="14"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DBB5AB7-C2A5-89F6-6CE0-BE77D8BCEDB7}"/>
              </a:ext>
            </a:extLst>
          </p:cNvPr>
          <p:cNvSpPr>
            <a:spLocks noGrp="1"/>
          </p:cNvSpPr>
          <p:nvPr>
            <p:ph type="title"/>
          </p:nvPr>
        </p:nvSpPr>
        <p:spPr/>
        <p:txBody>
          <a:bodyPr>
            <a:normAutofit/>
          </a:bodyPr>
          <a:lstStyle/>
          <a:p>
            <a:r>
              <a:rPr lang="en-US" sz="6600" dirty="0">
                <a:solidFill>
                  <a:schemeClr val="tx1"/>
                </a:solidFill>
              </a:rPr>
              <a:t>Magnesite</a:t>
            </a:r>
          </a:p>
        </p:txBody>
      </p:sp>
      <p:sp>
        <p:nvSpPr>
          <p:cNvPr id="3" name="عنصر نائب للمحتوى 2">
            <a:extLst>
              <a:ext uri="{FF2B5EF4-FFF2-40B4-BE49-F238E27FC236}">
                <a16:creationId xmlns:a16="http://schemas.microsoft.com/office/drawing/2014/main" id="{432E6F50-EC61-C812-1E3C-CC38E9306E69}"/>
              </a:ext>
            </a:extLst>
          </p:cNvPr>
          <p:cNvSpPr>
            <a:spLocks noGrp="1"/>
          </p:cNvSpPr>
          <p:nvPr>
            <p:ph idx="1"/>
          </p:nvPr>
        </p:nvSpPr>
        <p:spPr/>
        <p:txBody>
          <a:bodyPr>
            <a:normAutofit/>
          </a:bodyPr>
          <a:lstStyle/>
          <a:p>
            <a:r>
              <a:rPr lang="en-US" sz="3600" dirty="0">
                <a:solidFill>
                  <a:schemeClr val="tx1"/>
                </a:solidFill>
              </a:rPr>
              <a:t>Despite its long history of use, magnesite was not scientifically recognized and classified as a distinct mineral type until the 19th century. It was officially described in 1808 by German geologist Dietrich Ludwig Gustav Carsten, who named it after the Magnesia region of Greece, due to the prevalence of magnesium-rich minerals there.</a:t>
            </a:r>
          </a:p>
        </p:txBody>
      </p:sp>
    </p:spTree>
    <p:extLst>
      <p:ext uri="{BB962C8B-B14F-4D97-AF65-F5344CB8AC3E}">
        <p14:creationId xmlns:p14="http://schemas.microsoft.com/office/powerpoint/2010/main" val="3902087912"/>
      </p:ext>
    </p:extLst>
  </p:cSld>
  <p:clrMapOvr>
    <a:masterClrMapping/>
  </p:clrMapOvr>
  <mc:AlternateContent xmlns:mc="http://schemas.openxmlformats.org/markup-compatibility/2006" xmlns:p14="http://schemas.microsoft.com/office/powerpoint/2010/main">
    <mc:Choice Requires="p14">
      <p:transition spd="slow" p14:dur="1500" advClick="0" advTm="0">
        <p14:reveal thruBlk="1"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heel(1)">
                                      <p:cBhvr>
                                        <p:cTn id="14"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48800F0-0EF4-91D5-4A1B-664927A395FC}"/>
              </a:ext>
            </a:extLst>
          </p:cNvPr>
          <p:cNvSpPr>
            <a:spLocks noGrp="1"/>
          </p:cNvSpPr>
          <p:nvPr>
            <p:ph type="title"/>
          </p:nvPr>
        </p:nvSpPr>
        <p:spPr/>
        <p:txBody>
          <a:bodyPr>
            <a:normAutofit/>
          </a:bodyPr>
          <a:lstStyle/>
          <a:p>
            <a:r>
              <a:rPr lang="en-US" sz="6600" dirty="0">
                <a:solidFill>
                  <a:schemeClr val="tx1"/>
                </a:solidFill>
              </a:rPr>
              <a:t>Magnesite</a:t>
            </a:r>
          </a:p>
        </p:txBody>
      </p:sp>
      <p:sp>
        <p:nvSpPr>
          <p:cNvPr id="5" name="عنصر نائب للمحتوى 4">
            <a:extLst>
              <a:ext uri="{FF2B5EF4-FFF2-40B4-BE49-F238E27FC236}">
                <a16:creationId xmlns:a16="http://schemas.microsoft.com/office/drawing/2014/main" id="{EBDF2871-1786-E11D-F126-574FD666BE89}"/>
              </a:ext>
            </a:extLst>
          </p:cNvPr>
          <p:cNvSpPr>
            <a:spLocks noGrp="1"/>
          </p:cNvSpPr>
          <p:nvPr>
            <p:ph idx="1"/>
          </p:nvPr>
        </p:nvSpPr>
        <p:spPr/>
        <p:txBody>
          <a:bodyPr/>
          <a:lstStyle/>
          <a:p>
            <a:r>
              <a:rPr lang="en-US" sz="4000" dirty="0">
                <a:solidFill>
                  <a:schemeClr val="tx1"/>
                </a:solidFill>
                <a:latin typeface="Arial" panose="020B0604020202020204" pitchFamily="34" charset="0"/>
              </a:rPr>
              <a:t>Magnesite is generally formed in three environments: sedimentary, metamorphic, and hydrothermal environments. </a:t>
            </a:r>
          </a:p>
          <a:p>
            <a:br>
              <a:rPr lang="en-US" dirty="0">
                <a:solidFill>
                  <a:srgbClr val="E8E8E8"/>
                </a:solidFill>
                <a:latin typeface="Arial" panose="020B0604020202020204" pitchFamily="34" charset="0"/>
              </a:rPr>
            </a:br>
            <a:endParaRPr lang="en-US" dirty="0"/>
          </a:p>
        </p:txBody>
      </p:sp>
    </p:spTree>
    <p:extLst>
      <p:ext uri="{BB962C8B-B14F-4D97-AF65-F5344CB8AC3E}">
        <p14:creationId xmlns:p14="http://schemas.microsoft.com/office/powerpoint/2010/main" val="2828120884"/>
      </p:ext>
    </p:extLst>
  </p:cSld>
  <p:clrMapOvr>
    <a:masterClrMapping/>
  </p:clrMapOvr>
  <mc:AlternateContent xmlns:mc="http://schemas.openxmlformats.org/markup-compatibility/2006" xmlns:p14="http://schemas.microsoft.com/office/powerpoint/2010/main">
    <mc:Choice Requires="p14">
      <p:transition spd="slow" p14:dur="1500">
        <p14:reveal thruBlk="1"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heel(1)">
                                      <p:cBhvr>
                                        <p:cTn id="14"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8841B8C-F2BA-6739-7DC9-71D6968089EC}"/>
              </a:ext>
            </a:extLst>
          </p:cNvPr>
          <p:cNvSpPr>
            <a:spLocks noGrp="1"/>
          </p:cNvSpPr>
          <p:nvPr>
            <p:ph type="title"/>
          </p:nvPr>
        </p:nvSpPr>
        <p:spPr/>
        <p:txBody>
          <a:bodyPr/>
          <a:lstStyle/>
          <a:p>
            <a:r>
              <a:rPr lang="en-US" dirty="0">
                <a:solidFill>
                  <a:schemeClr val="tx1"/>
                </a:solidFill>
              </a:rPr>
              <a:t>Magnesite</a:t>
            </a:r>
            <a:r>
              <a:rPr lang="en-US" dirty="0"/>
              <a:t> </a:t>
            </a:r>
          </a:p>
        </p:txBody>
      </p:sp>
      <p:sp>
        <p:nvSpPr>
          <p:cNvPr id="3" name="عنصر نائب للمحتوى 2">
            <a:extLst>
              <a:ext uri="{FF2B5EF4-FFF2-40B4-BE49-F238E27FC236}">
                <a16:creationId xmlns:a16="http://schemas.microsoft.com/office/drawing/2014/main" id="{EAA09D06-44E1-2D91-7047-03C16654DBED}"/>
              </a:ext>
            </a:extLst>
          </p:cNvPr>
          <p:cNvSpPr>
            <a:spLocks noGrp="1"/>
          </p:cNvSpPr>
          <p:nvPr>
            <p:ph idx="1"/>
          </p:nvPr>
        </p:nvSpPr>
        <p:spPr/>
        <p:txBody>
          <a:bodyPr>
            <a:normAutofit/>
          </a:bodyPr>
          <a:lstStyle/>
          <a:p>
            <a:r>
              <a:rPr lang="en-US" sz="3600" dirty="0">
                <a:solidFill>
                  <a:schemeClr val="tx1"/>
                </a:solidFill>
              </a:rPr>
              <a:t>The use of magnesite dates  back to the times of ancient Greece, where it was used as a material for building fire-resistant bricks and ceramics. It also played an essential role in the manufacture of refractories, as it has a high melting point that made it ideal for lining furnaces. Some older ovens from these eras feature a lining composed of magnesite.</a:t>
            </a:r>
          </a:p>
        </p:txBody>
      </p:sp>
    </p:spTree>
    <p:extLst>
      <p:ext uri="{BB962C8B-B14F-4D97-AF65-F5344CB8AC3E}">
        <p14:creationId xmlns:p14="http://schemas.microsoft.com/office/powerpoint/2010/main" val="800316501"/>
      </p:ext>
    </p:extLst>
  </p:cSld>
  <p:clrMapOvr>
    <a:masterClrMapping/>
  </p:clrMapOvr>
  <mc:AlternateContent xmlns:mc="http://schemas.openxmlformats.org/markup-compatibility/2006" xmlns:p14="http://schemas.microsoft.com/office/powerpoint/2010/main">
    <mc:Choice Requires="p14">
      <p:transition spd="slow" p14:dur="1500">
        <p14:reveal thruBlk="1"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1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17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ECE01E7-E514-4740-B3C7-B12AC8F0E3EE}"/>
              </a:ext>
            </a:extLst>
          </p:cNvPr>
          <p:cNvSpPr>
            <a:spLocks noGrp="1"/>
          </p:cNvSpPr>
          <p:nvPr>
            <p:ph type="title"/>
          </p:nvPr>
        </p:nvSpPr>
        <p:spPr/>
        <p:txBody>
          <a:bodyPr>
            <a:normAutofit/>
          </a:bodyPr>
          <a:lstStyle/>
          <a:p>
            <a:r>
              <a:rPr lang="en-US" sz="6600" dirty="0">
                <a:solidFill>
                  <a:schemeClr val="tx1"/>
                </a:solidFill>
              </a:rPr>
              <a:t>Sclerotic</a:t>
            </a:r>
          </a:p>
        </p:txBody>
      </p:sp>
      <p:sp>
        <p:nvSpPr>
          <p:cNvPr id="3" name="عنصر نائب للمحتوى 2">
            <a:extLst>
              <a:ext uri="{FF2B5EF4-FFF2-40B4-BE49-F238E27FC236}">
                <a16:creationId xmlns:a16="http://schemas.microsoft.com/office/drawing/2014/main" id="{99CF9A2C-A1AF-934D-2F6B-BB570A906B25}"/>
              </a:ext>
            </a:extLst>
          </p:cNvPr>
          <p:cNvSpPr>
            <a:spLocks noGrp="1"/>
          </p:cNvSpPr>
          <p:nvPr>
            <p:ph idx="1"/>
          </p:nvPr>
        </p:nvSpPr>
        <p:spPr/>
        <p:txBody>
          <a:bodyPr>
            <a:normAutofit/>
          </a:bodyPr>
          <a:lstStyle/>
          <a:p>
            <a:r>
              <a:rPr lang="en-US" sz="4000" dirty="0">
                <a:solidFill>
                  <a:schemeClr val="tx1"/>
                </a:solidFill>
              </a:rPr>
              <a:t>Magnesite has several physical properties that make it unique. It has a hardness of 3.5 to 4.5 on the Mohs scale, making it a relatively soft stone</a:t>
            </a:r>
            <a:endParaRPr lang="ar-SA" sz="4000" dirty="0">
              <a:solidFill>
                <a:schemeClr val="tx1"/>
              </a:solidFill>
            </a:endParaRPr>
          </a:p>
          <a:p>
            <a:endParaRPr lang="ar-SA" sz="4000" dirty="0">
              <a:solidFill>
                <a:schemeClr val="tx1"/>
              </a:solidFill>
            </a:endParaRPr>
          </a:p>
          <a:p>
            <a:endParaRPr lang="en-US" sz="4000" dirty="0">
              <a:solidFill>
                <a:schemeClr val="tx1"/>
              </a:solidFill>
            </a:endParaRPr>
          </a:p>
        </p:txBody>
      </p:sp>
    </p:spTree>
    <p:extLst>
      <p:ext uri="{BB962C8B-B14F-4D97-AF65-F5344CB8AC3E}">
        <p14:creationId xmlns:p14="http://schemas.microsoft.com/office/powerpoint/2010/main" val="2701112881"/>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heel(1)">
                                      <p:cBhvr>
                                        <p:cTn id="14"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18A31F8-48C9-5B64-C253-C47A03DA3373}"/>
              </a:ext>
            </a:extLst>
          </p:cNvPr>
          <p:cNvSpPr>
            <a:spLocks noGrp="1"/>
          </p:cNvSpPr>
          <p:nvPr>
            <p:ph type="title"/>
          </p:nvPr>
        </p:nvSpPr>
        <p:spPr/>
        <p:txBody>
          <a:bodyPr/>
          <a:lstStyle/>
          <a:p>
            <a:r>
              <a:rPr lang="en-US" sz="6600" dirty="0">
                <a:solidFill>
                  <a:schemeClr val="tx1"/>
                </a:solidFill>
              </a:rPr>
              <a:t>Color</a:t>
            </a:r>
            <a:r>
              <a:rPr lang="en-US" dirty="0"/>
              <a:t> </a:t>
            </a:r>
          </a:p>
        </p:txBody>
      </p:sp>
      <p:sp>
        <p:nvSpPr>
          <p:cNvPr id="3" name="عنصر نائب للمحتوى 2">
            <a:extLst>
              <a:ext uri="{FF2B5EF4-FFF2-40B4-BE49-F238E27FC236}">
                <a16:creationId xmlns:a16="http://schemas.microsoft.com/office/drawing/2014/main" id="{71FF2724-1005-5DE5-9E81-09804EE63F0F}"/>
              </a:ext>
            </a:extLst>
          </p:cNvPr>
          <p:cNvSpPr>
            <a:spLocks noGrp="1"/>
          </p:cNvSpPr>
          <p:nvPr>
            <p:ph idx="1"/>
          </p:nvPr>
        </p:nvSpPr>
        <p:spPr/>
        <p:txBody>
          <a:bodyPr>
            <a:normAutofit/>
          </a:bodyPr>
          <a:lstStyle/>
          <a:p>
            <a:r>
              <a:rPr lang="en-US" sz="4000" dirty="0">
                <a:solidFill>
                  <a:schemeClr val="tx1"/>
                </a:solidFill>
              </a:rPr>
              <a:t>Its color ranges from white to grey, often with a slight yellow or brown tint. </a:t>
            </a:r>
            <a:endParaRPr lang="ar-SA" sz="4000" dirty="0">
              <a:solidFill>
                <a:schemeClr val="tx1"/>
              </a:solidFill>
            </a:endParaRPr>
          </a:p>
          <a:p>
            <a:endParaRPr lang="en-US" sz="4000" dirty="0">
              <a:solidFill>
                <a:schemeClr val="tx1"/>
              </a:solidFill>
            </a:endParaRPr>
          </a:p>
        </p:txBody>
      </p:sp>
    </p:spTree>
    <p:extLst>
      <p:ext uri="{BB962C8B-B14F-4D97-AF65-F5344CB8AC3E}">
        <p14:creationId xmlns:p14="http://schemas.microsoft.com/office/powerpoint/2010/main" val="3634664811"/>
      </p:ext>
    </p:extLst>
  </p:cSld>
  <p:clrMapOvr>
    <a:masterClrMapping/>
  </p:clrMapOvr>
  <mc:AlternateContent xmlns:mc="http://schemas.openxmlformats.org/markup-compatibility/2006" xmlns:p14="http://schemas.microsoft.com/office/powerpoint/2010/main">
    <mc:Choice Requires="p14">
      <p:transition spd="slow" p14:dur="1500">
        <p14:reveal thruBlk="1"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1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3CD4E8E-DA1C-688F-5943-02BF1BD667FB}"/>
              </a:ext>
            </a:extLst>
          </p:cNvPr>
          <p:cNvSpPr>
            <a:spLocks noGrp="1"/>
          </p:cNvSpPr>
          <p:nvPr>
            <p:ph type="title"/>
          </p:nvPr>
        </p:nvSpPr>
        <p:spPr/>
        <p:txBody>
          <a:bodyPr>
            <a:normAutofit/>
          </a:bodyPr>
          <a:lstStyle/>
          <a:p>
            <a:r>
              <a:rPr lang="en-US" sz="6600" dirty="0">
                <a:solidFill>
                  <a:schemeClr val="tx1"/>
                </a:solidFill>
              </a:rPr>
              <a:t>features</a:t>
            </a:r>
          </a:p>
        </p:txBody>
      </p:sp>
      <p:sp>
        <p:nvSpPr>
          <p:cNvPr id="3" name="عنصر نائب للمحتوى 2">
            <a:extLst>
              <a:ext uri="{FF2B5EF4-FFF2-40B4-BE49-F238E27FC236}">
                <a16:creationId xmlns:a16="http://schemas.microsoft.com/office/drawing/2014/main" id="{F4F8405B-BF72-2F21-24E2-B1B15F16BF77}"/>
              </a:ext>
            </a:extLst>
          </p:cNvPr>
          <p:cNvSpPr>
            <a:spLocks noGrp="1"/>
          </p:cNvSpPr>
          <p:nvPr>
            <p:ph idx="1"/>
          </p:nvPr>
        </p:nvSpPr>
        <p:spPr>
          <a:xfrm>
            <a:off x="1097280" y="1737360"/>
            <a:ext cx="10058400" cy="4023360"/>
          </a:xfrm>
        </p:spPr>
        <p:txBody>
          <a:bodyPr/>
          <a:lstStyle/>
          <a:p>
            <a:pPr marL="0" indent="0">
              <a:buNone/>
            </a:pPr>
            <a:r>
              <a:rPr lang="en-US" sz="3600" dirty="0" err="1">
                <a:solidFill>
                  <a:schemeClr val="tx1"/>
                </a:solidFill>
              </a:rPr>
              <a:t>Scratch:white</a:t>
            </a:r>
            <a:endParaRPr lang="en-US" sz="3600" dirty="0">
              <a:solidFill>
                <a:schemeClr val="tx1"/>
              </a:solidFill>
            </a:endParaRPr>
          </a:p>
          <a:p>
            <a:pPr marL="0" indent="0">
              <a:buNone/>
            </a:pPr>
            <a:r>
              <a:rPr lang="en-US" sz="3600" dirty="0">
                <a:solidFill>
                  <a:schemeClr val="tx1"/>
                </a:solidFill>
              </a:rPr>
              <a:t>Specific density: </a:t>
            </a:r>
            <a:r>
              <a:rPr lang="en-US" sz="3600" dirty="0">
                <a:solidFill>
                  <a:schemeClr val="tx1"/>
                </a:solidFill>
                <a:latin typeface="Arial" panose="020B0604020202020204" pitchFamily="34" charset="0"/>
              </a:rPr>
              <a:t>3.0 – 3.2</a:t>
            </a:r>
            <a:endParaRPr lang="en-US" sz="3600" dirty="0">
              <a:solidFill>
                <a:schemeClr val="tx1"/>
              </a:solidFill>
            </a:endParaRPr>
          </a:p>
          <a:p>
            <a:pPr marL="0" indent="0">
              <a:buNone/>
            </a:pPr>
            <a:endParaRPr lang="en-US" sz="3600" dirty="0">
              <a:solidFill>
                <a:schemeClr val="tx1"/>
              </a:solidFill>
            </a:endParaRPr>
          </a:p>
          <a:p>
            <a:pPr marL="0" indent="0">
              <a:buNone/>
            </a:pPr>
            <a:r>
              <a:rPr lang="en-US" sz="3600" dirty="0">
                <a:solidFill>
                  <a:schemeClr val="tx1"/>
                </a:solidFill>
              </a:rPr>
              <a:t>Molar mass: 84.3 atomic mass units</a:t>
            </a:r>
          </a:p>
          <a:p>
            <a:pPr marL="0" indent="0">
              <a:buNone/>
            </a:pPr>
            <a:endParaRPr lang="en-US" sz="3600" dirty="0">
              <a:solidFill>
                <a:schemeClr val="tx1"/>
              </a:solidFill>
            </a:endParaRPr>
          </a:p>
          <a:p>
            <a:pPr marL="0" indent="0">
              <a:buNone/>
            </a:pPr>
            <a:endParaRPr lang="en-US" sz="3600" dirty="0">
              <a:solidFill>
                <a:schemeClr val="tx1"/>
              </a:solidFill>
            </a:endParaRPr>
          </a:p>
        </p:txBody>
      </p:sp>
    </p:spTree>
    <p:extLst>
      <p:ext uri="{BB962C8B-B14F-4D97-AF65-F5344CB8AC3E}">
        <p14:creationId xmlns:p14="http://schemas.microsoft.com/office/powerpoint/2010/main" val="1743040062"/>
      </p:ext>
    </p:extLst>
  </p:cSld>
  <p:clrMapOvr>
    <a:masterClrMapping/>
  </p:clrMapOvr>
  <mc:AlternateContent xmlns:mc="http://schemas.openxmlformats.org/markup-compatibility/2006" xmlns:p14="http://schemas.microsoft.com/office/powerpoint/2010/main">
    <mc:Choice Requires="p14">
      <p:transition spd="slow" p14:dur="1500">
        <p14:reveal thruBlk="1"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أثر رجعي">
  <a:themeElements>
    <a:clrScheme name="أثر رجعي">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أثر رجعي">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أثر رجعي">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336</TotalTime>
  <Words>282</Words>
  <Application>Microsoft Office PowerPoint</Application>
  <PresentationFormat>شاشة عريضة</PresentationFormat>
  <Paragraphs>22</Paragraphs>
  <Slides>9</Slides>
  <Notes>0</Notes>
  <HiddenSlides>0</HiddenSlides>
  <MMClips>0</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9</vt:i4>
      </vt:variant>
    </vt:vector>
  </HeadingPairs>
  <TitlesOfParts>
    <vt:vector size="13" baseType="lpstr">
      <vt:lpstr>Arial</vt:lpstr>
      <vt:lpstr>Calibri</vt:lpstr>
      <vt:lpstr>Calibri Light</vt:lpstr>
      <vt:lpstr>أثر رجعي</vt:lpstr>
      <vt:lpstr> magnesite  </vt:lpstr>
      <vt:lpstr>magnesite</vt:lpstr>
      <vt:lpstr>Magnesite</vt:lpstr>
      <vt:lpstr>Magnesite</vt:lpstr>
      <vt:lpstr>Magnesite</vt:lpstr>
      <vt:lpstr>Magnesite </vt:lpstr>
      <vt:lpstr>Sclerotic</vt:lpstr>
      <vt:lpstr>Color </vt:lpstr>
      <vt:lpstr>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9201820452 - Mugahed Mahdi Shaaban Ba Sharahil</dc:creator>
  <cp:lastModifiedBy>9201820452 - Mugahed Mahdi Shaaban Ba Sharahil</cp:lastModifiedBy>
  <cp:revision>3</cp:revision>
  <dcterms:created xsi:type="dcterms:W3CDTF">2024-12-10T16:40:49Z</dcterms:created>
  <dcterms:modified xsi:type="dcterms:W3CDTF">2024-12-11T08:39:51Z</dcterms:modified>
</cp:coreProperties>
</file>
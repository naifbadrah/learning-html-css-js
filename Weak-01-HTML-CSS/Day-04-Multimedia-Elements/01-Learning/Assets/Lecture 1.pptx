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377" r:id="rId3"/>
    <p:sldId id="1065" r:id="rId4"/>
    <p:sldId id="1061" r:id="rId5"/>
    <p:sldId id="1035" r:id="rId6"/>
    <p:sldId id="1066" r:id="rId7"/>
    <p:sldId id="1062" r:id="rId8"/>
    <p:sldId id="1063" r:id="rId9"/>
    <p:sldId id="1036" r:id="rId10"/>
    <p:sldId id="1002" r:id="rId11"/>
    <p:sldId id="1064" r:id="rId12"/>
    <p:sldId id="1037" r:id="rId13"/>
    <p:sldId id="1067" r:id="rId14"/>
    <p:sldId id="1038" r:id="rId15"/>
    <p:sldId id="1068" r:id="rId16"/>
    <p:sldId id="1053" r:id="rId17"/>
    <p:sldId id="1039" r:id="rId18"/>
    <p:sldId id="1040" r:id="rId19"/>
    <p:sldId id="1003" r:id="rId20"/>
    <p:sldId id="1041" r:id="rId21"/>
    <p:sldId id="1054" r:id="rId22"/>
    <p:sldId id="1042" r:id="rId23"/>
    <p:sldId id="1055" r:id="rId24"/>
    <p:sldId id="1044" r:id="rId25"/>
    <p:sldId id="1045" r:id="rId26"/>
    <p:sldId id="1056" r:id="rId27"/>
    <p:sldId id="1046" r:id="rId28"/>
    <p:sldId id="1058" r:id="rId29"/>
    <p:sldId id="1006" r:id="rId30"/>
    <p:sldId id="1008" r:id="rId31"/>
    <p:sldId id="1057" r:id="rId32"/>
    <p:sldId id="1047" r:id="rId33"/>
    <p:sldId id="1011" r:id="rId34"/>
    <p:sldId id="1048" r:id="rId35"/>
    <p:sldId id="970" r:id="rId36"/>
    <p:sldId id="1049" r:id="rId37"/>
    <p:sldId id="1018" r:id="rId38"/>
    <p:sldId id="1059" r:id="rId39"/>
    <p:sldId id="1050" r:id="rId40"/>
    <p:sldId id="1051" r:id="rId41"/>
    <p:sldId id="397"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مقطع افتراضي" id="{F82F98B0-7D4E-4D64-B409-B9C374B38A43}">
          <p14:sldIdLst>
            <p14:sldId id="256"/>
            <p14:sldId id="377"/>
            <p14:sldId id="1065"/>
            <p14:sldId id="1061"/>
            <p14:sldId id="1035"/>
            <p14:sldId id="1066"/>
            <p14:sldId id="1062"/>
            <p14:sldId id="1063"/>
            <p14:sldId id="1036"/>
            <p14:sldId id="1002"/>
            <p14:sldId id="1064"/>
            <p14:sldId id="1037"/>
            <p14:sldId id="1067"/>
            <p14:sldId id="1038"/>
            <p14:sldId id="1068"/>
            <p14:sldId id="1053"/>
            <p14:sldId id="1039"/>
            <p14:sldId id="1040"/>
            <p14:sldId id="1003"/>
            <p14:sldId id="1041"/>
            <p14:sldId id="1054"/>
            <p14:sldId id="1042"/>
            <p14:sldId id="1055"/>
            <p14:sldId id="1044"/>
            <p14:sldId id="1045"/>
            <p14:sldId id="1056"/>
            <p14:sldId id="1046"/>
            <p14:sldId id="1058"/>
            <p14:sldId id="1006"/>
            <p14:sldId id="1008"/>
            <p14:sldId id="1057"/>
            <p14:sldId id="1047"/>
            <p14:sldId id="1011"/>
            <p14:sldId id="1048"/>
            <p14:sldId id="970"/>
            <p14:sldId id="1049"/>
            <p14:sldId id="1018"/>
            <p14:sldId id="1059"/>
            <p14:sldId id="1050"/>
            <p14:sldId id="1051"/>
            <p14:sldId id="397"/>
          </p14:sldIdLst>
        </p14:section>
      </p14:sectionLst>
    </p:ex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99"/>
    <a:srgbClr val="FF0066"/>
    <a:srgbClr val="CC0000"/>
    <a:srgbClr val="800000"/>
    <a:srgbClr val="724F7D"/>
    <a:srgbClr val="B82414"/>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النمط المتوسط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30" autoAdjust="0"/>
    <p:restoredTop sz="94667" autoAdjust="0"/>
  </p:normalViewPr>
  <p:slideViewPr>
    <p:cSldViewPr>
      <p:cViewPr varScale="1">
        <p:scale>
          <a:sx n="70" d="100"/>
          <a:sy n="70" d="100"/>
        </p:scale>
        <p:origin x="-119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9504"/>
    </p:cViewPr>
  </p:sorterViewPr>
  <p:notesViewPr>
    <p:cSldViewPr>
      <p:cViewPr varScale="1">
        <p:scale>
          <a:sx n="60" d="100"/>
          <a:sy n="60" d="100"/>
        </p:scale>
        <p:origin x="-2490"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4A869AD-9B7F-456B-856D-EAB6E21F41F4}" type="datetimeFigureOut">
              <a:rPr lang="en-US" smtClean="0"/>
              <a:pPr/>
              <a:t>9/1/2025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5B37A3-227E-4334-8502-B47CBA193C03}" type="slidenum">
              <a:rPr lang="en-US" smtClean="0"/>
              <a:pPr/>
              <a:t>‹#›</a:t>
            </a:fld>
            <a:endParaRPr lang="en-US" dirty="0"/>
          </a:p>
        </p:txBody>
      </p:sp>
    </p:spTree>
    <p:extLst>
      <p:ext uri="{BB962C8B-B14F-4D97-AF65-F5344CB8AC3E}">
        <p14:creationId xmlns:p14="http://schemas.microsoft.com/office/powerpoint/2010/main" val="1674129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2</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5</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9</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10</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12</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14</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17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18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19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20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22</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24</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25</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27</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29</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30</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32</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33</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34</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35</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36</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37</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39</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85B37A3-227E-4334-8502-B47CBA193C03}" type="slidenum">
              <a:rPr lang="en-US" smtClean="0"/>
              <a:pPr/>
              <a:t>40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95E79A6-E0A1-4C48-9139-789AEBEF89DB}" type="datetime1">
              <a:rPr lang="en-US" smtClean="0"/>
              <a:pPr/>
              <a:t>9/1/2025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8118F2-B9DF-4A11-B25C-FE8643CB6F54}" type="datetime1">
              <a:rPr lang="en-US" smtClean="0"/>
              <a:pPr/>
              <a:t>9/1/2025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B6922CA-B1E3-425E-ACBF-FAE38DB66A90}" type="datetime1">
              <a:rPr lang="en-US" smtClean="0"/>
              <a:pPr/>
              <a:t>9/1/2025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F3187B8-473E-4F35-B356-0880005DE92B}" type="datetime1">
              <a:rPr lang="en-US" smtClean="0"/>
              <a:pPr/>
              <a:t>9/1/2025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4F3F0E1-6389-4DAA-B649-2ED1A0C4FA57}"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01AF277-90A6-4899-89B1-FA7527C52F21}" type="datetime1">
              <a:rPr lang="en-US" smtClean="0"/>
              <a:pPr/>
              <a:t>9/1/2025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4F3F0E1-6389-4DAA-B649-2ED1A0C4FA57}"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3C5159A-5AE4-4059-AE33-C5C9879EEA42}" type="datetime1">
              <a:rPr lang="en-US" smtClean="0"/>
              <a:pPr/>
              <a:t>9/1/2025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4F3F0E1-6389-4DAA-B649-2ED1A0C4FA57}"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418672-C708-4A91-BA68-05981A9CC58A}" type="datetime1">
              <a:rPr lang="en-US" smtClean="0"/>
              <a:pPr/>
              <a:t>9/1/2025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4F3F0E1-6389-4DAA-B649-2ED1A0C4FA57}"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5BA9E0-4017-47D5-A189-A8274DDDF89B}" type="datetime1">
              <a:rPr lang="en-US" smtClean="0"/>
              <a:pPr/>
              <a:t>9/1/2025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4F3F0E1-6389-4DAA-B649-2ED1A0C4FA57}"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3F669A-BE56-419D-A55B-414AC73BABFA}" type="datetime1">
              <a:rPr lang="en-US" smtClean="0"/>
              <a:pPr/>
              <a:t>9/1/2025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4F3F0E1-6389-4DAA-B649-2ED1A0C4FA5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20E7B0-06BD-41C4-B9F4-A426BC8A404F}" type="datetime1">
              <a:rPr lang="en-US" smtClean="0"/>
              <a:pPr/>
              <a:t>9/1/2025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AE79F76-BE6E-41B8-BD6B-F74A06CD5FB9}" type="datetime1">
              <a:rPr lang="en-US" smtClean="0"/>
              <a:pPr/>
              <a:t>9/1/2025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C3367F-A8BC-462F-9A50-75F722DE8D48}" type="datetime1">
              <a:rPr lang="en-US" smtClean="0"/>
              <a:pPr/>
              <a:t>9/1/2025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F3F0E1-6389-4DAA-B649-2ED1A0C4FA5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www.businessdictionary.com/definition/order.html" TargetMode="External"/><Relationship Id="rId13" Type="http://schemas.openxmlformats.org/officeDocument/2006/relationships/hyperlink" Target="http://www.investorwords.com/8426/subject.html" TargetMode="External"/><Relationship Id="rId18" Type="http://schemas.openxmlformats.org/officeDocument/2006/relationships/hyperlink" Target="http://www.businessdictionary.com/definition/goal.html" TargetMode="External"/><Relationship Id="rId3" Type="http://schemas.openxmlformats.org/officeDocument/2006/relationships/hyperlink" Target="http://www.businessdictionary.com/definition/organizational.html" TargetMode="External"/><Relationship Id="rId21" Type="http://schemas.openxmlformats.org/officeDocument/2006/relationships/hyperlink" Target="http://www.businessdictionary.com/definition/incentive.html" TargetMode="External"/><Relationship Id="rId7" Type="http://schemas.openxmlformats.org/officeDocument/2006/relationships/hyperlink" Target="http://www.businessdictionary.com/definition/need.html" TargetMode="External"/><Relationship Id="rId12" Type="http://schemas.openxmlformats.org/officeDocument/2006/relationships/hyperlink" Target="http://www.businessdictionary.com/definition/objective.html" TargetMode="External"/><Relationship Id="rId17" Type="http://schemas.openxmlformats.org/officeDocument/2006/relationships/hyperlink" Target="http://www.businessdictionary.com/definition/sequential.html" TargetMode="External"/><Relationship Id="rId2" Type="http://schemas.openxmlformats.org/officeDocument/2006/relationships/notesSlide" Target="../notesSlides/notesSlide10.xml"/><Relationship Id="rId16" Type="http://schemas.openxmlformats.org/officeDocument/2006/relationships/hyperlink" Target="http://www.investorwords.com/9649/external.html" TargetMode="External"/><Relationship Id="rId20" Type="http://schemas.openxmlformats.org/officeDocument/2006/relationships/hyperlink" Target="http://www.businessdictionary.com/definition/role.html" TargetMode="External"/><Relationship Id="rId1" Type="http://schemas.openxmlformats.org/officeDocument/2006/relationships/slideLayout" Target="../slideLayouts/slideLayout2.xml"/><Relationship Id="rId6" Type="http://schemas.openxmlformats.org/officeDocument/2006/relationships/hyperlink" Target="http://www.businessdictionary.com/definition/expectation.html" TargetMode="External"/><Relationship Id="rId11" Type="http://schemas.openxmlformats.org/officeDocument/2006/relationships/hyperlink" Target="http://www.businessdictionary.com/definition/individual.html" TargetMode="External"/><Relationship Id="rId5" Type="http://schemas.openxmlformats.org/officeDocument/2006/relationships/hyperlink" Target="http://www.businessdictionary.com/definition/energy.html" TargetMode="External"/><Relationship Id="rId15" Type="http://schemas.openxmlformats.org/officeDocument/2006/relationships/hyperlink" Target="http://www.businessdictionary.com/definition/job.html" TargetMode="External"/><Relationship Id="rId23" Type="http://schemas.openxmlformats.org/officeDocument/2006/relationships/hyperlink" Target="http://www.businessdictionary.com/definition/motivation.html" TargetMode="External"/><Relationship Id="rId10" Type="http://schemas.openxmlformats.org/officeDocument/2006/relationships/hyperlink" Target="http://www.businessdictionary.com/definition/value.html" TargetMode="External"/><Relationship Id="rId19" Type="http://schemas.openxmlformats.org/officeDocument/2006/relationships/hyperlink" Target="http://www.investorwords.com/17640/Intensity.html" TargetMode="External"/><Relationship Id="rId4" Type="http://schemas.openxmlformats.org/officeDocument/2006/relationships/hyperlink" Target="http://www.businessdictionary.com/definition/significant.html" TargetMode="External"/><Relationship Id="rId9" Type="http://schemas.openxmlformats.org/officeDocument/2006/relationships/hyperlink" Target="http://www.businessdictionary.com/definition/reward.html" TargetMode="External"/><Relationship Id="rId14" Type="http://schemas.openxmlformats.org/officeDocument/2006/relationships/hyperlink" Target="http://www.businessdictionary.com/definition/result.html" TargetMode="External"/><Relationship Id="rId22" Type="http://schemas.openxmlformats.org/officeDocument/2006/relationships/hyperlink" Target="http://www.investorwords.com/11193/stimulate.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www.businessdictionary.com/definition/controlling.html" TargetMode="External"/><Relationship Id="rId3" Type="http://schemas.openxmlformats.org/officeDocument/2006/relationships/hyperlink" Target="http://www.businessdictionary.com/definition/energy.html" TargetMode="External"/><Relationship Id="rId7" Type="http://schemas.openxmlformats.org/officeDocument/2006/relationships/hyperlink" Target="http://www.businessdictionary.com/definition/goal.htm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faculty.ksu.edu.sa/algahtani" TargetMode="External"/><Relationship Id="rId5" Type="http://schemas.openxmlformats.org/officeDocument/2006/relationships/hyperlink" Target="http://www.businessdictionary.com/definition/resource.html" TargetMode="External"/><Relationship Id="rId10" Type="http://schemas.openxmlformats.org/officeDocument/2006/relationships/hyperlink" Target="http://www.businessdictionary.com/definition/element.html" TargetMode="External"/><Relationship Id="rId4" Type="http://schemas.openxmlformats.org/officeDocument/2006/relationships/hyperlink" Target="http://www.businessdictionary.com/definition/required.html" TargetMode="External"/><Relationship Id="rId9" Type="http://schemas.openxmlformats.org/officeDocument/2006/relationships/hyperlink" Target="http://www.businessdictionary.com/definition/structure.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www.businessdictionary.com/definition/employee.html" TargetMode="External"/><Relationship Id="rId13" Type="http://schemas.openxmlformats.org/officeDocument/2006/relationships/hyperlink" Target="http://www.businessdictionary.com/definition/data.html" TargetMode="External"/><Relationship Id="rId18" Type="http://schemas.openxmlformats.org/officeDocument/2006/relationships/hyperlink" Target="http://www.businessdictionary.com/definition/process.html" TargetMode="External"/><Relationship Id="rId3" Type="http://schemas.openxmlformats.org/officeDocument/2006/relationships/hyperlink" Target="http://www.businessdictionary.com/definition/output.html" TargetMode="External"/><Relationship Id="rId7" Type="http://schemas.openxmlformats.org/officeDocument/2006/relationships/hyperlink" Target="http://www.investorwords.com/4405/schedule.html" TargetMode="External"/><Relationship Id="rId12" Type="http://schemas.openxmlformats.org/officeDocument/2006/relationships/hyperlink" Target="http://www.businessdictionary.com/definition/resource.html" TargetMode="External"/><Relationship Id="rId17" Type="http://schemas.openxmlformats.org/officeDocument/2006/relationships/hyperlink" Target="http://www.investorwords.com/9305/convert.html" TargetMode="External"/><Relationship Id="rId2" Type="http://schemas.openxmlformats.org/officeDocument/2006/relationships/notesSlide" Target="../notesSlides/notesSlide12.xml"/><Relationship Id="rId16" Type="http://schemas.openxmlformats.org/officeDocument/2006/relationships/hyperlink" Target="http://www.businessdictionary.com/definition/money.html" TargetMode="External"/><Relationship Id="rId1" Type="http://schemas.openxmlformats.org/officeDocument/2006/relationships/slideLayout" Target="../slideLayouts/slideLayout2.xml"/><Relationship Id="rId6" Type="http://schemas.openxmlformats.org/officeDocument/2006/relationships/hyperlink" Target="http://www.businessdictionary.com/definition/task.html" TargetMode="External"/><Relationship Id="rId11" Type="http://schemas.openxmlformats.org/officeDocument/2006/relationships/hyperlink" Target="http://www.businessdictionary.com/definition/stage.html" TargetMode="External"/><Relationship Id="rId5" Type="http://schemas.openxmlformats.org/officeDocument/2006/relationships/hyperlink" Target="http://www.businessdictionary.com/definition/result.html" TargetMode="External"/><Relationship Id="rId15" Type="http://schemas.openxmlformats.org/officeDocument/2006/relationships/hyperlink" Target="http://www.investorwords.com/4775/strategy.html" TargetMode="External"/><Relationship Id="rId10" Type="http://schemas.openxmlformats.org/officeDocument/2006/relationships/hyperlink" Target="http://www.businessdictionary.com/definition/machine.html" TargetMode="External"/><Relationship Id="rId19" Type="http://schemas.openxmlformats.org/officeDocument/2006/relationships/hyperlink" Target="http://www.investorwords.com/9570/end.html" TargetMode="External"/><Relationship Id="rId4" Type="http://schemas.openxmlformats.org/officeDocument/2006/relationships/hyperlink" Target="http://www.businessdictionary.com/definition/procedure.html" TargetMode="External"/><Relationship Id="rId9" Type="http://schemas.openxmlformats.org/officeDocument/2006/relationships/hyperlink" Target="http://www.businessdictionary.com/definition/material.html" TargetMode="External"/><Relationship Id="rId14" Type="http://schemas.openxmlformats.org/officeDocument/2006/relationships/hyperlink" Target="http://www.investorwords.com/2187/goal.html"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hyperlink" Target="http://www.businessdictionary.com/definition/function.html" TargetMode="External"/><Relationship Id="rId13" Type="http://schemas.openxmlformats.org/officeDocument/2006/relationships/hyperlink" Target="http://www.businessdictionary.com/definition/synchronization.html" TargetMode="External"/><Relationship Id="rId18" Type="http://schemas.openxmlformats.org/officeDocument/2006/relationships/hyperlink" Target="http://www.businessdictionary.com/definition/control.html" TargetMode="External"/><Relationship Id="rId3" Type="http://schemas.openxmlformats.org/officeDocument/2006/relationships/hyperlink" Target="http://www.investorwords.com/9556/efficiently.html" TargetMode="External"/><Relationship Id="rId7" Type="http://schemas.openxmlformats.org/officeDocument/2006/relationships/hyperlink" Target="http://www.investorwords.com/10128/key.html" TargetMode="External"/><Relationship Id="rId12" Type="http://schemas.openxmlformats.org/officeDocument/2006/relationships/hyperlink" Target="http://www.businessdictionary.com/definition/controlling.html" TargetMode="External"/><Relationship Id="rId17" Type="http://schemas.openxmlformats.org/officeDocument/2006/relationships/hyperlink" Target="http://www.businessdictionary.com/definition/coordination.html" TargetMode="External"/><Relationship Id="rId2" Type="http://schemas.openxmlformats.org/officeDocument/2006/relationships/notesSlide" Target="../notesSlides/notesSlide15.xml"/><Relationship Id="rId16" Type="http://schemas.openxmlformats.org/officeDocument/2006/relationships/hyperlink" Target="http://www.businessdictionary.com/definition/responsibility.html" TargetMode="External"/><Relationship Id="rId1" Type="http://schemas.openxmlformats.org/officeDocument/2006/relationships/slideLayout" Target="../slideLayouts/slideLayout2.xml"/><Relationship Id="rId6" Type="http://schemas.openxmlformats.org/officeDocument/2006/relationships/hyperlink" Target="http://www.businessdictionary.com/definition/activity.html" TargetMode="External"/><Relationship Id="rId11" Type="http://schemas.openxmlformats.org/officeDocument/2006/relationships/hyperlink" Target="http://www.businessdictionary.com/definition/monitoring.html" TargetMode="External"/><Relationship Id="rId5" Type="http://schemas.openxmlformats.org/officeDocument/2006/relationships/hyperlink" Target="http://www.businessdictionary.com/definition/resource.html" TargetMode="External"/><Relationship Id="rId15" Type="http://schemas.openxmlformats.org/officeDocument/2006/relationships/hyperlink" Target="http://www.businessdictionary.com/definition/management.html" TargetMode="External"/><Relationship Id="rId10" Type="http://schemas.openxmlformats.org/officeDocument/2006/relationships/hyperlink" Target="http://www.businessdictionary.com/definition/integration.html" TargetMode="External"/><Relationship Id="rId19" Type="http://schemas.openxmlformats.org/officeDocument/2006/relationships/hyperlink" Target="http://www.investorwords.com/1709/ensure.html" TargetMode="External"/><Relationship Id="rId4" Type="http://schemas.openxmlformats.org/officeDocument/2006/relationships/hyperlink" Target="http://www.businessdictionary.com/definition/organizing.html" TargetMode="External"/><Relationship Id="rId9" Type="http://schemas.openxmlformats.org/officeDocument/2006/relationships/hyperlink" Target="http://en.wikipedia.org/wiki/Planning" TargetMode="External"/><Relationship Id="rId14" Type="http://schemas.openxmlformats.org/officeDocument/2006/relationships/hyperlink" Target="http://en.wikipedia.org/wiki/Resources"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en.wikipedia.org/wiki/Managing" TargetMode="External"/><Relationship Id="rId3" Type="http://schemas.openxmlformats.org/officeDocument/2006/relationships/hyperlink" Target="http://en.wikipedia.org/wiki/Organizing" TargetMode="External"/><Relationship Id="rId7" Type="http://schemas.openxmlformats.org/officeDocument/2006/relationships/hyperlink" Target="http://en.wikipedia.org/wiki/Business_communication"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www.marinetech.org/rov_competition/2008/2008_ENGINEERING_COMMUNICATION_FINAL.pdf" TargetMode="External"/><Relationship Id="rId5" Type="http://schemas.openxmlformats.org/officeDocument/2006/relationships/hyperlink" Target="http://www.businessdictionary.com/definition/management.html" TargetMode="External"/><Relationship Id="rId10" Type="http://schemas.openxmlformats.org/officeDocument/2006/relationships/hyperlink" Target="http://www.businessdictionary.com/definition/performance.html" TargetMode="External"/><Relationship Id="rId4" Type="http://schemas.openxmlformats.org/officeDocument/2006/relationships/hyperlink" Target="http://www.investorwords.com/8761/actual.html" TargetMode="External"/><Relationship Id="rId9" Type="http://schemas.openxmlformats.org/officeDocument/2006/relationships/hyperlink" Target="http://www.businessdictionary.com/definition/controlling.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hyperlink" Target="http://www.businessdictionary.com/definition/benchmark.ht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www.businessdictionary.com/definition/required.html" TargetMode="External"/><Relationship Id="rId5" Type="http://schemas.openxmlformats.org/officeDocument/2006/relationships/hyperlink" Target="http://www.businessdictionary.com/definition/function.html" TargetMode="External"/><Relationship Id="rId4" Type="http://schemas.openxmlformats.org/officeDocument/2006/relationships/hyperlink" Target="http://www.businessdictionary.com/definition/corrective-action.html"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p:nvPr/>
        </p:nvSpPr>
        <p:spPr>
          <a:xfrm>
            <a:off x="304800" y="4191000"/>
            <a:ext cx="8610601" cy="584775"/>
          </a:xfrm>
          <a:prstGeom prst="rect">
            <a:avLst/>
          </a:prstGeom>
        </p:spPr>
        <p:txBody>
          <a:bodyPr wrap="square">
            <a:spAutoFit/>
          </a:bodyPr>
          <a:lstStyle/>
          <a:p>
            <a:pPr algn="ctr">
              <a:spcAft>
                <a:spcPts val="1000"/>
              </a:spcAft>
            </a:pPr>
            <a:r>
              <a:rPr lang="en-US" sz="3200" b="1" dirty="0">
                <a:latin typeface="Times New Roman"/>
                <a:ea typeface="Times New Roman"/>
                <a:cs typeface="Arial"/>
              </a:rPr>
              <a:t>Dr. </a:t>
            </a:r>
            <a:r>
              <a:rPr lang="en-US" sz="3200" b="1" dirty="0" err="1" smtClean="0">
                <a:latin typeface="Times New Roman"/>
                <a:ea typeface="Times New Roman"/>
                <a:cs typeface="Arial"/>
              </a:rPr>
              <a:t>Khaled</a:t>
            </a:r>
            <a:r>
              <a:rPr lang="en-US" sz="3200" b="1" dirty="0" smtClean="0">
                <a:latin typeface="Times New Roman"/>
                <a:ea typeface="Times New Roman"/>
                <a:cs typeface="Arial"/>
              </a:rPr>
              <a:t> </a:t>
            </a:r>
            <a:r>
              <a:rPr lang="en-US" sz="3200" b="1" dirty="0" err="1" smtClean="0">
                <a:latin typeface="Times New Roman"/>
                <a:ea typeface="Times New Roman"/>
                <a:cs typeface="Arial"/>
              </a:rPr>
              <a:t>Saeed</a:t>
            </a:r>
            <a:r>
              <a:rPr lang="en-US" sz="3200" b="1" dirty="0" smtClean="0">
                <a:latin typeface="Times New Roman"/>
                <a:ea typeface="Times New Roman"/>
                <a:cs typeface="Arial"/>
              </a:rPr>
              <a:t> </a:t>
            </a:r>
            <a:r>
              <a:rPr lang="en-US" sz="3200" b="1" dirty="0" err="1" smtClean="0">
                <a:latin typeface="Times New Roman"/>
                <a:ea typeface="Times New Roman"/>
                <a:cs typeface="Arial"/>
              </a:rPr>
              <a:t>Ba-Jaalah</a:t>
            </a:r>
            <a:endParaRPr lang="en-US" sz="3200" b="1" dirty="0">
              <a:latin typeface="Times New Roman"/>
              <a:ea typeface="Times New Roman"/>
              <a:cs typeface="Arial"/>
            </a:endParaRPr>
          </a:p>
        </p:txBody>
      </p:sp>
      <p:sp>
        <p:nvSpPr>
          <p:cNvPr id="6" name="Rectangle 7"/>
          <p:cNvSpPr/>
          <p:nvPr/>
        </p:nvSpPr>
        <p:spPr>
          <a:xfrm>
            <a:off x="228600" y="2457271"/>
            <a:ext cx="8610601" cy="1261884"/>
          </a:xfrm>
          <a:prstGeom prst="rect">
            <a:avLst/>
          </a:prstGeom>
        </p:spPr>
        <p:txBody>
          <a:bodyPr wrap="square">
            <a:spAutoFit/>
          </a:bodyPr>
          <a:lstStyle/>
          <a:p>
            <a:pPr algn="ctr"/>
            <a:r>
              <a:rPr lang="en-US" sz="4400" b="1"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Mining Management and Planning</a:t>
            </a:r>
            <a:endParaRPr lang="en-US" sz="4000" b="1" dirty="0" smtClean="0">
              <a:solidFill>
                <a:srgbClr val="FF0000"/>
              </a:solidFill>
              <a:latin typeface="Times New Roman"/>
              <a:ea typeface="Times New Roman"/>
              <a:cs typeface="Arial"/>
            </a:endParaRPr>
          </a:p>
          <a:p>
            <a:pPr lvl="1" algn="ctr"/>
            <a:r>
              <a:rPr lang="en-US" sz="3200" b="1" dirty="0" smtClean="0">
                <a:solidFill>
                  <a:srgbClr val="002060"/>
                </a:solidFill>
                <a:latin typeface="Times New Roman"/>
                <a:ea typeface="Times New Roman"/>
                <a:cs typeface="Arial"/>
              </a:rPr>
              <a:t>Level-3 Semester-1</a:t>
            </a:r>
            <a:endParaRPr lang="en-US" sz="3200" b="1" dirty="0">
              <a:solidFill>
                <a:srgbClr val="002060"/>
              </a:solidFill>
              <a:latin typeface="Times New Roman"/>
              <a:ea typeface="Times New Roman"/>
              <a:cs typeface="Arial"/>
            </a:endParaRPr>
          </a:p>
        </p:txBody>
      </p:sp>
      <p:sp>
        <p:nvSpPr>
          <p:cNvPr id="13" name="Rectangle 7"/>
          <p:cNvSpPr/>
          <p:nvPr/>
        </p:nvSpPr>
        <p:spPr>
          <a:xfrm>
            <a:off x="533399" y="5410200"/>
            <a:ext cx="8610601" cy="461665"/>
          </a:xfrm>
          <a:prstGeom prst="rect">
            <a:avLst/>
          </a:prstGeom>
        </p:spPr>
        <p:txBody>
          <a:bodyPr wrap="square">
            <a:spAutoFit/>
          </a:bodyPr>
          <a:lstStyle/>
          <a:p>
            <a:pPr lvl="0" algn="ctr">
              <a:spcBef>
                <a:spcPct val="20000"/>
              </a:spcBef>
            </a:pPr>
            <a:r>
              <a:rPr lang="en-US" sz="2400" b="1" dirty="0" smtClean="0">
                <a:solidFill>
                  <a:prstClr val="black"/>
                </a:solidFill>
                <a:latin typeface="Times New Roman" pitchFamily="18" charset="0"/>
                <a:ea typeface="Arial" pitchFamily="34" charset="0"/>
                <a:cs typeface="Times New Roman" pitchFamily="18" charset="0"/>
              </a:rPr>
              <a:t>03/09/2025</a:t>
            </a:r>
            <a:endParaRPr lang="en-US" sz="2400" b="1" dirty="0">
              <a:solidFill>
                <a:prstClr val="black"/>
              </a:solidFill>
              <a:latin typeface="Times New Roman" pitchFamily="18" charset="0"/>
              <a:ea typeface="Arial" pitchFamily="34"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304800"/>
            <a:ext cx="1557338"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fontScale="90000"/>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sz="4900" b="1" dirty="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Mining Management and </a:t>
            </a:r>
            <a:r>
              <a:rPr lang="en-US" sz="4900" b="1"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Planning</a:t>
            </a:r>
            <a:r>
              <a:rPr lang="en-US" sz="4000" b="1" dirty="0" smtClean="0">
                <a:solidFill>
                  <a:srgbClr val="FF0000"/>
                </a:solidFill>
                <a:latin typeface="Times New Roman"/>
                <a:cs typeface="Arial"/>
              </a:rPr>
              <a:t/>
            </a:r>
            <a:br>
              <a:rPr lang="en-US" sz="4000" b="1" dirty="0" smtClean="0">
                <a:solidFill>
                  <a:srgbClr val="FF0000"/>
                </a:solidFill>
                <a:latin typeface="Times New Roman"/>
                <a:cs typeface="Arial"/>
              </a:rPr>
            </a:br>
            <a: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endParaRPr lang="en-US" dirty="0">
              <a:solidFill>
                <a:srgbClr val="FF0000"/>
              </a:solidFill>
            </a:endParaRPr>
          </a:p>
        </p:txBody>
      </p:sp>
      <p:sp>
        <p:nvSpPr>
          <p:cNvPr id="3" name="Content Placeholder 2"/>
          <p:cNvSpPr>
            <a:spLocks noGrp="1"/>
          </p:cNvSpPr>
          <p:nvPr>
            <p:ph idx="1"/>
          </p:nvPr>
        </p:nvSpPr>
        <p:spPr>
          <a:xfrm>
            <a:off x="0" y="914400"/>
            <a:ext cx="9144000" cy="5943600"/>
          </a:xfrm>
        </p:spPr>
        <p:txBody>
          <a:bodyPr>
            <a:noAutofit/>
          </a:bodyPr>
          <a:lstStyle/>
          <a:p>
            <a:pPr marL="0" indent="0">
              <a:buNone/>
            </a:pPr>
            <a:r>
              <a:rPr lang="en-US" sz="3600" b="1" dirty="0">
                <a:solidFill>
                  <a:srgbClr val="00B0F0"/>
                </a:solidFill>
                <a:latin typeface="Times New Roman" pitchFamily="18" charset="0"/>
                <a:cs typeface="Times New Roman" pitchFamily="18" charset="0"/>
              </a:rPr>
              <a:t>Corse Description:</a:t>
            </a:r>
          </a:p>
          <a:p>
            <a:pPr marL="0" indent="0">
              <a:buNone/>
            </a:pPr>
            <a:endParaRPr lang="en-US" sz="800" dirty="0">
              <a:solidFill>
                <a:srgbClr val="00B0F0"/>
              </a:solidFill>
              <a:latin typeface="Times New Roman" pitchFamily="18" charset="0"/>
              <a:cs typeface="Times New Roman" pitchFamily="18" charset="0"/>
            </a:endParaRPr>
          </a:p>
          <a:p>
            <a:pPr marL="0" indent="0">
              <a:buNone/>
            </a:pPr>
            <a:r>
              <a:rPr lang="en-US" sz="3600" b="1" dirty="0">
                <a:solidFill>
                  <a:srgbClr val="C00000"/>
                </a:solidFill>
                <a:latin typeface="Times New Roman" pitchFamily="18" charset="0"/>
                <a:cs typeface="Times New Roman" pitchFamily="18" charset="0"/>
              </a:rPr>
              <a:t>Understanding:-</a:t>
            </a:r>
            <a:r>
              <a:rPr lang="en-US" sz="3600" dirty="0">
                <a:latin typeface="Times New Roman" pitchFamily="18" charset="0"/>
                <a:cs typeface="Times New Roman" pitchFamily="18" charset="0"/>
              </a:rPr>
              <a:t> </a:t>
            </a:r>
            <a:endParaRPr lang="en-US" sz="3600" dirty="0" smtClean="0">
              <a:latin typeface="Times New Roman" pitchFamily="18" charset="0"/>
              <a:cs typeface="Times New Roman" pitchFamily="18" charset="0"/>
            </a:endParaRPr>
          </a:p>
          <a:p>
            <a:pPr marL="0" indent="0">
              <a:buNone/>
            </a:pPr>
            <a:endParaRPr lang="en-US" sz="1000" dirty="0">
              <a:latin typeface="Times New Roman" pitchFamily="18" charset="0"/>
              <a:cs typeface="Times New Roman" pitchFamily="18" charset="0"/>
            </a:endParaRPr>
          </a:p>
          <a:p>
            <a:pPr marL="355600" indent="-355600" algn="just">
              <a:lnSpc>
                <a:spcPct val="125000"/>
              </a:lnSpc>
              <a:spcBef>
                <a:spcPct val="25000"/>
              </a:spcBef>
              <a:buFont typeface="Wingdings" pitchFamily="2" charset="2"/>
              <a:buChar char="Ø"/>
              <a:defRPr/>
            </a:pPr>
            <a:r>
              <a:rPr lang="en-US" sz="3600" b="1" dirty="0">
                <a:latin typeface="Times New Roman" pitchFamily="18" charset="0"/>
                <a:cs typeface="Times New Roman" pitchFamily="18" charset="0"/>
              </a:rPr>
              <a:t>Introduction for project management objectives</a:t>
            </a:r>
            <a:r>
              <a:rPr lang="en-US" sz="3600" b="1" dirty="0" smtClean="0">
                <a:latin typeface="Times New Roman" pitchFamily="18" charset="0"/>
                <a:cs typeface="Times New Roman" pitchFamily="18" charset="0"/>
              </a:rPr>
              <a:t>.</a:t>
            </a:r>
          </a:p>
          <a:p>
            <a:pPr marL="355600" indent="-355600" algn="just">
              <a:lnSpc>
                <a:spcPct val="125000"/>
              </a:lnSpc>
              <a:spcBef>
                <a:spcPct val="25000"/>
              </a:spcBef>
              <a:buFont typeface="Wingdings" pitchFamily="2" charset="2"/>
              <a:buChar char="Ø"/>
              <a:defRPr/>
            </a:pPr>
            <a:endParaRPr lang="en-US" sz="800" b="1" dirty="0">
              <a:latin typeface="Times New Roman" pitchFamily="18" charset="0"/>
              <a:cs typeface="Times New Roman" pitchFamily="18" charset="0"/>
            </a:endParaRPr>
          </a:p>
          <a:p>
            <a:pPr marL="355600" indent="-355600" algn="just">
              <a:lnSpc>
                <a:spcPct val="125000"/>
              </a:lnSpc>
              <a:spcBef>
                <a:spcPct val="25000"/>
              </a:spcBef>
              <a:buFont typeface="Wingdings" pitchFamily="2" charset="2"/>
              <a:buChar char="Ø"/>
              <a:defRPr/>
            </a:pPr>
            <a:r>
              <a:rPr lang="en-US" sz="3600" b="1" dirty="0">
                <a:latin typeface="Times New Roman" pitchFamily="18" charset="0"/>
                <a:cs typeface="Times New Roman" pitchFamily="18" charset="0"/>
              </a:rPr>
              <a:t>Planning Engineering projects</a:t>
            </a:r>
            <a:r>
              <a:rPr lang="en-US" sz="3600" b="1" dirty="0" smtClean="0">
                <a:latin typeface="Times New Roman" pitchFamily="18" charset="0"/>
                <a:cs typeface="Times New Roman" pitchFamily="18" charset="0"/>
              </a:rPr>
              <a:t>. </a:t>
            </a:r>
            <a:endParaRPr lang="en-US" sz="3600" b="1" dirty="0">
              <a:latin typeface="Times New Roman" pitchFamily="18" charset="0"/>
              <a:cs typeface="Times New Roman" pitchFamily="18" charset="0"/>
            </a:endParaRPr>
          </a:p>
          <a:p>
            <a:pPr marL="355600" indent="-355600" algn="just">
              <a:lnSpc>
                <a:spcPct val="125000"/>
              </a:lnSpc>
              <a:spcBef>
                <a:spcPct val="25000"/>
              </a:spcBef>
              <a:buFont typeface="Wingdings" pitchFamily="2" charset="2"/>
              <a:buChar char="Ø"/>
              <a:defRPr/>
            </a:pPr>
            <a:endParaRPr lang="en-US" sz="800" b="1" dirty="0" smtClean="0">
              <a:latin typeface="Times New Roman" pitchFamily="18" charset="0"/>
              <a:cs typeface="Times New Roman" pitchFamily="18" charset="0"/>
            </a:endParaRPr>
          </a:p>
          <a:p>
            <a:pPr marL="355600" indent="-355600" algn="just">
              <a:lnSpc>
                <a:spcPct val="125000"/>
              </a:lnSpc>
              <a:spcBef>
                <a:spcPct val="25000"/>
              </a:spcBef>
              <a:buFont typeface="Wingdings" pitchFamily="2" charset="2"/>
              <a:buChar char="Ø"/>
              <a:defRPr/>
            </a:pPr>
            <a:r>
              <a:rPr lang="en-US" sz="3600" b="1" dirty="0" smtClean="0">
                <a:latin typeface="Times New Roman" pitchFamily="18" charset="0"/>
                <a:cs typeface="Times New Roman" pitchFamily="18" charset="0"/>
              </a:rPr>
              <a:t>Scheduling </a:t>
            </a:r>
            <a:r>
              <a:rPr lang="en-US" sz="3600" b="1" dirty="0">
                <a:latin typeface="Times New Roman" pitchFamily="18" charset="0"/>
                <a:cs typeface="Times New Roman" pitchFamily="18" charset="0"/>
              </a:rPr>
              <a:t>using activity-on-node and precedence methods.</a:t>
            </a:r>
          </a:p>
          <a:p>
            <a:pPr algn="just">
              <a:lnSpc>
                <a:spcPct val="150000"/>
              </a:lnSpc>
              <a:buNone/>
            </a:pPr>
            <a:endParaRPr lang="en-US" sz="2400" dirty="0" smtClean="0"/>
          </a:p>
          <a:p>
            <a:pPr algn="just">
              <a:lnSpc>
                <a:spcPct val="150000"/>
              </a:lnSpc>
              <a:buNone/>
            </a:pPr>
            <a:endParaRPr lang="en-US" sz="2400" dirty="0" smtClean="0"/>
          </a:p>
          <a:p>
            <a:pPr algn="just">
              <a:lnSpc>
                <a:spcPct val="150000"/>
              </a:lnSpc>
              <a:buNone/>
            </a:pPr>
            <a:endParaRPr lang="en-US" sz="2400" dirty="0" smtClean="0"/>
          </a:p>
          <a:p>
            <a:pPr algn="just">
              <a:lnSpc>
                <a:spcPct val="150000"/>
              </a:lnSpc>
              <a:buNone/>
            </a:pPr>
            <a:endParaRPr lang="en-US" sz="2400" dirty="0" smtClean="0"/>
          </a:p>
          <a:p>
            <a:pPr algn="just">
              <a:lnSpc>
                <a:spcPct val="150000"/>
              </a:lnSpc>
              <a:buNone/>
            </a:pPr>
            <a:endParaRPr lang="en-US" sz="2400" dirty="0" smtClean="0"/>
          </a:p>
          <a:p>
            <a:pPr algn="just">
              <a:lnSpc>
                <a:spcPct val="150000"/>
              </a:lnSpc>
              <a:buNone/>
            </a:pPr>
            <a:endParaRPr lang="en-US" sz="2400" dirty="0" smtClean="0"/>
          </a:p>
          <a:p>
            <a:pPr lvl="0" algn="just">
              <a:lnSpc>
                <a:spcPct val="150000"/>
              </a:lnSpc>
              <a:buNone/>
            </a:pPr>
            <a:endParaRPr lang="en-US" sz="2400" dirty="0">
              <a:latin typeface="Times New Roman"/>
              <a:ea typeface="Times New Roman"/>
              <a:cs typeface="Arial"/>
            </a:endParaRPr>
          </a:p>
        </p:txBody>
      </p:sp>
      <p:sp>
        <p:nvSpPr>
          <p:cNvPr id="6" name="Slide Number Placeholder 5"/>
          <p:cNvSpPr>
            <a:spLocks noGrp="1"/>
          </p:cNvSpPr>
          <p:nvPr>
            <p:ph type="sldNum" sz="quarter" idx="12"/>
          </p:nvPr>
        </p:nvSpPr>
        <p:spPr/>
        <p:txBody>
          <a:bodyPr/>
          <a:lstStyle/>
          <a:p>
            <a:fld id="{64F3F0E1-6389-4DAA-B649-2ED1A0C4FA57}" type="slidenum">
              <a:rPr lang="en-US" smtClean="0"/>
              <a:pPr/>
              <a:t>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1000"/>
                                        <p:tgtEl>
                                          <p:spTgt spid="3">
                                            <p:txEl>
                                              <p:pRg st="4" end="4"/>
                                            </p:txEl>
                                          </p:spTgt>
                                        </p:tgtEl>
                                      </p:cBhvr>
                                    </p:animEffect>
                                    <p:anim calcmode="lin" valueType="num">
                                      <p:cBhvr>
                                        <p:cTn id="1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1000"/>
                                        <p:tgtEl>
                                          <p:spTgt spid="3">
                                            <p:txEl>
                                              <p:pRg st="6" end="6"/>
                                            </p:txEl>
                                          </p:spTgt>
                                        </p:tgtEl>
                                      </p:cBhvr>
                                    </p:animEffect>
                                    <p:anim calcmode="lin" valueType="num">
                                      <p:cBhvr>
                                        <p:cTn id="21"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0" y="152400"/>
            <a:ext cx="9144000" cy="944562"/>
          </a:xfrm>
        </p:spPr>
        <p:txBody>
          <a:bodyPr>
            <a:normAutofit/>
          </a:bodyPr>
          <a:lstStyle/>
          <a:p>
            <a:r>
              <a:rPr lang="en-US" b="1" dirty="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Mining Management and Planning</a:t>
            </a:r>
            <a:endParaRPr lang="ar-YE" dirty="0"/>
          </a:p>
        </p:txBody>
      </p:sp>
      <p:sp>
        <p:nvSpPr>
          <p:cNvPr id="3" name="عنصر نائب للمحتوى 2"/>
          <p:cNvSpPr>
            <a:spLocks noGrp="1"/>
          </p:cNvSpPr>
          <p:nvPr>
            <p:ph idx="1"/>
          </p:nvPr>
        </p:nvSpPr>
        <p:spPr>
          <a:xfrm>
            <a:off x="0" y="1828800"/>
            <a:ext cx="9144000" cy="3657600"/>
          </a:xfrm>
        </p:spPr>
        <p:txBody>
          <a:bodyPr/>
          <a:lstStyle/>
          <a:p>
            <a:pPr marL="355600" indent="-355600" algn="just">
              <a:lnSpc>
                <a:spcPct val="125000"/>
              </a:lnSpc>
              <a:spcBef>
                <a:spcPct val="25000"/>
              </a:spcBef>
              <a:buFont typeface="Wingdings" pitchFamily="2" charset="2"/>
              <a:buChar char="Ø"/>
              <a:defRPr/>
            </a:pPr>
            <a:r>
              <a:rPr lang="en-US" sz="3600" b="1" dirty="0">
                <a:latin typeface="Times New Roman" pitchFamily="18" charset="0"/>
                <a:cs typeface="Times New Roman" pitchFamily="18" charset="0"/>
              </a:rPr>
              <a:t>Resource leveling and allocation. </a:t>
            </a:r>
            <a:endParaRPr lang="en-US" sz="3600" b="1" dirty="0" smtClean="0">
              <a:latin typeface="Times New Roman" pitchFamily="18" charset="0"/>
              <a:cs typeface="Times New Roman" pitchFamily="18" charset="0"/>
            </a:endParaRPr>
          </a:p>
          <a:p>
            <a:pPr marL="355600" indent="-355600" algn="just">
              <a:lnSpc>
                <a:spcPct val="125000"/>
              </a:lnSpc>
              <a:spcBef>
                <a:spcPct val="25000"/>
              </a:spcBef>
              <a:buFont typeface="Wingdings" pitchFamily="2" charset="2"/>
              <a:buChar char="Ø"/>
              <a:defRPr/>
            </a:pPr>
            <a:endParaRPr lang="en-US" sz="1400" b="1" dirty="0">
              <a:latin typeface="Times New Roman" pitchFamily="18" charset="0"/>
              <a:cs typeface="Times New Roman" pitchFamily="18" charset="0"/>
            </a:endParaRPr>
          </a:p>
          <a:p>
            <a:pPr marL="355600" indent="-355600" algn="just">
              <a:lnSpc>
                <a:spcPct val="125000"/>
              </a:lnSpc>
              <a:spcBef>
                <a:spcPct val="25000"/>
              </a:spcBef>
              <a:buFont typeface="Wingdings" pitchFamily="2" charset="2"/>
              <a:buChar char="Ø"/>
              <a:defRPr/>
            </a:pPr>
            <a:r>
              <a:rPr lang="en-US" sz="3600" b="1" dirty="0">
                <a:latin typeface="Times New Roman" pitchFamily="18" charset="0"/>
                <a:cs typeface="Times New Roman" pitchFamily="18" charset="0"/>
              </a:rPr>
              <a:t>Project time-cost trade-off. </a:t>
            </a:r>
            <a:endParaRPr lang="en-US" sz="3600" b="1" dirty="0" smtClean="0">
              <a:latin typeface="Times New Roman" pitchFamily="18" charset="0"/>
              <a:cs typeface="Times New Roman" pitchFamily="18" charset="0"/>
            </a:endParaRPr>
          </a:p>
          <a:p>
            <a:pPr marL="355600" indent="-355600" algn="just">
              <a:lnSpc>
                <a:spcPct val="125000"/>
              </a:lnSpc>
              <a:spcBef>
                <a:spcPct val="25000"/>
              </a:spcBef>
              <a:buFont typeface="Wingdings" pitchFamily="2" charset="2"/>
              <a:buChar char="Ø"/>
              <a:defRPr/>
            </a:pPr>
            <a:endParaRPr lang="en-US" sz="1400" b="1" dirty="0" smtClean="0">
              <a:latin typeface="Times New Roman" pitchFamily="18" charset="0"/>
              <a:cs typeface="Times New Roman" pitchFamily="18" charset="0"/>
            </a:endParaRPr>
          </a:p>
          <a:p>
            <a:pPr marL="355600" indent="-355600" algn="just">
              <a:lnSpc>
                <a:spcPct val="125000"/>
              </a:lnSpc>
              <a:spcBef>
                <a:spcPct val="25000"/>
              </a:spcBef>
              <a:buFont typeface="Wingdings" pitchFamily="2" charset="2"/>
              <a:buChar char="Ø"/>
              <a:defRPr/>
            </a:pPr>
            <a:r>
              <a:rPr lang="en-US" sz="3600" b="1" dirty="0">
                <a:latin typeface="Times New Roman" pitchFamily="18" charset="0"/>
                <a:cs typeface="Times New Roman" pitchFamily="18" charset="0"/>
              </a:rPr>
              <a:t>Cash flow forecasting.</a:t>
            </a:r>
          </a:p>
          <a:p>
            <a:pPr marL="0" indent="0" algn="just">
              <a:lnSpc>
                <a:spcPct val="125000"/>
              </a:lnSpc>
              <a:spcBef>
                <a:spcPct val="25000"/>
              </a:spcBef>
              <a:buNone/>
              <a:defRPr/>
            </a:pPr>
            <a:endParaRPr lang="en-US" b="1" dirty="0">
              <a:latin typeface="Times New Roman" pitchFamily="18" charset="0"/>
              <a:cs typeface="Times New Roman" pitchFamily="18" charset="0"/>
            </a:endParaRPr>
          </a:p>
          <a:p>
            <a:pPr marL="0" indent="0">
              <a:buNone/>
            </a:pPr>
            <a:endParaRPr lang="ar-YE" dirty="0"/>
          </a:p>
        </p:txBody>
      </p:sp>
      <p:sp>
        <p:nvSpPr>
          <p:cNvPr id="4" name="عنصر نائب لرقم الشريحة 3"/>
          <p:cNvSpPr>
            <a:spLocks noGrp="1"/>
          </p:cNvSpPr>
          <p:nvPr>
            <p:ph type="sldNum" sz="quarter" idx="12"/>
          </p:nvPr>
        </p:nvSpPr>
        <p:spPr/>
        <p:txBody>
          <a:bodyPr/>
          <a:lstStyle/>
          <a:p>
            <a:fld id="{64F3F0E1-6389-4DAA-B649-2ED1A0C4FA57}" type="slidenum">
              <a:rPr lang="en-US" smtClean="0"/>
              <a:pPr/>
              <a:t>3</a:t>
            </a:fld>
            <a:endParaRPr lang="en-US" dirty="0"/>
          </a:p>
        </p:txBody>
      </p:sp>
    </p:spTree>
    <p:extLst>
      <p:ext uri="{BB962C8B-B14F-4D97-AF65-F5344CB8AC3E}">
        <p14:creationId xmlns:p14="http://schemas.microsoft.com/office/powerpoint/2010/main" val="4127653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0" y="76200"/>
            <a:ext cx="9144000" cy="1020762"/>
          </a:xfrm>
        </p:spPr>
        <p:txBody>
          <a:bodyPr>
            <a:normAutofit/>
          </a:bodyPr>
          <a:lstStyle/>
          <a:p>
            <a:r>
              <a:rPr lang="en-US" b="1" dirty="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Mining Management and Planning</a:t>
            </a:r>
            <a:endParaRPr lang="ar-YE" dirty="0"/>
          </a:p>
        </p:txBody>
      </p:sp>
      <p:sp>
        <p:nvSpPr>
          <p:cNvPr id="3" name="عنصر نائب للمحتوى 2"/>
          <p:cNvSpPr>
            <a:spLocks noGrp="1"/>
          </p:cNvSpPr>
          <p:nvPr>
            <p:ph idx="1"/>
          </p:nvPr>
        </p:nvSpPr>
        <p:spPr>
          <a:xfrm>
            <a:off x="0" y="1295400"/>
            <a:ext cx="9144000" cy="4830763"/>
          </a:xfrm>
        </p:spPr>
        <p:txBody>
          <a:bodyPr>
            <a:normAutofit/>
          </a:bodyPr>
          <a:lstStyle/>
          <a:p>
            <a:pPr marL="355600" indent="-355600" algn="just">
              <a:lnSpc>
                <a:spcPct val="125000"/>
              </a:lnSpc>
              <a:spcBef>
                <a:spcPct val="25000"/>
              </a:spcBef>
              <a:buFont typeface="Wingdings" pitchFamily="2" charset="2"/>
              <a:buChar char="Ø"/>
              <a:defRPr/>
            </a:pPr>
            <a:r>
              <a:rPr lang="en-US" sz="3600" b="1" dirty="0" smtClean="0">
                <a:latin typeface="Times New Roman" pitchFamily="18" charset="0"/>
                <a:cs typeface="Times New Roman" pitchFamily="18" charset="0"/>
              </a:rPr>
              <a:t>Updating </a:t>
            </a:r>
            <a:r>
              <a:rPr lang="en-US" sz="3600" b="1" dirty="0">
                <a:latin typeface="Times New Roman" pitchFamily="18" charset="0"/>
                <a:cs typeface="Times New Roman" pitchFamily="18" charset="0"/>
              </a:rPr>
              <a:t>construction schedules. </a:t>
            </a:r>
            <a:endParaRPr lang="en-US" sz="3600" b="1" dirty="0" smtClean="0">
              <a:latin typeface="Times New Roman" pitchFamily="18" charset="0"/>
              <a:cs typeface="Times New Roman" pitchFamily="18" charset="0"/>
            </a:endParaRPr>
          </a:p>
          <a:p>
            <a:pPr marL="355600" indent="-355600" algn="just">
              <a:lnSpc>
                <a:spcPct val="125000"/>
              </a:lnSpc>
              <a:spcBef>
                <a:spcPct val="25000"/>
              </a:spcBef>
              <a:buFont typeface="Wingdings" pitchFamily="2" charset="2"/>
              <a:buChar char="Ø"/>
              <a:defRPr/>
            </a:pPr>
            <a:endParaRPr lang="en-US" sz="1200" b="1" dirty="0">
              <a:latin typeface="Times New Roman" pitchFamily="18" charset="0"/>
              <a:cs typeface="Times New Roman" pitchFamily="18" charset="0"/>
            </a:endParaRPr>
          </a:p>
          <a:p>
            <a:pPr marL="355600" indent="-355600" algn="just">
              <a:lnSpc>
                <a:spcPct val="125000"/>
              </a:lnSpc>
              <a:spcBef>
                <a:spcPct val="25000"/>
              </a:spcBef>
              <a:buFont typeface="Wingdings" pitchFamily="2" charset="2"/>
              <a:buChar char="Ø"/>
              <a:defRPr/>
            </a:pPr>
            <a:r>
              <a:rPr lang="en-US" sz="3600" b="1" dirty="0">
                <a:latin typeface="Times New Roman" pitchFamily="18" charset="0"/>
                <a:cs typeface="Times New Roman" pitchFamily="18" charset="0"/>
              </a:rPr>
              <a:t>Project time and cost control. </a:t>
            </a:r>
            <a:endParaRPr lang="en-US" sz="3600" b="1" dirty="0" smtClean="0">
              <a:latin typeface="Times New Roman" pitchFamily="18" charset="0"/>
              <a:cs typeface="Times New Roman" pitchFamily="18" charset="0"/>
            </a:endParaRPr>
          </a:p>
          <a:p>
            <a:pPr marL="355600" indent="-355600" algn="just">
              <a:lnSpc>
                <a:spcPct val="125000"/>
              </a:lnSpc>
              <a:spcBef>
                <a:spcPct val="25000"/>
              </a:spcBef>
              <a:buFont typeface="Wingdings" pitchFamily="2" charset="2"/>
              <a:buChar char="Ø"/>
              <a:defRPr/>
            </a:pPr>
            <a:endParaRPr lang="en-US" sz="1300" b="1" dirty="0">
              <a:latin typeface="Times New Roman" pitchFamily="18" charset="0"/>
              <a:cs typeface="Times New Roman" pitchFamily="18" charset="0"/>
            </a:endParaRPr>
          </a:p>
          <a:p>
            <a:pPr marL="355600" indent="-355600" algn="just">
              <a:lnSpc>
                <a:spcPct val="125000"/>
              </a:lnSpc>
              <a:spcBef>
                <a:spcPct val="25000"/>
              </a:spcBef>
              <a:buFont typeface="Wingdings" pitchFamily="2" charset="2"/>
              <a:buChar char="Ø"/>
              <a:defRPr/>
            </a:pPr>
            <a:r>
              <a:rPr lang="en-US" sz="3600" b="1" dirty="0">
                <a:latin typeface="Times New Roman" pitchFamily="18" charset="0"/>
                <a:cs typeface="Times New Roman" pitchFamily="18" charset="0"/>
              </a:rPr>
              <a:t>Contractual and organizational approaches including definition of organizational responsibilities of project participants</a:t>
            </a:r>
            <a:r>
              <a:rPr lang="en-US" b="1" dirty="0">
                <a:latin typeface="Times New Roman" pitchFamily="18" charset="0"/>
                <a:cs typeface="Times New Roman" pitchFamily="18" charset="0"/>
              </a:rPr>
              <a:t>.</a:t>
            </a:r>
          </a:p>
          <a:p>
            <a:pPr marL="0" indent="0">
              <a:buNone/>
            </a:pPr>
            <a:endParaRPr lang="ar-YE" dirty="0"/>
          </a:p>
        </p:txBody>
      </p:sp>
      <p:sp>
        <p:nvSpPr>
          <p:cNvPr id="4" name="عنصر نائب لرقم الشريحة 3"/>
          <p:cNvSpPr>
            <a:spLocks noGrp="1"/>
          </p:cNvSpPr>
          <p:nvPr>
            <p:ph type="sldNum" sz="quarter" idx="12"/>
          </p:nvPr>
        </p:nvSpPr>
        <p:spPr/>
        <p:txBody>
          <a:bodyPr/>
          <a:lstStyle/>
          <a:p>
            <a:fld id="{64F3F0E1-6389-4DAA-B649-2ED1A0C4FA57}" type="slidenum">
              <a:rPr lang="en-US" smtClean="0"/>
              <a:pPr/>
              <a:t>4</a:t>
            </a:fld>
            <a:endParaRPr lang="en-US" dirty="0"/>
          </a:p>
        </p:txBody>
      </p:sp>
    </p:spTree>
    <p:extLst>
      <p:ext uri="{BB962C8B-B14F-4D97-AF65-F5344CB8AC3E}">
        <p14:creationId xmlns:p14="http://schemas.microsoft.com/office/powerpoint/2010/main" val="2271808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1000"/>
                                        <p:tgtEl>
                                          <p:spTgt spid="3">
                                            <p:txEl>
                                              <p:pRg st="2" end="2"/>
                                            </p:txEl>
                                          </p:spTgt>
                                        </p:tgtEl>
                                      </p:cBhvr>
                                    </p:animEffect>
                                    <p:anim calcmode="lin" valueType="num">
                                      <p:cBhvr>
                                        <p:cTn id="1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1000"/>
                                        <p:tgtEl>
                                          <p:spTgt spid="3">
                                            <p:txEl>
                                              <p:pRg st="4" end="4"/>
                                            </p:txEl>
                                          </p:spTgt>
                                        </p:tgtEl>
                                      </p:cBhvr>
                                    </p:animEffect>
                                    <p:anim calcmode="lin" valueType="num">
                                      <p:cBhvr>
                                        <p:cTn id="2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Autofit/>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b="1" dirty="0" smtClean="0">
                <a:solidFill>
                  <a:srgbClr val="FF0000"/>
                </a:solidFill>
                <a:latin typeface="Times New Roman"/>
                <a:cs typeface="Arial"/>
              </a:rPr>
              <a:t> </a:t>
            </a:r>
            <a:r>
              <a:rPr lang="en-US" b="1" dirty="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Mining Management and Planning</a:t>
            </a:r>
            <a:r>
              <a:rPr lang="en-US" b="1" dirty="0">
                <a:solidFill>
                  <a:srgbClr val="FF0000"/>
                </a:solidFill>
                <a:latin typeface="Times New Roman"/>
                <a:ea typeface="Times New Roman"/>
                <a:cs typeface="Arial"/>
              </a:rPr>
              <a:t/>
            </a:r>
            <a:br>
              <a:rPr lang="en-US" b="1" dirty="0">
                <a:solidFill>
                  <a:srgbClr val="FF0000"/>
                </a:solidFill>
                <a:latin typeface="Times New Roman"/>
                <a:ea typeface="Times New Roman"/>
                <a:cs typeface="Arial"/>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endParaRPr lang="en-US" dirty="0">
              <a:solidFill>
                <a:srgbClr val="FF0000"/>
              </a:solidFill>
            </a:endParaRPr>
          </a:p>
        </p:txBody>
      </p:sp>
      <p:sp>
        <p:nvSpPr>
          <p:cNvPr id="3" name="Content Placeholder 2"/>
          <p:cNvSpPr>
            <a:spLocks noGrp="1"/>
          </p:cNvSpPr>
          <p:nvPr>
            <p:ph idx="1"/>
          </p:nvPr>
        </p:nvSpPr>
        <p:spPr>
          <a:xfrm>
            <a:off x="0" y="1219200"/>
            <a:ext cx="9144000" cy="5257800"/>
          </a:xfrm>
        </p:spPr>
        <p:txBody>
          <a:bodyPr>
            <a:noAutofit/>
          </a:bodyPr>
          <a:lstStyle/>
          <a:p>
            <a:pPr>
              <a:buNone/>
            </a:pPr>
            <a:r>
              <a:rPr lang="en-US" sz="3600" b="1" dirty="0" smtClean="0">
                <a:solidFill>
                  <a:srgbClr val="00B0F0"/>
                </a:solidFill>
                <a:latin typeface="Times New Roman" pitchFamily="18" charset="0"/>
                <a:cs typeface="Times New Roman" pitchFamily="18" charset="0"/>
              </a:rPr>
              <a:t>Topics:</a:t>
            </a:r>
            <a:endParaRPr lang="en-US" sz="3600" dirty="0" smtClean="0">
              <a:latin typeface="Times New Roman" pitchFamily="18" charset="0"/>
              <a:cs typeface="Times New Roman" pitchFamily="18" charset="0"/>
            </a:endParaRPr>
          </a:p>
          <a:p>
            <a:pPr marL="514350" lvl="0" indent="-514350">
              <a:buFont typeface="+mj-lt"/>
              <a:buAutoNum type="arabicPeriod"/>
            </a:pPr>
            <a:endParaRPr lang="en-US" sz="1200" dirty="0" smtClean="0">
              <a:cs typeface="+mj-cs"/>
            </a:endParaRPr>
          </a:p>
          <a:p>
            <a:pPr marL="800100" lvl="1" indent="-514350" algn="just">
              <a:lnSpc>
                <a:spcPct val="120000"/>
              </a:lnSpc>
              <a:spcBef>
                <a:spcPts val="600"/>
              </a:spcBef>
              <a:buFont typeface="+mj-lt"/>
              <a:buAutoNum type="arabicParenR"/>
              <a:defRPr/>
            </a:pPr>
            <a:r>
              <a:rPr lang="en-US" sz="3600" b="1" dirty="0">
                <a:latin typeface="Times New Roman" pitchFamily="18" charset="0"/>
                <a:cs typeface="Times New Roman" pitchFamily="18" charset="0"/>
              </a:rPr>
              <a:t>Introduction for management of engineering </a:t>
            </a:r>
            <a:r>
              <a:rPr lang="en-US" sz="3600" b="1" dirty="0" smtClean="0">
                <a:latin typeface="Times New Roman" pitchFamily="18" charset="0"/>
                <a:cs typeface="Times New Roman" pitchFamily="18" charset="0"/>
              </a:rPr>
              <a:t>projects.</a:t>
            </a:r>
          </a:p>
          <a:p>
            <a:pPr lvl="1" indent="-457200" algn="just">
              <a:lnSpc>
                <a:spcPct val="120000"/>
              </a:lnSpc>
              <a:spcBef>
                <a:spcPts val="600"/>
              </a:spcBef>
              <a:buClr>
                <a:srgbClr val="FF0000"/>
              </a:buClr>
              <a:buFont typeface="+mj-lt"/>
              <a:buAutoNum type="arabicParenR"/>
              <a:defRPr/>
            </a:pPr>
            <a:endParaRPr lang="en-US" sz="800" b="1" dirty="0">
              <a:latin typeface="Times New Roman" pitchFamily="18" charset="0"/>
              <a:cs typeface="Times New Roman" pitchFamily="18" charset="0"/>
            </a:endParaRPr>
          </a:p>
          <a:p>
            <a:pPr marL="800100" lvl="1" indent="-514350" algn="just">
              <a:lnSpc>
                <a:spcPct val="120000"/>
              </a:lnSpc>
              <a:spcBef>
                <a:spcPts val="600"/>
              </a:spcBef>
              <a:buFont typeface="+mj-lt"/>
              <a:buAutoNum type="arabicParenR"/>
              <a:defRPr/>
            </a:pPr>
            <a:r>
              <a:rPr lang="en-US" sz="3600" b="1" dirty="0">
                <a:latin typeface="Times New Roman" pitchFamily="18" charset="0"/>
                <a:cs typeface="Times New Roman" pitchFamily="18" charset="0"/>
              </a:rPr>
              <a:t>Planning with bar </a:t>
            </a:r>
            <a:r>
              <a:rPr lang="en-US" sz="3600" b="1" dirty="0" smtClean="0">
                <a:latin typeface="Times New Roman" pitchFamily="18" charset="0"/>
                <a:cs typeface="Times New Roman" pitchFamily="18" charset="0"/>
              </a:rPr>
              <a:t>chart.</a:t>
            </a:r>
          </a:p>
          <a:p>
            <a:pPr lvl="1" indent="-457200" algn="just">
              <a:lnSpc>
                <a:spcPct val="120000"/>
              </a:lnSpc>
              <a:spcBef>
                <a:spcPts val="600"/>
              </a:spcBef>
              <a:buFont typeface="+mj-lt"/>
              <a:buAutoNum type="arabicParenR"/>
              <a:defRPr/>
            </a:pPr>
            <a:endParaRPr lang="en-US" sz="800" b="1" dirty="0">
              <a:latin typeface="Times New Roman" pitchFamily="18" charset="0"/>
              <a:cs typeface="Times New Roman" pitchFamily="18" charset="0"/>
            </a:endParaRPr>
          </a:p>
          <a:p>
            <a:pPr marL="800100" lvl="1" indent="-514350" algn="just">
              <a:lnSpc>
                <a:spcPct val="120000"/>
              </a:lnSpc>
              <a:spcBef>
                <a:spcPts val="600"/>
              </a:spcBef>
              <a:buFont typeface="+mj-lt"/>
              <a:buAutoNum type="arabicParenR"/>
              <a:defRPr/>
            </a:pPr>
            <a:r>
              <a:rPr lang="en-US" sz="3600" b="1" dirty="0">
                <a:latin typeface="Times New Roman" pitchFamily="18" charset="0"/>
                <a:cs typeface="Times New Roman" pitchFamily="18" charset="0"/>
              </a:rPr>
              <a:t>Activity-on-node and precedence </a:t>
            </a:r>
            <a:r>
              <a:rPr lang="en-US" sz="3600" b="1" dirty="0" smtClean="0">
                <a:latin typeface="Times New Roman" pitchFamily="18" charset="0"/>
                <a:cs typeface="Times New Roman" pitchFamily="18" charset="0"/>
              </a:rPr>
              <a:t>diagramming  </a:t>
            </a:r>
          </a:p>
          <a:p>
            <a:pPr lvl="1" indent="-457200" algn="just">
              <a:lnSpc>
                <a:spcPct val="120000"/>
              </a:lnSpc>
              <a:spcBef>
                <a:spcPts val="600"/>
              </a:spcBef>
              <a:buFont typeface="+mj-lt"/>
              <a:buAutoNum type="arabicParenR"/>
              <a:defRPr/>
            </a:pPr>
            <a:endParaRPr lang="en-US" sz="800" b="1" dirty="0" smtClean="0">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7467600" y="6356350"/>
            <a:ext cx="1219200" cy="365125"/>
          </a:xfrm>
        </p:spPr>
        <p:txBody>
          <a:bodyPr/>
          <a:lstStyle/>
          <a:p>
            <a:fld id="{64F3F0E1-6389-4DAA-B649-2ED1A0C4FA57}" type="slidenum">
              <a:rPr lang="en-US" smtClean="0"/>
              <a:pPr/>
              <a:t>5</a:t>
            </a:fld>
            <a:endParaRPr lang="en-US" dirty="0"/>
          </a:p>
        </p:txBody>
      </p:sp>
    </p:spTree>
    <p:extLst>
      <p:ext uri="{BB962C8B-B14F-4D97-AF65-F5344CB8AC3E}">
        <p14:creationId xmlns:p14="http://schemas.microsoft.com/office/powerpoint/2010/main" val="2885220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additive="base">
                                        <p:cTn id="1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 calcmode="lin" valueType="num">
                                      <p:cBhvr additive="base">
                                        <p:cTn id="2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1000"/>
                                        <p:tgtEl>
                                          <p:spTgt spid="3">
                                            <p:txEl>
                                              <p:pRg st="6" end="6"/>
                                            </p:txEl>
                                          </p:spTgt>
                                        </p:tgtEl>
                                      </p:cBhvr>
                                    </p:animEffect>
                                    <p:anim calcmode="lin" valueType="num">
                                      <p:cBhvr>
                                        <p:cTn id="2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0" y="274638"/>
            <a:ext cx="9144000" cy="944562"/>
          </a:xfrm>
        </p:spPr>
        <p:txBody>
          <a:bodyPr>
            <a:normAutofit/>
          </a:bodyPr>
          <a:lstStyle/>
          <a:p>
            <a:r>
              <a:rPr lang="en-US" b="1" dirty="0">
                <a:solidFill>
                  <a:srgbClr val="FF0000"/>
                </a:solidFill>
                <a:latin typeface="Times New Roman"/>
                <a:cs typeface="Arial"/>
              </a:rPr>
              <a:t> </a:t>
            </a:r>
            <a:r>
              <a:rPr lang="en-US" b="1" dirty="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Mining Management and Planning</a:t>
            </a:r>
            <a:endParaRPr lang="ar-YE" dirty="0"/>
          </a:p>
        </p:txBody>
      </p:sp>
      <p:sp>
        <p:nvSpPr>
          <p:cNvPr id="3" name="عنصر نائب للمحتوى 2"/>
          <p:cNvSpPr>
            <a:spLocks noGrp="1"/>
          </p:cNvSpPr>
          <p:nvPr>
            <p:ph idx="1"/>
          </p:nvPr>
        </p:nvSpPr>
        <p:spPr>
          <a:xfrm>
            <a:off x="457200" y="2133600"/>
            <a:ext cx="8229600" cy="3581400"/>
          </a:xfrm>
        </p:spPr>
        <p:txBody>
          <a:bodyPr/>
          <a:lstStyle/>
          <a:p>
            <a:pPr marL="1028700" lvl="1" indent="-742950" algn="just">
              <a:lnSpc>
                <a:spcPct val="120000"/>
              </a:lnSpc>
              <a:spcBef>
                <a:spcPts val="600"/>
              </a:spcBef>
              <a:buFont typeface="+mj-lt"/>
              <a:buAutoNum type="arabicParenR" startAt="4"/>
              <a:defRPr/>
            </a:pPr>
            <a:r>
              <a:rPr lang="en-US" sz="3600" b="1" dirty="0">
                <a:latin typeface="Times New Roman" pitchFamily="18" charset="0"/>
                <a:cs typeface="Times New Roman" pitchFamily="18" charset="0"/>
              </a:rPr>
              <a:t>Activity on Arrow </a:t>
            </a:r>
          </a:p>
          <a:p>
            <a:pPr lvl="1" indent="-457200" algn="just">
              <a:lnSpc>
                <a:spcPct val="120000"/>
              </a:lnSpc>
              <a:spcBef>
                <a:spcPts val="600"/>
              </a:spcBef>
              <a:buFont typeface="+mj-lt"/>
              <a:buAutoNum type="arabicParenR" startAt="4"/>
              <a:defRPr/>
            </a:pPr>
            <a:endParaRPr lang="en-US" sz="1800" b="1" dirty="0">
              <a:latin typeface="Times New Roman" pitchFamily="18" charset="0"/>
              <a:cs typeface="Times New Roman" pitchFamily="18" charset="0"/>
            </a:endParaRPr>
          </a:p>
          <a:p>
            <a:pPr marL="1028700" lvl="1" indent="-742950" algn="just">
              <a:lnSpc>
                <a:spcPct val="120000"/>
              </a:lnSpc>
              <a:spcBef>
                <a:spcPts val="600"/>
              </a:spcBef>
              <a:buFont typeface="+mj-lt"/>
              <a:buAutoNum type="arabicParenR" startAt="4"/>
              <a:defRPr/>
            </a:pPr>
            <a:r>
              <a:rPr lang="en-US" sz="3600" b="1" dirty="0">
                <a:latin typeface="Times New Roman" pitchFamily="18" charset="0"/>
                <a:cs typeface="Times New Roman" pitchFamily="18" charset="0"/>
              </a:rPr>
              <a:t>Resource leveling and </a:t>
            </a:r>
            <a:r>
              <a:rPr lang="en-US" sz="3600" b="1" dirty="0" smtClean="0">
                <a:latin typeface="Times New Roman" pitchFamily="18" charset="0"/>
                <a:cs typeface="Times New Roman" pitchFamily="18" charset="0"/>
              </a:rPr>
              <a:t>allocation</a:t>
            </a:r>
          </a:p>
          <a:p>
            <a:pPr marL="800100" lvl="1" indent="-514350" algn="just">
              <a:lnSpc>
                <a:spcPct val="120000"/>
              </a:lnSpc>
              <a:spcBef>
                <a:spcPts val="600"/>
              </a:spcBef>
              <a:buFont typeface="+mj-lt"/>
              <a:buAutoNum type="arabicParenR" startAt="4"/>
              <a:defRPr/>
            </a:pPr>
            <a:endParaRPr lang="en-US" sz="1800" b="1" dirty="0" smtClean="0">
              <a:latin typeface="Times New Roman" pitchFamily="18" charset="0"/>
              <a:cs typeface="Times New Roman" pitchFamily="18" charset="0"/>
            </a:endParaRPr>
          </a:p>
          <a:p>
            <a:pPr marL="1028700" lvl="1" indent="-742950" algn="just">
              <a:lnSpc>
                <a:spcPct val="120000"/>
              </a:lnSpc>
              <a:spcBef>
                <a:spcPts val="600"/>
              </a:spcBef>
              <a:buFont typeface="+mj-lt"/>
              <a:buAutoNum type="arabicParenR" startAt="4"/>
              <a:defRPr/>
            </a:pPr>
            <a:r>
              <a:rPr lang="en-US" sz="3600" b="1" dirty="0">
                <a:latin typeface="Times New Roman" pitchFamily="18" charset="0"/>
                <a:cs typeface="Times New Roman" pitchFamily="18" charset="0"/>
              </a:rPr>
              <a:t>Time-cost </a:t>
            </a:r>
            <a:r>
              <a:rPr lang="en-US" sz="3600" b="1" dirty="0" smtClean="0">
                <a:latin typeface="Times New Roman" pitchFamily="18" charset="0"/>
                <a:cs typeface="Times New Roman" pitchFamily="18" charset="0"/>
              </a:rPr>
              <a:t>trade-off</a:t>
            </a:r>
            <a:endParaRPr lang="en-US" sz="3600" dirty="0">
              <a:latin typeface="Times New Roman"/>
              <a:ea typeface="Times New Roman"/>
              <a:cs typeface="Arial"/>
            </a:endParaRPr>
          </a:p>
          <a:p>
            <a:pPr marL="0" indent="0">
              <a:buNone/>
            </a:pPr>
            <a:endParaRPr lang="ar-YE" dirty="0"/>
          </a:p>
        </p:txBody>
      </p:sp>
      <p:sp>
        <p:nvSpPr>
          <p:cNvPr id="4" name="عنصر نائب لرقم الشريحة 3"/>
          <p:cNvSpPr>
            <a:spLocks noGrp="1"/>
          </p:cNvSpPr>
          <p:nvPr>
            <p:ph type="sldNum" sz="quarter" idx="12"/>
          </p:nvPr>
        </p:nvSpPr>
        <p:spPr/>
        <p:txBody>
          <a:bodyPr/>
          <a:lstStyle/>
          <a:p>
            <a:fld id="{64F3F0E1-6389-4DAA-B649-2ED1A0C4FA57}" type="slidenum">
              <a:rPr lang="en-US" smtClean="0"/>
              <a:pPr/>
              <a:t>6</a:t>
            </a:fld>
            <a:endParaRPr lang="en-US" dirty="0"/>
          </a:p>
        </p:txBody>
      </p:sp>
    </p:spTree>
    <p:extLst>
      <p:ext uri="{BB962C8B-B14F-4D97-AF65-F5344CB8AC3E}">
        <p14:creationId xmlns:p14="http://schemas.microsoft.com/office/powerpoint/2010/main" val="2540115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0" y="122238"/>
            <a:ext cx="9144000" cy="1020762"/>
          </a:xfrm>
        </p:spPr>
        <p:txBody>
          <a:bodyPr>
            <a:normAutofit/>
          </a:bodyPr>
          <a:lstStyle/>
          <a:p>
            <a:r>
              <a:rPr lang="en-US" b="1" dirty="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Mining Management and Planning</a:t>
            </a:r>
            <a:endParaRPr lang="ar-YE" dirty="0"/>
          </a:p>
        </p:txBody>
      </p:sp>
      <p:sp>
        <p:nvSpPr>
          <p:cNvPr id="3" name="عنصر نائب للمحتوى 2"/>
          <p:cNvSpPr>
            <a:spLocks noGrp="1"/>
          </p:cNvSpPr>
          <p:nvPr>
            <p:ph idx="1"/>
          </p:nvPr>
        </p:nvSpPr>
        <p:spPr>
          <a:xfrm>
            <a:off x="0" y="1981200"/>
            <a:ext cx="9144000" cy="3505200"/>
          </a:xfrm>
        </p:spPr>
        <p:txBody>
          <a:bodyPr>
            <a:normAutofit/>
          </a:bodyPr>
          <a:lstStyle/>
          <a:p>
            <a:pPr marL="1028700" lvl="1" indent="-742950" algn="just">
              <a:lnSpc>
                <a:spcPct val="120000"/>
              </a:lnSpc>
              <a:spcBef>
                <a:spcPts val="600"/>
              </a:spcBef>
              <a:buFont typeface="+mj-lt"/>
              <a:buAutoNum type="arabicParenR" startAt="7"/>
              <a:defRPr/>
            </a:pPr>
            <a:r>
              <a:rPr lang="en-US" sz="3600" b="1" dirty="0" smtClean="0">
                <a:latin typeface="Times New Roman" pitchFamily="18" charset="0"/>
                <a:cs typeface="Times New Roman" pitchFamily="18" charset="0"/>
              </a:rPr>
              <a:t>Cash </a:t>
            </a:r>
            <a:r>
              <a:rPr lang="en-US" sz="3600" b="1" dirty="0">
                <a:latin typeface="Times New Roman" pitchFamily="18" charset="0"/>
                <a:cs typeface="Times New Roman" pitchFamily="18" charset="0"/>
              </a:rPr>
              <a:t>flow </a:t>
            </a:r>
            <a:r>
              <a:rPr lang="en-US" sz="3600" b="1" dirty="0" smtClean="0">
                <a:latin typeface="Times New Roman" pitchFamily="18" charset="0"/>
                <a:cs typeface="Times New Roman" pitchFamily="18" charset="0"/>
              </a:rPr>
              <a:t>analysis</a:t>
            </a:r>
          </a:p>
          <a:p>
            <a:pPr marL="1028700" lvl="1" indent="-742950" algn="just">
              <a:lnSpc>
                <a:spcPct val="120000"/>
              </a:lnSpc>
              <a:spcBef>
                <a:spcPts val="600"/>
              </a:spcBef>
              <a:buFont typeface="+mj-lt"/>
              <a:buAutoNum type="arabicParenR" startAt="7"/>
              <a:defRPr/>
            </a:pPr>
            <a:endParaRPr lang="en-US" sz="1200" b="1" dirty="0">
              <a:latin typeface="Times New Roman" pitchFamily="18" charset="0"/>
              <a:cs typeface="Times New Roman" pitchFamily="18" charset="0"/>
            </a:endParaRPr>
          </a:p>
          <a:p>
            <a:pPr marL="1028700" lvl="1" indent="-742950" algn="just">
              <a:lnSpc>
                <a:spcPct val="120000"/>
              </a:lnSpc>
              <a:spcBef>
                <a:spcPts val="600"/>
              </a:spcBef>
              <a:buFont typeface="+mj-lt"/>
              <a:buAutoNum type="arabicParenR" startAt="7"/>
              <a:defRPr/>
            </a:pPr>
            <a:r>
              <a:rPr lang="en-US" sz="3600" b="1" dirty="0">
                <a:latin typeface="Times New Roman" pitchFamily="18" charset="0"/>
                <a:cs typeface="Times New Roman" pitchFamily="18" charset="0"/>
              </a:rPr>
              <a:t>Risk Management</a:t>
            </a:r>
          </a:p>
          <a:p>
            <a:pPr marL="1028700" lvl="1" indent="-742950" algn="just">
              <a:lnSpc>
                <a:spcPct val="120000"/>
              </a:lnSpc>
              <a:spcBef>
                <a:spcPts val="600"/>
              </a:spcBef>
              <a:buFont typeface="+mj-lt"/>
              <a:buAutoNum type="arabicParenR" startAt="7"/>
              <a:defRPr/>
            </a:pPr>
            <a:endParaRPr lang="en-US" sz="1300" b="1" dirty="0">
              <a:latin typeface="Times New Roman" pitchFamily="18" charset="0"/>
              <a:cs typeface="Times New Roman" pitchFamily="18" charset="0"/>
            </a:endParaRPr>
          </a:p>
          <a:p>
            <a:pPr marL="1028700" lvl="1" indent="-742950" algn="just">
              <a:lnSpc>
                <a:spcPct val="120000"/>
              </a:lnSpc>
              <a:spcBef>
                <a:spcPts val="600"/>
              </a:spcBef>
              <a:buFont typeface="+mj-lt"/>
              <a:buAutoNum type="arabicParenR" startAt="7"/>
              <a:defRPr/>
            </a:pPr>
            <a:r>
              <a:rPr lang="en-US" sz="3600" b="1" dirty="0">
                <a:latin typeface="Times New Roman" pitchFamily="18" charset="0"/>
                <a:cs typeface="Times New Roman" pitchFamily="18" charset="0"/>
              </a:rPr>
              <a:t>Project Cost Management</a:t>
            </a:r>
          </a:p>
          <a:p>
            <a:pPr marL="0" indent="0">
              <a:buNone/>
            </a:pPr>
            <a:endParaRPr lang="ar-YE" dirty="0"/>
          </a:p>
        </p:txBody>
      </p:sp>
      <p:sp>
        <p:nvSpPr>
          <p:cNvPr id="4" name="عنصر نائب لرقم الشريحة 3"/>
          <p:cNvSpPr>
            <a:spLocks noGrp="1"/>
          </p:cNvSpPr>
          <p:nvPr>
            <p:ph type="sldNum" sz="quarter" idx="12"/>
          </p:nvPr>
        </p:nvSpPr>
        <p:spPr/>
        <p:txBody>
          <a:bodyPr/>
          <a:lstStyle/>
          <a:p>
            <a:fld id="{64F3F0E1-6389-4DAA-B649-2ED1A0C4FA57}" type="slidenum">
              <a:rPr lang="en-US" smtClean="0"/>
              <a:pPr/>
              <a:t>7</a:t>
            </a:fld>
            <a:endParaRPr lang="en-US" dirty="0"/>
          </a:p>
        </p:txBody>
      </p:sp>
    </p:spTree>
    <p:extLst>
      <p:ext uri="{BB962C8B-B14F-4D97-AF65-F5344CB8AC3E}">
        <p14:creationId xmlns:p14="http://schemas.microsoft.com/office/powerpoint/2010/main" val="3707058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0" y="152400"/>
            <a:ext cx="9144000" cy="1143000"/>
          </a:xfrm>
        </p:spPr>
        <p:txBody>
          <a:bodyPr>
            <a:normAutofit/>
          </a:bodyPr>
          <a:lstStyle/>
          <a:p>
            <a:r>
              <a:rPr lang="en-US" b="1" dirty="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Mining Management and Planning</a:t>
            </a:r>
            <a:endParaRPr lang="ar-YE" dirty="0"/>
          </a:p>
        </p:txBody>
      </p:sp>
      <p:sp>
        <p:nvSpPr>
          <p:cNvPr id="3" name="عنصر نائب للمحتوى 2"/>
          <p:cNvSpPr>
            <a:spLocks noGrp="1"/>
          </p:cNvSpPr>
          <p:nvPr>
            <p:ph idx="1"/>
          </p:nvPr>
        </p:nvSpPr>
        <p:spPr>
          <a:xfrm>
            <a:off x="0" y="1295400"/>
            <a:ext cx="9144000" cy="5562600"/>
          </a:xfrm>
        </p:spPr>
        <p:txBody>
          <a:bodyPr>
            <a:normAutofit/>
          </a:bodyPr>
          <a:lstStyle/>
          <a:p>
            <a:pPr marL="0" indent="0">
              <a:buNone/>
            </a:pPr>
            <a:r>
              <a:rPr lang="en-US" sz="3600" b="1" dirty="0" smtClean="0">
                <a:solidFill>
                  <a:srgbClr val="00B0F0"/>
                </a:solidFill>
                <a:latin typeface="Times New Roman" pitchFamily="18" charset="0"/>
                <a:cs typeface="Times New Roman" pitchFamily="18" charset="0"/>
              </a:rPr>
              <a:t>References:-</a:t>
            </a:r>
          </a:p>
          <a:p>
            <a:pPr marL="0" indent="0">
              <a:buNone/>
            </a:pPr>
            <a:endParaRPr lang="en-US" sz="1200" b="1" dirty="0" smtClean="0">
              <a:solidFill>
                <a:srgbClr val="00B0F0"/>
              </a:solidFill>
              <a:latin typeface="Times New Roman" pitchFamily="18" charset="0"/>
              <a:cs typeface="Times New Roman" pitchFamily="18" charset="0"/>
            </a:endParaRPr>
          </a:p>
          <a:p>
            <a:pPr marL="457200" indent="-457200" algn="just">
              <a:lnSpc>
                <a:spcPct val="120000"/>
              </a:lnSpc>
              <a:spcBef>
                <a:spcPts val="1200"/>
              </a:spcBef>
              <a:buFont typeface="+mj-lt"/>
              <a:buAutoNum type="arabicParenR"/>
              <a:defRPr/>
            </a:pPr>
            <a:r>
              <a:rPr lang="en-US" b="1" dirty="0">
                <a:latin typeface="Times New Roman" pitchFamily="18" charset="0"/>
                <a:cs typeface="Times New Roman" pitchFamily="18" charset="0"/>
              </a:rPr>
              <a:t>Nicholas, John M., and </a:t>
            </a:r>
            <a:r>
              <a:rPr lang="en-US" b="1" dirty="0" err="1">
                <a:latin typeface="Times New Roman" pitchFamily="18" charset="0"/>
                <a:cs typeface="Times New Roman" pitchFamily="18" charset="0"/>
              </a:rPr>
              <a:t>Steyn</a:t>
            </a:r>
            <a:r>
              <a:rPr lang="en-US" b="1" dirty="0">
                <a:latin typeface="Times New Roman" pitchFamily="18" charset="0"/>
                <a:cs typeface="Times New Roman" pitchFamily="18" charset="0"/>
              </a:rPr>
              <a:t>, Herman “Project Management for Business, Engineering, and Technology” , Elsevier Ltd, </a:t>
            </a:r>
            <a:r>
              <a:rPr lang="en-US" b="1" dirty="0" smtClean="0">
                <a:latin typeface="Times New Roman" pitchFamily="18" charset="0"/>
                <a:cs typeface="Times New Roman" pitchFamily="18" charset="0"/>
              </a:rPr>
              <a:t>2008</a:t>
            </a:r>
          </a:p>
          <a:p>
            <a:pPr marL="457200" indent="-457200" algn="just">
              <a:lnSpc>
                <a:spcPct val="120000"/>
              </a:lnSpc>
              <a:spcBef>
                <a:spcPts val="1200"/>
              </a:spcBef>
              <a:buFont typeface="+mj-lt"/>
              <a:buAutoNum type="arabicParenR"/>
              <a:defRPr/>
            </a:pPr>
            <a:endParaRPr lang="en-US" sz="1000" b="1" dirty="0">
              <a:latin typeface="Times New Roman" pitchFamily="18" charset="0"/>
              <a:cs typeface="Times New Roman" pitchFamily="18" charset="0"/>
            </a:endParaRPr>
          </a:p>
          <a:p>
            <a:pPr marL="457200" indent="-457200" algn="just">
              <a:lnSpc>
                <a:spcPct val="120000"/>
              </a:lnSpc>
              <a:spcBef>
                <a:spcPts val="1200"/>
              </a:spcBef>
              <a:buFont typeface="+mj-lt"/>
              <a:buAutoNum type="arabicParenR"/>
              <a:defRPr/>
            </a:pPr>
            <a:r>
              <a:rPr lang="en-US" b="1" dirty="0" err="1">
                <a:latin typeface="Times New Roman" pitchFamily="18" charset="0"/>
                <a:cs typeface="Times New Roman" pitchFamily="18" charset="0"/>
              </a:rPr>
              <a:t>Heizer</a:t>
            </a:r>
            <a:r>
              <a:rPr lang="en-US" b="1" dirty="0">
                <a:latin typeface="Times New Roman" pitchFamily="18" charset="0"/>
                <a:cs typeface="Times New Roman" pitchFamily="18" charset="0"/>
              </a:rPr>
              <a:t>, jay, and Render, Barry; “Operation Management”; CH3, Pearson Education, latest Ed.</a:t>
            </a:r>
          </a:p>
          <a:p>
            <a:pPr marL="0" indent="0">
              <a:buNone/>
            </a:pPr>
            <a:endParaRPr lang="ar-YE" sz="3600" b="1" dirty="0">
              <a:solidFill>
                <a:srgbClr val="00B0F0"/>
              </a:solidFill>
              <a:latin typeface="Times New Roman" pitchFamily="18" charset="0"/>
              <a:cs typeface="Times New Roman" pitchFamily="18" charset="0"/>
            </a:endParaRPr>
          </a:p>
        </p:txBody>
      </p:sp>
      <p:sp>
        <p:nvSpPr>
          <p:cNvPr id="4" name="عنصر نائب لرقم الشريحة 3"/>
          <p:cNvSpPr>
            <a:spLocks noGrp="1"/>
          </p:cNvSpPr>
          <p:nvPr>
            <p:ph type="sldNum" sz="quarter" idx="12"/>
          </p:nvPr>
        </p:nvSpPr>
        <p:spPr/>
        <p:txBody>
          <a:bodyPr/>
          <a:lstStyle/>
          <a:p>
            <a:fld id="{64F3F0E1-6389-4DAA-B649-2ED1A0C4FA57}" type="slidenum">
              <a:rPr lang="en-US" smtClean="0"/>
              <a:pPr/>
              <a:t>8</a:t>
            </a:fld>
            <a:endParaRPr lang="en-US" dirty="0"/>
          </a:p>
        </p:txBody>
      </p:sp>
    </p:spTree>
    <p:extLst>
      <p:ext uri="{BB962C8B-B14F-4D97-AF65-F5344CB8AC3E}">
        <p14:creationId xmlns:p14="http://schemas.microsoft.com/office/powerpoint/2010/main" val="1149388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additive="base">
                                        <p:cTn id="1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 calcmode="lin" valueType="num">
                                      <p:cBhvr additive="base">
                                        <p:cTn id="2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914400"/>
          </a:xfrm>
        </p:spPr>
        <p:txBody>
          <a:bodyPr>
            <a:normAutofit fontScale="90000"/>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sz="4000" b="1" dirty="0" smtClean="0"/>
              <a:t> </a:t>
            </a:r>
            <a:r>
              <a:rPr lang="en-US" sz="4900" b="1" dirty="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Mining Management and Planning</a:t>
            </a:r>
            <a:r>
              <a:rPr lang="en-US" sz="4000" b="1" dirty="0">
                <a:solidFill>
                  <a:srgbClr val="002060"/>
                </a:solidFill>
                <a:latin typeface="Times New Roman"/>
                <a:ea typeface="Times New Roman"/>
                <a:cs typeface="Arial"/>
              </a:rPr>
              <a:t/>
            </a:r>
            <a:br>
              <a:rPr lang="en-US" sz="4000" b="1" dirty="0">
                <a:solidFill>
                  <a:srgbClr val="002060"/>
                </a:solidFill>
                <a:latin typeface="Times New Roman"/>
                <a:ea typeface="Times New Roman"/>
                <a:cs typeface="Arial"/>
              </a:rPr>
            </a:br>
            <a: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9</a:t>
            </a:fld>
            <a:endParaRPr lang="en-US" dirty="0"/>
          </a:p>
        </p:txBody>
      </p:sp>
      <p:sp>
        <p:nvSpPr>
          <p:cNvPr id="7" name="TextBox 6"/>
          <p:cNvSpPr txBox="1"/>
          <p:nvPr/>
        </p:nvSpPr>
        <p:spPr>
          <a:xfrm>
            <a:off x="0" y="1428214"/>
            <a:ext cx="9144000" cy="4062651"/>
          </a:xfrm>
          <a:prstGeom prst="rect">
            <a:avLst/>
          </a:prstGeom>
          <a:noFill/>
        </p:spPr>
        <p:txBody>
          <a:bodyPr wrap="square" rtlCol="1">
            <a:spAutoFit/>
          </a:bodyPr>
          <a:lstStyle/>
          <a:p>
            <a:r>
              <a:rPr lang="en-US" sz="3600" b="1" dirty="0" smtClean="0">
                <a:solidFill>
                  <a:srgbClr val="00B0F0"/>
                </a:solidFill>
                <a:latin typeface="Times New Roman" pitchFamily="18" charset="0"/>
                <a:cs typeface="Times New Roman" pitchFamily="18" charset="0"/>
              </a:rPr>
              <a:t>Method of Evaluation: </a:t>
            </a:r>
            <a:endParaRPr lang="en-US" sz="3600" dirty="0" smtClean="0">
              <a:latin typeface="Times New Roman" pitchFamily="18" charset="0"/>
              <a:cs typeface="Times New Roman" pitchFamily="18" charset="0"/>
            </a:endParaRPr>
          </a:p>
          <a:p>
            <a:endParaRPr lang="en-US" sz="2400" dirty="0" smtClean="0"/>
          </a:p>
          <a:p>
            <a:r>
              <a:rPr lang="en-US" sz="3600" b="1" dirty="0" smtClean="0">
                <a:latin typeface="Times New Roman" pitchFamily="18" charset="0"/>
                <a:cs typeface="Times New Roman" pitchFamily="18" charset="0"/>
              </a:rPr>
              <a:t>Homework :                          10 </a:t>
            </a:r>
          </a:p>
          <a:p>
            <a:r>
              <a:rPr lang="en-US" sz="3600" b="1" dirty="0" smtClean="0">
                <a:latin typeface="Times New Roman" pitchFamily="18" charset="0"/>
                <a:cs typeface="Times New Roman" pitchFamily="18" charset="0"/>
              </a:rPr>
              <a:t>Exam 1:                                 20</a:t>
            </a:r>
          </a:p>
          <a:p>
            <a:r>
              <a:rPr lang="en-US" sz="3600" b="1" dirty="0">
                <a:latin typeface="Times New Roman" pitchFamily="18" charset="0"/>
                <a:cs typeface="Times New Roman" pitchFamily="18" charset="0"/>
              </a:rPr>
              <a:t>Exam </a:t>
            </a:r>
            <a:r>
              <a:rPr lang="en-US" sz="3600" b="1" dirty="0" smtClean="0">
                <a:latin typeface="Times New Roman" pitchFamily="18" charset="0"/>
                <a:cs typeface="Times New Roman" pitchFamily="18" charset="0"/>
              </a:rPr>
              <a:t>2:                                 20 </a:t>
            </a:r>
            <a:endParaRPr lang="en-US" sz="3600" b="1" dirty="0">
              <a:latin typeface="Times New Roman" pitchFamily="18" charset="0"/>
              <a:cs typeface="Times New Roman" pitchFamily="18" charset="0"/>
            </a:endParaRPr>
          </a:p>
          <a:p>
            <a:r>
              <a:rPr lang="en-US" sz="3600" b="1" dirty="0" smtClean="0">
                <a:latin typeface="Times New Roman" pitchFamily="18" charset="0"/>
                <a:cs typeface="Times New Roman" pitchFamily="18" charset="0"/>
              </a:rPr>
              <a:t>Final exam:                          </a:t>
            </a:r>
            <a:r>
              <a:rPr lang="en-US" sz="3600" b="1" u="sng" dirty="0" smtClean="0">
                <a:latin typeface="Times New Roman" pitchFamily="18" charset="0"/>
                <a:cs typeface="Times New Roman" pitchFamily="18" charset="0"/>
              </a:rPr>
              <a:t>100</a:t>
            </a:r>
            <a:r>
              <a:rPr lang="en-US" sz="3600" b="1" dirty="0" smtClean="0">
                <a:latin typeface="Times New Roman" pitchFamily="18" charset="0"/>
                <a:cs typeface="Times New Roman" pitchFamily="18" charset="0"/>
              </a:rPr>
              <a:t> </a:t>
            </a:r>
          </a:p>
          <a:p>
            <a:r>
              <a:rPr lang="en-US" sz="3600" b="1" dirty="0" smtClean="0">
                <a:solidFill>
                  <a:srgbClr val="FF0000"/>
                </a:solidFill>
                <a:latin typeface="Times New Roman" pitchFamily="18" charset="0"/>
                <a:cs typeface="Times New Roman" pitchFamily="18" charset="0"/>
              </a:rPr>
              <a:t>Total:                                    150</a:t>
            </a:r>
          </a:p>
          <a:p>
            <a:endParaRPr lang="ar-EG" dirty="0"/>
          </a:p>
        </p:txBody>
      </p:sp>
    </p:spTree>
    <p:extLst>
      <p:ext uri="{BB962C8B-B14F-4D97-AF65-F5344CB8AC3E}">
        <p14:creationId xmlns:p14="http://schemas.microsoft.com/office/powerpoint/2010/main" val="2160877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 calcmode="lin" valueType="num">
                                      <p:cBhvr additive="base">
                                        <p:cTn id="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 calcmode="lin" valueType="num">
                                      <p:cBhvr additive="base">
                                        <p:cTn id="1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 calcmode="lin" valueType="num">
                                      <p:cBhvr additive="base">
                                        <p:cTn id="19"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anim calcmode="lin" valueType="num">
                                      <p:cBhvr additive="base">
                                        <p:cTn id="25"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Effect transition="in" filter="fade">
                                      <p:cBhvr>
                                        <p:cTn id="31" dur="1000"/>
                                        <p:tgtEl>
                                          <p:spTgt spid="7">
                                            <p:txEl>
                                              <p:pRg st="6" end="6"/>
                                            </p:txEl>
                                          </p:spTgt>
                                        </p:tgtEl>
                                      </p:cBhvr>
                                    </p:animEffect>
                                    <p:anim calcmode="lin" valueType="num">
                                      <p:cBhvr>
                                        <p:cTn id="32"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4F3F0E1-6389-4DAA-B649-2ED1A0C4FA57}" type="slidenum">
              <a:rPr lang="en-US" smtClean="0"/>
              <a:pPr/>
              <a:t>10</a:t>
            </a:fld>
            <a:endParaRPr lang="en-US" dirty="0"/>
          </a:p>
        </p:txBody>
      </p:sp>
      <p:sp>
        <p:nvSpPr>
          <p:cNvPr id="522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522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52229" name="Rectangle 5"/>
          <p:cNvSpPr>
            <a:spLocks noChangeArrowheads="1"/>
          </p:cNvSpPr>
          <p:nvPr/>
        </p:nvSpPr>
        <p:spPr bwMode="auto">
          <a:xfrm>
            <a:off x="0" y="9525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52231"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52232" name="Rectangle 8"/>
          <p:cNvSpPr>
            <a:spLocks noChangeArrowheads="1"/>
          </p:cNvSpPr>
          <p:nvPr/>
        </p:nvSpPr>
        <p:spPr bwMode="auto">
          <a:xfrm>
            <a:off x="0" y="6953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52234"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52235" name="Rectangle 11"/>
          <p:cNvSpPr>
            <a:spLocks noChangeArrowheads="1"/>
          </p:cNvSpPr>
          <p:nvPr/>
        </p:nvSpPr>
        <p:spPr bwMode="auto">
          <a:xfrm>
            <a:off x="457200" y="9239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52237"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52238" name="Rectangle 14"/>
          <p:cNvSpPr>
            <a:spLocks noChangeArrowheads="1"/>
          </p:cNvSpPr>
          <p:nvPr/>
        </p:nvSpPr>
        <p:spPr bwMode="auto">
          <a:xfrm>
            <a:off x="457200" y="7143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20" name="Rectangle 7"/>
          <p:cNvSpPr/>
          <p:nvPr/>
        </p:nvSpPr>
        <p:spPr>
          <a:xfrm>
            <a:off x="76200" y="3505200"/>
            <a:ext cx="8763001" cy="1323439"/>
          </a:xfrm>
          <a:prstGeom prst="rect">
            <a:avLst/>
          </a:prstGeom>
          <a:ln w="28575">
            <a:solidFill>
              <a:schemeClr val="tx1"/>
            </a:solidFill>
          </a:ln>
        </p:spPr>
        <p:txBody>
          <a:bodyPr wrap="square">
            <a:spAutoFit/>
          </a:bodyPr>
          <a:lstStyle/>
          <a:p>
            <a:pPr lvl="0" algn="ctr">
              <a:spcBef>
                <a:spcPct val="20000"/>
              </a:spcBef>
            </a:pPr>
            <a:r>
              <a:rPr lang="en-US" sz="4000" b="1" dirty="0">
                <a:solidFill>
                  <a:srgbClr val="00B0F0"/>
                </a:solidFill>
                <a:latin typeface="Times New Roman"/>
                <a:ea typeface="Times New Roman"/>
                <a:cs typeface="Arial"/>
              </a:rPr>
              <a:t>Introduction for management of engineering projects</a:t>
            </a:r>
          </a:p>
        </p:txBody>
      </p:sp>
      <p:sp>
        <p:nvSpPr>
          <p:cNvPr id="22" name="Rectangle 7"/>
          <p:cNvSpPr/>
          <p:nvPr/>
        </p:nvSpPr>
        <p:spPr>
          <a:xfrm>
            <a:off x="279400" y="4963180"/>
            <a:ext cx="8610601" cy="584775"/>
          </a:xfrm>
          <a:prstGeom prst="rect">
            <a:avLst/>
          </a:prstGeom>
        </p:spPr>
        <p:txBody>
          <a:bodyPr wrap="square">
            <a:spAutoFit/>
          </a:bodyPr>
          <a:lstStyle/>
          <a:p>
            <a:pPr algn="ctr">
              <a:spcAft>
                <a:spcPts val="1000"/>
              </a:spcAft>
            </a:pPr>
            <a:r>
              <a:rPr lang="en-US" sz="3200" b="1" dirty="0">
                <a:latin typeface="Times New Roman"/>
                <a:ea typeface="Times New Roman"/>
                <a:cs typeface="Arial"/>
              </a:rPr>
              <a:t>Dr. </a:t>
            </a:r>
            <a:r>
              <a:rPr lang="en-US" sz="3200" b="1" dirty="0" err="1" smtClean="0">
                <a:latin typeface="Times New Roman"/>
                <a:ea typeface="Times New Roman"/>
                <a:cs typeface="Arial"/>
              </a:rPr>
              <a:t>Khaled</a:t>
            </a:r>
            <a:r>
              <a:rPr lang="en-US" sz="3200" b="1" dirty="0" smtClean="0">
                <a:latin typeface="Times New Roman"/>
                <a:ea typeface="Times New Roman"/>
                <a:cs typeface="Arial"/>
              </a:rPr>
              <a:t> </a:t>
            </a:r>
            <a:r>
              <a:rPr lang="en-US" sz="3200" b="1" dirty="0" err="1" smtClean="0">
                <a:latin typeface="Times New Roman"/>
                <a:ea typeface="Times New Roman"/>
                <a:cs typeface="Arial"/>
              </a:rPr>
              <a:t>Saeed</a:t>
            </a:r>
            <a:r>
              <a:rPr lang="en-US" sz="3200" b="1" dirty="0" smtClean="0">
                <a:latin typeface="Times New Roman"/>
                <a:ea typeface="Times New Roman"/>
                <a:cs typeface="Arial"/>
              </a:rPr>
              <a:t> </a:t>
            </a:r>
            <a:r>
              <a:rPr lang="en-US" sz="3200" b="1" dirty="0" err="1" smtClean="0">
                <a:latin typeface="Times New Roman"/>
                <a:ea typeface="Times New Roman"/>
                <a:cs typeface="Arial"/>
              </a:rPr>
              <a:t>Ba-Jaalah</a:t>
            </a:r>
            <a:endParaRPr lang="en-US" sz="3200" b="1" dirty="0">
              <a:latin typeface="Times New Roman"/>
              <a:ea typeface="Times New Roman"/>
              <a:cs typeface="Arial"/>
            </a:endParaRPr>
          </a:p>
        </p:txBody>
      </p:sp>
      <p:sp>
        <p:nvSpPr>
          <p:cNvPr id="23" name="Rectangle 7"/>
          <p:cNvSpPr/>
          <p:nvPr/>
        </p:nvSpPr>
        <p:spPr>
          <a:xfrm>
            <a:off x="406400" y="5855732"/>
            <a:ext cx="8610601" cy="461665"/>
          </a:xfrm>
          <a:prstGeom prst="rect">
            <a:avLst/>
          </a:prstGeom>
        </p:spPr>
        <p:txBody>
          <a:bodyPr wrap="square">
            <a:spAutoFit/>
          </a:bodyPr>
          <a:lstStyle/>
          <a:p>
            <a:pPr lvl="0" algn="ctr">
              <a:spcBef>
                <a:spcPct val="20000"/>
              </a:spcBef>
            </a:pPr>
            <a:r>
              <a:rPr lang="en-US" sz="2400" b="1" dirty="0" smtClean="0">
                <a:solidFill>
                  <a:prstClr val="black"/>
                </a:solidFill>
                <a:latin typeface="Times New Roman" pitchFamily="18" charset="0"/>
                <a:ea typeface="Arial" pitchFamily="34" charset="0"/>
                <a:cs typeface="Times New Roman" pitchFamily="18" charset="0"/>
              </a:rPr>
              <a:t>03/09/2025</a:t>
            </a:r>
            <a:endParaRPr lang="en-US" sz="2400" b="1" dirty="0">
              <a:solidFill>
                <a:prstClr val="black"/>
              </a:solidFill>
              <a:latin typeface="Times New Roman" pitchFamily="18" charset="0"/>
              <a:ea typeface="Arial" pitchFamily="34" charset="0"/>
              <a:cs typeface="Times New Roman" pitchFamily="18" charset="0"/>
            </a:endParaRPr>
          </a:p>
        </p:txBody>
      </p:sp>
      <p:sp>
        <p:nvSpPr>
          <p:cNvPr id="24" name="Rectangle 7"/>
          <p:cNvSpPr/>
          <p:nvPr/>
        </p:nvSpPr>
        <p:spPr>
          <a:xfrm>
            <a:off x="76200" y="2133600"/>
            <a:ext cx="8940801" cy="1261884"/>
          </a:xfrm>
          <a:prstGeom prst="rect">
            <a:avLst/>
          </a:prstGeom>
        </p:spPr>
        <p:txBody>
          <a:bodyPr wrap="square">
            <a:spAutoFit/>
          </a:bodyPr>
          <a:lstStyle/>
          <a:p>
            <a:pPr algn="ctr"/>
            <a:r>
              <a:rPr lang="en-US" sz="44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t>
            </a:r>
            <a:r>
              <a:rPr lang="en-US" sz="4400" b="1" dirty="0">
                <a:solidFill>
                  <a:srgbClr val="FF0000"/>
                </a:solidFill>
                <a:latin typeface="Times New Roman"/>
                <a:ea typeface="Times New Roman"/>
                <a:cs typeface="Arial"/>
              </a:rPr>
              <a:t>Mining Management and </a:t>
            </a:r>
            <a:r>
              <a:rPr lang="en-US" sz="4400" b="1" dirty="0" smtClean="0">
                <a:solidFill>
                  <a:srgbClr val="FF0000"/>
                </a:solidFill>
                <a:latin typeface="Times New Roman"/>
                <a:ea typeface="Times New Roman"/>
                <a:cs typeface="Arial"/>
              </a:rPr>
              <a:t>Planning</a:t>
            </a:r>
          </a:p>
          <a:p>
            <a:pPr algn="ctr"/>
            <a:r>
              <a:rPr lang="en-US" sz="3200" b="1" dirty="0" smtClean="0">
                <a:solidFill>
                  <a:srgbClr val="002060"/>
                </a:solidFill>
                <a:latin typeface="Times New Roman"/>
                <a:ea typeface="Times New Roman"/>
                <a:cs typeface="Arial"/>
              </a:rPr>
              <a:t>Level-3 Semester-1</a:t>
            </a:r>
            <a:endParaRPr lang="en-US" sz="3200" b="1" dirty="0">
              <a:solidFill>
                <a:srgbClr val="002060"/>
              </a:solidFill>
              <a:latin typeface="Times New Roman"/>
              <a:ea typeface="Times New Roman"/>
              <a:cs typeface="Arial"/>
            </a:endParaRPr>
          </a:p>
        </p:txBody>
      </p:sp>
      <p:pic>
        <p:nvPicPr>
          <p:cNvPr id="2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152400"/>
            <a:ext cx="1557338"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354711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pPr lvl="0"/>
            <a:r>
              <a:rPr lang="en-US" b="1" dirty="0">
                <a:solidFill>
                  <a:srgbClr val="FF0000"/>
                </a:solidFill>
                <a:latin typeface="Times New Roman"/>
                <a:ea typeface="Times New Roman"/>
                <a:cs typeface="Arial"/>
              </a:rPr>
              <a:t>Introduction for management of engineering </a:t>
            </a:r>
            <a:r>
              <a:rPr lang="en-US" b="1" dirty="0" smtClean="0">
                <a:solidFill>
                  <a:srgbClr val="FF0000"/>
                </a:solidFill>
                <a:latin typeface="Times New Roman"/>
                <a:ea typeface="Times New Roman"/>
                <a:cs typeface="Arial"/>
              </a:rPr>
              <a:t>projects</a:t>
            </a:r>
            <a:endParaRPr lang="ar-YE" dirty="0">
              <a:solidFill>
                <a:srgbClr val="FF0000"/>
              </a:solidFill>
            </a:endParaRPr>
          </a:p>
        </p:txBody>
      </p:sp>
      <p:sp>
        <p:nvSpPr>
          <p:cNvPr id="3" name="عنصر نائب للمحتوى 2"/>
          <p:cNvSpPr>
            <a:spLocks noGrp="1"/>
          </p:cNvSpPr>
          <p:nvPr>
            <p:ph idx="1"/>
          </p:nvPr>
        </p:nvSpPr>
        <p:spPr>
          <a:xfrm>
            <a:off x="457200" y="1600200"/>
            <a:ext cx="8229600" cy="5257800"/>
          </a:xfrm>
        </p:spPr>
        <p:txBody>
          <a:bodyPr>
            <a:normAutofit/>
          </a:bodyPr>
          <a:lstStyle/>
          <a:p>
            <a:pPr>
              <a:buFont typeface="Wingdings" pitchFamily="2" charset="2"/>
              <a:buChar char="ü"/>
            </a:pPr>
            <a:r>
              <a:rPr lang="en-US" sz="3600" b="1" dirty="0" smtClean="0">
                <a:solidFill>
                  <a:srgbClr val="00B0F0"/>
                </a:solidFill>
                <a:latin typeface="Times New Roman" pitchFamily="18" charset="0"/>
                <a:cs typeface="Times New Roman" pitchFamily="18" charset="0"/>
              </a:rPr>
              <a:t>Engineering</a:t>
            </a:r>
          </a:p>
          <a:p>
            <a:pPr>
              <a:buFont typeface="Wingdings" pitchFamily="2" charset="2"/>
              <a:buChar char="ü"/>
            </a:pPr>
            <a:endParaRPr lang="en-US" sz="1200" b="1" dirty="0" smtClean="0">
              <a:solidFill>
                <a:srgbClr val="00B0F0"/>
              </a:solidFill>
              <a:latin typeface="Times New Roman" pitchFamily="18" charset="0"/>
              <a:cs typeface="Times New Roman" pitchFamily="18" charset="0"/>
            </a:endParaRPr>
          </a:p>
          <a:p>
            <a:pPr>
              <a:buFont typeface="Wingdings" pitchFamily="2" charset="2"/>
              <a:buChar char="ü"/>
            </a:pPr>
            <a:r>
              <a:rPr lang="en-US" sz="3600" b="1" dirty="0" smtClean="0">
                <a:solidFill>
                  <a:srgbClr val="00B0F0"/>
                </a:solidFill>
                <a:latin typeface="Times New Roman" pitchFamily="18" charset="0"/>
                <a:cs typeface="Times New Roman" pitchFamily="18" charset="0"/>
              </a:rPr>
              <a:t>Management</a:t>
            </a:r>
          </a:p>
          <a:p>
            <a:pPr>
              <a:buFont typeface="Wingdings" pitchFamily="2" charset="2"/>
              <a:buChar char="ü"/>
            </a:pPr>
            <a:endParaRPr lang="en-US" sz="1200" b="1" dirty="0" smtClean="0">
              <a:solidFill>
                <a:srgbClr val="00B0F0"/>
              </a:solidFill>
              <a:latin typeface="Times New Roman" pitchFamily="18" charset="0"/>
              <a:cs typeface="Times New Roman" pitchFamily="18" charset="0"/>
            </a:endParaRPr>
          </a:p>
          <a:p>
            <a:pPr>
              <a:buFont typeface="Wingdings" pitchFamily="2" charset="2"/>
              <a:buChar char="ü"/>
            </a:pPr>
            <a:r>
              <a:rPr lang="en-US" sz="3600" b="1" dirty="0">
                <a:solidFill>
                  <a:srgbClr val="00B0F0"/>
                </a:solidFill>
                <a:latin typeface="Times New Roman" pitchFamily="18" charset="0"/>
                <a:cs typeface="Times New Roman" pitchFamily="18" charset="0"/>
              </a:rPr>
              <a:t>Engineering </a:t>
            </a:r>
            <a:r>
              <a:rPr lang="en-US" sz="3600" b="1" dirty="0" smtClean="0">
                <a:solidFill>
                  <a:srgbClr val="00B0F0"/>
                </a:solidFill>
                <a:latin typeface="Times New Roman" pitchFamily="18" charset="0"/>
                <a:cs typeface="Times New Roman" pitchFamily="18" charset="0"/>
              </a:rPr>
              <a:t>Management</a:t>
            </a:r>
          </a:p>
          <a:p>
            <a:pPr>
              <a:buFont typeface="Wingdings" pitchFamily="2" charset="2"/>
              <a:buChar char="ü"/>
            </a:pPr>
            <a:endParaRPr lang="en-US" sz="1200" b="1" dirty="0" smtClean="0">
              <a:solidFill>
                <a:srgbClr val="00B0F0"/>
              </a:solidFill>
              <a:latin typeface="Times New Roman" pitchFamily="18" charset="0"/>
              <a:cs typeface="Times New Roman" pitchFamily="18" charset="0"/>
            </a:endParaRPr>
          </a:p>
          <a:p>
            <a:pPr>
              <a:buFont typeface="Wingdings" pitchFamily="2" charset="2"/>
              <a:buChar char="ü"/>
            </a:pPr>
            <a:r>
              <a:rPr lang="en-US" sz="3600" b="1" dirty="0" smtClean="0">
                <a:solidFill>
                  <a:srgbClr val="00B0F0"/>
                </a:solidFill>
                <a:latin typeface="Times New Roman" pitchFamily="18" charset="0"/>
                <a:cs typeface="Times New Roman" pitchFamily="18" charset="0"/>
              </a:rPr>
              <a:t>Functions of </a:t>
            </a:r>
            <a:r>
              <a:rPr lang="en-US" sz="3600" b="1" dirty="0">
                <a:solidFill>
                  <a:srgbClr val="00B0F0"/>
                </a:solidFill>
                <a:latin typeface="Times New Roman" pitchFamily="18" charset="0"/>
                <a:cs typeface="Times New Roman" pitchFamily="18" charset="0"/>
              </a:rPr>
              <a:t>Engineering </a:t>
            </a:r>
            <a:r>
              <a:rPr lang="en-US" sz="3600" b="1" dirty="0" smtClean="0">
                <a:solidFill>
                  <a:srgbClr val="00B0F0"/>
                </a:solidFill>
                <a:latin typeface="Times New Roman" pitchFamily="18" charset="0"/>
                <a:cs typeface="Times New Roman" pitchFamily="18" charset="0"/>
              </a:rPr>
              <a:t>Management</a:t>
            </a:r>
          </a:p>
          <a:p>
            <a:pPr>
              <a:buFont typeface="Wingdings" pitchFamily="2" charset="2"/>
              <a:buChar char="ü"/>
            </a:pPr>
            <a:endParaRPr lang="en-US" sz="1200" b="1" dirty="0" smtClean="0">
              <a:solidFill>
                <a:srgbClr val="00B0F0"/>
              </a:solidFill>
              <a:latin typeface="Times New Roman" pitchFamily="18" charset="0"/>
              <a:cs typeface="Times New Roman" pitchFamily="18" charset="0"/>
            </a:endParaRPr>
          </a:p>
          <a:p>
            <a:pPr>
              <a:buFont typeface="Wingdings" pitchFamily="2" charset="2"/>
              <a:buChar char="ü"/>
            </a:pPr>
            <a:r>
              <a:rPr lang="en-US" sz="3600" b="1" dirty="0">
                <a:solidFill>
                  <a:srgbClr val="00B0F0"/>
                </a:solidFill>
                <a:latin typeface="Times New Roman" pitchFamily="18" charset="0"/>
                <a:cs typeface="Times New Roman" pitchFamily="18" charset="0"/>
              </a:rPr>
              <a:t>Project </a:t>
            </a:r>
            <a:r>
              <a:rPr lang="en-US" sz="3600" b="1" dirty="0" smtClean="0">
                <a:solidFill>
                  <a:srgbClr val="00B0F0"/>
                </a:solidFill>
                <a:latin typeface="Times New Roman" pitchFamily="18" charset="0"/>
                <a:cs typeface="Times New Roman" pitchFamily="18" charset="0"/>
              </a:rPr>
              <a:t>Management</a:t>
            </a:r>
          </a:p>
          <a:p>
            <a:pPr>
              <a:buFont typeface="Wingdings" pitchFamily="2" charset="2"/>
              <a:buChar char="ü"/>
            </a:pPr>
            <a:endParaRPr lang="en-US" sz="1200" b="1" dirty="0" smtClean="0">
              <a:solidFill>
                <a:srgbClr val="00B0F0"/>
              </a:solidFill>
              <a:latin typeface="Times New Roman" pitchFamily="18" charset="0"/>
              <a:cs typeface="Times New Roman" pitchFamily="18" charset="0"/>
            </a:endParaRPr>
          </a:p>
          <a:p>
            <a:pPr>
              <a:buFont typeface="Wingdings" pitchFamily="2" charset="2"/>
              <a:buChar char="ü"/>
            </a:pPr>
            <a:r>
              <a:rPr lang="en-US" sz="3600" b="1" dirty="0">
                <a:solidFill>
                  <a:srgbClr val="00B0F0"/>
                </a:solidFill>
                <a:latin typeface="Times New Roman" pitchFamily="18" charset="0"/>
                <a:cs typeface="Times New Roman" pitchFamily="18" charset="0"/>
              </a:rPr>
              <a:t>Project Participants</a:t>
            </a:r>
            <a:endParaRPr lang="en-US" sz="3600" b="1" dirty="0" smtClean="0">
              <a:solidFill>
                <a:srgbClr val="00B0F0"/>
              </a:solidFill>
              <a:latin typeface="Times New Roman" pitchFamily="18" charset="0"/>
              <a:cs typeface="Times New Roman" pitchFamily="18" charset="0"/>
            </a:endParaRPr>
          </a:p>
          <a:p>
            <a:pPr marL="0" indent="0">
              <a:buNone/>
            </a:pPr>
            <a:endParaRPr lang="ar-YE" dirty="0"/>
          </a:p>
        </p:txBody>
      </p:sp>
      <p:sp>
        <p:nvSpPr>
          <p:cNvPr id="4" name="عنصر نائب لرقم الشريحة 3"/>
          <p:cNvSpPr>
            <a:spLocks noGrp="1"/>
          </p:cNvSpPr>
          <p:nvPr>
            <p:ph type="sldNum" sz="quarter" idx="12"/>
          </p:nvPr>
        </p:nvSpPr>
        <p:spPr/>
        <p:txBody>
          <a:bodyPr/>
          <a:lstStyle/>
          <a:p>
            <a:fld id="{64F3F0E1-6389-4DAA-B649-2ED1A0C4FA57}" type="slidenum">
              <a:rPr lang="en-US" smtClean="0"/>
              <a:pPr/>
              <a:t>11</a:t>
            </a:fld>
            <a:endParaRPr lang="en-US" dirty="0"/>
          </a:p>
        </p:txBody>
      </p:sp>
    </p:spTree>
    <p:extLst>
      <p:ext uri="{BB962C8B-B14F-4D97-AF65-F5344CB8AC3E}">
        <p14:creationId xmlns:p14="http://schemas.microsoft.com/office/powerpoint/2010/main" val="3008356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 calcmode="lin" valueType="num">
                                      <p:cBhvr additive="base">
                                        <p:cTn id="3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762000"/>
          </a:xfrm>
        </p:spPr>
        <p:txBody>
          <a:bodyPr>
            <a:normAutofit fontScale="90000"/>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sz="4000" b="1" dirty="0" smtClean="0"/>
              <a:t> </a:t>
            </a:r>
            <a:r>
              <a:rPr lang="en-US" sz="4900" b="1" dirty="0" smtClean="0">
                <a:solidFill>
                  <a:srgbClr val="FF0000"/>
                </a:solidFill>
                <a:latin typeface="Times New Roman" pitchFamily="18" charset="0"/>
                <a:cs typeface="Times New Roman" pitchFamily="18" charset="0"/>
              </a:rPr>
              <a:t>Engineering</a:t>
            </a:r>
            <a: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12</a:t>
            </a:fld>
            <a:endParaRPr lang="en-US" dirty="0"/>
          </a:p>
        </p:txBody>
      </p:sp>
      <p:sp>
        <p:nvSpPr>
          <p:cNvPr id="7" name="مستطيل 6"/>
          <p:cNvSpPr/>
          <p:nvPr/>
        </p:nvSpPr>
        <p:spPr>
          <a:xfrm>
            <a:off x="0" y="1464707"/>
            <a:ext cx="9144000" cy="4555093"/>
          </a:xfrm>
          <a:prstGeom prst="rect">
            <a:avLst/>
          </a:prstGeom>
        </p:spPr>
        <p:txBody>
          <a:bodyPr wrap="square">
            <a:spAutoFit/>
          </a:bodyPr>
          <a:lstStyle/>
          <a:p>
            <a:pPr algn="just"/>
            <a:r>
              <a:rPr lang="en-US" sz="4000" b="1" dirty="0" smtClean="0">
                <a:solidFill>
                  <a:srgbClr val="C00000"/>
                </a:solidFill>
                <a:latin typeface="Times New Roman" pitchFamily="18" charset="0"/>
                <a:cs typeface="Times New Roman" pitchFamily="18" charset="0"/>
              </a:rPr>
              <a:t>Engineering: </a:t>
            </a:r>
            <a:r>
              <a:rPr lang="en-US" sz="4000" b="1" dirty="0">
                <a:latin typeface="Times New Roman" pitchFamily="18" charset="0"/>
                <a:cs typeface="Times New Roman" pitchFamily="18" charset="0"/>
              </a:rPr>
              <a:t>is the profession in which a knowledge of the mathematical and </a:t>
            </a:r>
            <a:r>
              <a:rPr lang="en-US" sz="4000" b="1" dirty="0" smtClean="0">
                <a:latin typeface="Times New Roman" pitchFamily="18" charset="0"/>
                <a:cs typeface="Times New Roman" pitchFamily="18" charset="0"/>
              </a:rPr>
              <a:t>natural sciences</a:t>
            </a:r>
            <a:r>
              <a:rPr lang="en-US" sz="4000" b="1" dirty="0">
                <a:latin typeface="Times New Roman" pitchFamily="18" charset="0"/>
                <a:cs typeface="Times New Roman" pitchFamily="18" charset="0"/>
              </a:rPr>
              <a:t>, gained by study, experience, and practice, is applied with judgment, to </a:t>
            </a:r>
            <a:r>
              <a:rPr lang="en-US" sz="4000" b="1" dirty="0" smtClean="0">
                <a:latin typeface="Times New Roman" pitchFamily="18" charset="0"/>
                <a:cs typeface="Times New Roman" pitchFamily="18" charset="0"/>
              </a:rPr>
              <a:t>develop ways </a:t>
            </a:r>
            <a:r>
              <a:rPr lang="en-US" sz="4000" b="1" dirty="0">
                <a:latin typeface="Times New Roman" pitchFamily="18" charset="0"/>
                <a:cs typeface="Times New Roman" pitchFamily="18" charset="0"/>
              </a:rPr>
              <a:t>to utilize, economically, the materials and forces of nature for the benefit </a:t>
            </a:r>
            <a:r>
              <a:rPr lang="en-US" sz="4000" b="1" dirty="0" smtClean="0">
                <a:latin typeface="Times New Roman" pitchFamily="18" charset="0"/>
                <a:cs typeface="Times New Roman" pitchFamily="18" charset="0"/>
              </a:rPr>
              <a:t>of mankind.</a:t>
            </a:r>
          </a:p>
          <a:p>
            <a:pPr algn="just"/>
            <a:endParaRPr lang="en-US" sz="1000" b="1" dirty="0">
              <a:latin typeface="Times New Roman" pitchFamily="18" charset="0"/>
              <a:cs typeface="Times New Roman" pitchFamily="18" charset="0"/>
            </a:endParaRPr>
          </a:p>
        </p:txBody>
      </p:sp>
      <p:sp>
        <p:nvSpPr>
          <p:cNvPr id="5017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50179" name="Rectangle 3"/>
          <p:cNvSpPr>
            <a:spLocks noChangeArrowheads="1"/>
          </p:cNvSpPr>
          <p:nvPr/>
        </p:nvSpPr>
        <p:spPr bwMode="auto">
          <a:xfrm>
            <a:off x="457200" y="1238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5018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50182" name="Rectangle 6"/>
          <p:cNvSpPr>
            <a:spLocks noChangeArrowheads="1"/>
          </p:cNvSpPr>
          <p:nvPr/>
        </p:nvSpPr>
        <p:spPr bwMode="auto">
          <a:xfrm>
            <a:off x="457200" y="12001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50184"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50185" name="Rectangle 9"/>
          <p:cNvSpPr>
            <a:spLocks noChangeArrowheads="1"/>
          </p:cNvSpPr>
          <p:nvPr/>
        </p:nvSpPr>
        <p:spPr bwMode="auto">
          <a:xfrm>
            <a:off x="457200" y="12001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828579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sz="3200" b="1" dirty="0"/>
              <a:t> </a:t>
            </a:r>
            <a:r>
              <a:rPr lang="en-US" b="1" dirty="0">
                <a:solidFill>
                  <a:srgbClr val="FF0000"/>
                </a:solidFill>
                <a:latin typeface="Times New Roman" pitchFamily="18" charset="0"/>
                <a:cs typeface="Times New Roman" pitchFamily="18" charset="0"/>
              </a:rPr>
              <a:t>Engineering</a:t>
            </a:r>
            <a:endParaRPr lang="ar-YE" dirty="0"/>
          </a:p>
        </p:txBody>
      </p:sp>
      <p:sp>
        <p:nvSpPr>
          <p:cNvPr id="3" name="عنصر نائب للمحتوى 2"/>
          <p:cNvSpPr>
            <a:spLocks noGrp="1"/>
          </p:cNvSpPr>
          <p:nvPr>
            <p:ph idx="1"/>
          </p:nvPr>
        </p:nvSpPr>
        <p:spPr/>
        <p:txBody>
          <a:bodyPr/>
          <a:lstStyle/>
          <a:p>
            <a:pPr marL="0" indent="0" algn="just">
              <a:buNone/>
            </a:pPr>
            <a:r>
              <a:rPr lang="en-US" sz="4000" b="1" dirty="0">
                <a:solidFill>
                  <a:srgbClr val="990099"/>
                </a:solidFill>
                <a:latin typeface="Times New Roman" pitchFamily="18" charset="0"/>
                <a:cs typeface="Times New Roman" pitchFamily="18" charset="0"/>
              </a:rPr>
              <a:t>Types:</a:t>
            </a:r>
          </a:p>
          <a:p>
            <a:pPr marL="457200" indent="-457200" algn="just">
              <a:buFont typeface="Wingdings" pitchFamily="2" charset="2"/>
              <a:buChar char="ü"/>
            </a:pPr>
            <a:r>
              <a:rPr lang="en-US" sz="4000" b="1" dirty="0">
                <a:latin typeface="Times New Roman" pitchFamily="18" charset="0"/>
                <a:cs typeface="Times New Roman" pitchFamily="18" charset="0"/>
              </a:rPr>
              <a:t>Architectural Engineering</a:t>
            </a:r>
          </a:p>
          <a:p>
            <a:pPr marL="457200" indent="-457200" algn="just">
              <a:buFont typeface="Wingdings" pitchFamily="2" charset="2"/>
              <a:buChar char="ü"/>
            </a:pPr>
            <a:r>
              <a:rPr lang="en-US" sz="4000" b="1" dirty="0">
                <a:latin typeface="Times New Roman" pitchFamily="18" charset="0"/>
                <a:cs typeface="Times New Roman" pitchFamily="18" charset="0"/>
              </a:rPr>
              <a:t>Civil Engineering</a:t>
            </a:r>
          </a:p>
          <a:p>
            <a:pPr marL="457200" indent="-457200" algn="just">
              <a:buFont typeface="Wingdings" pitchFamily="2" charset="2"/>
              <a:buChar char="ü"/>
            </a:pPr>
            <a:r>
              <a:rPr lang="en-US" sz="4000" b="1" dirty="0">
                <a:latin typeface="Times New Roman" pitchFamily="18" charset="0"/>
                <a:cs typeface="Times New Roman" pitchFamily="18" charset="0"/>
              </a:rPr>
              <a:t>Computer Engineering</a:t>
            </a:r>
          </a:p>
          <a:p>
            <a:pPr marL="457200" indent="-457200" algn="just">
              <a:buFont typeface="Wingdings" pitchFamily="2" charset="2"/>
              <a:buChar char="ü"/>
            </a:pPr>
            <a:r>
              <a:rPr lang="en-US" sz="4000" b="1" dirty="0">
                <a:latin typeface="Times New Roman" pitchFamily="18" charset="0"/>
                <a:cs typeface="Times New Roman" pitchFamily="18" charset="0"/>
              </a:rPr>
              <a:t>Mineral and Mining Engineering</a:t>
            </a:r>
          </a:p>
          <a:p>
            <a:pPr marL="457200" indent="-457200" algn="just">
              <a:buFont typeface="Wingdings" pitchFamily="2" charset="2"/>
              <a:buChar char="ü"/>
            </a:pPr>
            <a:r>
              <a:rPr lang="en-US" sz="4000" b="1" dirty="0">
                <a:latin typeface="Times New Roman" pitchFamily="18" charset="0"/>
                <a:cs typeface="Times New Roman" pitchFamily="18" charset="0"/>
              </a:rPr>
              <a:t>Petroleum Engineering etc.</a:t>
            </a:r>
          </a:p>
          <a:p>
            <a:pPr marL="0" indent="0">
              <a:buNone/>
            </a:pPr>
            <a:endParaRPr lang="ar-YE" dirty="0"/>
          </a:p>
        </p:txBody>
      </p:sp>
      <p:sp>
        <p:nvSpPr>
          <p:cNvPr id="4" name="عنصر نائب لرقم الشريحة 3"/>
          <p:cNvSpPr>
            <a:spLocks noGrp="1"/>
          </p:cNvSpPr>
          <p:nvPr>
            <p:ph type="sldNum" sz="quarter" idx="12"/>
          </p:nvPr>
        </p:nvSpPr>
        <p:spPr/>
        <p:txBody>
          <a:bodyPr/>
          <a:lstStyle/>
          <a:p>
            <a:fld id="{64F3F0E1-6389-4DAA-B649-2ED1A0C4FA57}" type="slidenum">
              <a:rPr lang="en-US" smtClean="0"/>
              <a:pPr/>
              <a:t>13</a:t>
            </a:fld>
            <a:endParaRPr lang="en-US" dirty="0"/>
          </a:p>
        </p:txBody>
      </p:sp>
    </p:spTree>
    <p:extLst>
      <p:ext uri="{BB962C8B-B14F-4D97-AF65-F5344CB8AC3E}">
        <p14:creationId xmlns:p14="http://schemas.microsoft.com/office/powerpoint/2010/main" val="1036278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1000"/>
                                        <p:tgtEl>
                                          <p:spTgt spid="3">
                                            <p:txEl>
                                              <p:pRg st="5" end="5"/>
                                            </p:txEl>
                                          </p:spTgt>
                                        </p:tgtEl>
                                      </p:cBhvr>
                                    </p:animEffect>
                                    <p:anim calcmode="lin" valueType="num">
                                      <p:cBhvr>
                                        <p:cTn id="3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838200"/>
          </a:xfrm>
        </p:spPr>
        <p:txBody>
          <a:bodyPr>
            <a:normAutofit fontScale="90000"/>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b="1" dirty="0" smtClean="0"/>
              <a:t> </a:t>
            </a:r>
            <a:r>
              <a:rPr lang="en-US" sz="4900" b="1" dirty="0" smtClean="0">
                <a:solidFill>
                  <a:srgbClr val="FF0000"/>
                </a:solidFill>
                <a:latin typeface="Times New Roman" pitchFamily="18" charset="0"/>
                <a:cs typeface="Times New Roman" pitchFamily="18" charset="0"/>
              </a:rPr>
              <a:t>Management</a:t>
            </a:r>
            <a: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14</a:t>
            </a:fld>
            <a:endParaRPr lang="en-US" dirty="0"/>
          </a:p>
        </p:txBody>
      </p:sp>
      <p:sp>
        <p:nvSpPr>
          <p:cNvPr id="7" name="مستطيل 6"/>
          <p:cNvSpPr/>
          <p:nvPr/>
        </p:nvSpPr>
        <p:spPr>
          <a:xfrm>
            <a:off x="0" y="1470660"/>
            <a:ext cx="9144000" cy="3939540"/>
          </a:xfrm>
          <a:prstGeom prst="rect">
            <a:avLst/>
          </a:prstGeom>
        </p:spPr>
        <p:txBody>
          <a:bodyPr wrap="square">
            <a:spAutoFit/>
          </a:bodyPr>
          <a:lstStyle/>
          <a:p>
            <a:pPr algn="just"/>
            <a:r>
              <a:rPr lang="en-US" sz="4000" b="1" dirty="0" smtClean="0">
                <a:solidFill>
                  <a:srgbClr val="C00000"/>
                </a:solidFill>
                <a:latin typeface="Times New Roman" pitchFamily="18" charset="0"/>
                <a:cs typeface="Times New Roman" pitchFamily="18" charset="0"/>
              </a:rPr>
              <a:t>Management: </a:t>
            </a:r>
            <a:r>
              <a:rPr lang="en-US" sz="4000" b="1" dirty="0">
                <a:latin typeface="Times New Roman" pitchFamily="18" charset="0"/>
                <a:cs typeface="Times New Roman" pitchFamily="18" charset="0"/>
              </a:rPr>
              <a:t>characterizes the process of leading and directing all or part of </a:t>
            </a:r>
            <a:r>
              <a:rPr lang="en-US" sz="4000" b="1" dirty="0" smtClean="0">
                <a:latin typeface="Times New Roman" pitchFamily="18" charset="0"/>
                <a:cs typeface="Times New Roman" pitchFamily="18" charset="0"/>
              </a:rPr>
              <a:t>an organization</a:t>
            </a:r>
            <a:r>
              <a:rPr lang="en-US" sz="4000" b="1" dirty="0">
                <a:latin typeface="Times New Roman" pitchFamily="18" charset="0"/>
                <a:cs typeface="Times New Roman" pitchFamily="18" charset="0"/>
              </a:rPr>
              <a:t>, often </a:t>
            </a:r>
            <a:r>
              <a:rPr lang="en-US" sz="4000" b="1" dirty="0" smtClean="0">
                <a:latin typeface="Times New Roman" pitchFamily="18" charset="0"/>
                <a:cs typeface="Times New Roman" pitchFamily="18" charset="0"/>
              </a:rPr>
              <a:t>a business</a:t>
            </a:r>
            <a:r>
              <a:rPr lang="en-US" sz="4000" b="1" dirty="0">
                <a:latin typeface="Times New Roman" pitchFamily="18" charset="0"/>
                <a:cs typeface="Times New Roman" pitchFamily="18" charset="0"/>
              </a:rPr>
              <a:t>, through the deployment and manipulation of </a:t>
            </a:r>
            <a:r>
              <a:rPr lang="en-US" sz="4000" b="1" dirty="0" smtClean="0">
                <a:latin typeface="Times New Roman" pitchFamily="18" charset="0"/>
                <a:cs typeface="Times New Roman" pitchFamily="18" charset="0"/>
              </a:rPr>
              <a:t>resources (human</a:t>
            </a:r>
            <a:r>
              <a:rPr lang="en-US" sz="4000" b="1" dirty="0">
                <a:latin typeface="Times New Roman" pitchFamily="18" charset="0"/>
                <a:cs typeface="Times New Roman" pitchFamily="18" charset="0"/>
              </a:rPr>
              <a:t>, financial, material, intellectual or intangible</a:t>
            </a:r>
            <a:r>
              <a:rPr lang="en-US" sz="4000" b="1" dirty="0" smtClean="0">
                <a:latin typeface="Times New Roman" pitchFamily="18" charset="0"/>
                <a:cs typeface="Times New Roman" pitchFamily="18" charset="0"/>
              </a:rPr>
              <a:t>).</a:t>
            </a:r>
          </a:p>
          <a:p>
            <a:pPr algn="just"/>
            <a:endParaRPr lang="en-US" sz="1000" b="1"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1822585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b="1" dirty="0"/>
              <a:t> </a:t>
            </a:r>
            <a:r>
              <a:rPr lang="en-US" b="1" dirty="0">
                <a:solidFill>
                  <a:srgbClr val="FF0000"/>
                </a:solidFill>
                <a:latin typeface="Times New Roman" pitchFamily="18" charset="0"/>
                <a:cs typeface="Times New Roman" pitchFamily="18" charset="0"/>
              </a:rPr>
              <a:t>Management</a:t>
            </a:r>
            <a:endParaRPr lang="ar-YE" dirty="0"/>
          </a:p>
        </p:txBody>
      </p:sp>
      <p:sp>
        <p:nvSpPr>
          <p:cNvPr id="3" name="عنصر نائب للمحتوى 2"/>
          <p:cNvSpPr>
            <a:spLocks noGrp="1"/>
          </p:cNvSpPr>
          <p:nvPr>
            <p:ph idx="1"/>
          </p:nvPr>
        </p:nvSpPr>
        <p:spPr/>
        <p:txBody>
          <a:bodyPr/>
          <a:lstStyle/>
          <a:p>
            <a:pPr marL="0" indent="0" algn="just">
              <a:buNone/>
            </a:pPr>
            <a:r>
              <a:rPr lang="en-US" sz="4000" b="1" dirty="0">
                <a:solidFill>
                  <a:srgbClr val="990099"/>
                </a:solidFill>
                <a:latin typeface="Times New Roman" pitchFamily="18" charset="0"/>
                <a:cs typeface="Times New Roman" pitchFamily="18" charset="0"/>
              </a:rPr>
              <a:t>Areas of Management:</a:t>
            </a:r>
          </a:p>
          <a:p>
            <a:pPr algn="just"/>
            <a:endParaRPr lang="en-US" sz="800" b="1" dirty="0">
              <a:solidFill>
                <a:srgbClr val="990099"/>
              </a:solidFill>
              <a:latin typeface="Times New Roman" pitchFamily="18" charset="0"/>
              <a:cs typeface="Times New Roman" pitchFamily="18" charset="0"/>
            </a:endParaRPr>
          </a:p>
          <a:p>
            <a:pPr marL="457200" indent="-457200" algn="just">
              <a:buFont typeface="Wingdings" pitchFamily="2" charset="2"/>
              <a:buChar char="ü"/>
            </a:pPr>
            <a:r>
              <a:rPr lang="en-US" sz="4000" b="1" dirty="0">
                <a:latin typeface="Times New Roman" pitchFamily="18" charset="0"/>
                <a:cs typeface="Times New Roman" pitchFamily="18" charset="0"/>
              </a:rPr>
              <a:t>Cost management</a:t>
            </a:r>
          </a:p>
          <a:p>
            <a:pPr marL="457200" indent="-457200" algn="just">
              <a:buFont typeface="Wingdings" pitchFamily="2" charset="2"/>
              <a:buChar char="ü"/>
            </a:pPr>
            <a:r>
              <a:rPr lang="en-US" sz="4000" b="1" dirty="0">
                <a:latin typeface="Times New Roman" pitchFamily="18" charset="0"/>
                <a:cs typeface="Times New Roman" pitchFamily="18" charset="0"/>
              </a:rPr>
              <a:t>Engineering management</a:t>
            </a:r>
          </a:p>
          <a:p>
            <a:pPr marL="457200" indent="-457200" algn="just">
              <a:buFont typeface="Wingdings" pitchFamily="2" charset="2"/>
              <a:buChar char="ü"/>
            </a:pPr>
            <a:r>
              <a:rPr lang="en-US" sz="4000" b="1" dirty="0">
                <a:latin typeface="Times New Roman" pitchFamily="18" charset="0"/>
                <a:cs typeface="Times New Roman" pitchFamily="18" charset="0"/>
              </a:rPr>
              <a:t>Facility management</a:t>
            </a:r>
          </a:p>
          <a:p>
            <a:pPr marL="457200" indent="-457200" algn="just">
              <a:buFont typeface="Wingdings" pitchFamily="2" charset="2"/>
              <a:buChar char="ü"/>
            </a:pPr>
            <a:r>
              <a:rPr lang="en-US" sz="4000" b="1" dirty="0">
                <a:latin typeface="Times New Roman" pitchFamily="18" charset="0"/>
                <a:cs typeface="Times New Roman" pitchFamily="18" charset="0"/>
              </a:rPr>
              <a:t>Project management etc.</a:t>
            </a:r>
            <a:endParaRPr lang="en-US" sz="4000" b="1" dirty="0">
              <a:solidFill>
                <a:srgbClr val="990099"/>
              </a:solidFill>
              <a:latin typeface="Times New Roman" pitchFamily="18" charset="0"/>
              <a:cs typeface="Times New Roman" pitchFamily="18" charset="0"/>
            </a:endParaRPr>
          </a:p>
          <a:p>
            <a:pPr marL="0" indent="0">
              <a:buNone/>
            </a:pPr>
            <a:endParaRPr lang="ar-YE" dirty="0"/>
          </a:p>
        </p:txBody>
      </p:sp>
      <p:sp>
        <p:nvSpPr>
          <p:cNvPr id="4" name="عنصر نائب لرقم الشريحة 3"/>
          <p:cNvSpPr>
            <a:spLocks noGrp="1"/>
          </p:cNvSpPr>
          <p:nvPr>
            <p:ph type="sldNum" sz="quarter" idx="12"/>
          </p:nvPr>
        </p:nvSpPr>
        <p:spPr/>
        <p:txBody>
          <a:bodyPr/>
          <a:lstStyle/>
          <a:p>
            <a:fld id="{64F3F0E1-6389-4DAA-B649-2ED1A0C4FA57}" type="slidenum">
              <a:rPr lang="en-US" smtClean="0"/>
              <a:pPr/>
              <a:t>15</a:t>
            </a:fld>
            <a:endParaRPr lang="en-US" dirty="0"/>
          </a:p>
        </p:txBody>
      </p:sp>
    </p:spTree>
    <p:extLst>
      <p:ext uri="{BB962C8B-B14F-4D97-AF65-F5344CB8AC3E}">
        <p14:creationId xmlns:p14="http://schemas.microsoft.com/office/powerpoint/2010/main" val="2814514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1000"/>
                                        <p:tgtEl>
                                          <p:spTgt spid="3">
                                            <p:txEl>
                                              <p:pRg st="3" end="3"/>
                                            </p:txEl>
                                          </p:spTgt>
                                        </p:tgtEl>
                                      </p:cBhvr>
                                    </p:animEffect>
                                    <p:anim calcmode="lin" valueType="num">
                                      <p:cBhvr>
                                        <p:cTn id="1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1000"/>
                                        <p:tgtEl>
                                          <p:spTgt spid="3">
                                            <p:txEl>
                                              <p:pRg st="4" end="4"/>
                                            </p:txEl>
                                          </p:spTgt>
                                        </p:tgtEl>
                                      </p:cBhvr>
                                    </p:animEffect>
                                    <p:anim calcmode="lin" valueType="num">
                                      <p:cBhvr>
                                        <p:cTn id="2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0" y="274638"/>
            <a:ext cx="9144000" cy="792162"/>
          </a:xfrm>
        </p:spPr>
        <p:txBody>
          <a:bodyPr/>
          <a:lstStyle/>
          <a:p>
            <a:r>
              <a:rPr lang="en-US" sz="4000" b="1" dirty="0">
                <a:solidFill>
                  <a:prstClr val="black"/>
                </a:solidFill>
              </a:rPr>
              <a:t> </a:t>
            </a:r>
            <a:r>
              <a:rPr lang="en-US" b="1" dirty="0">
                <a:solidFill>
                  <a:srgbClr val="FF0000"/>
                </a:solidFill>
                <a:latin typeface="Times New Roman" pitchFamily="18" charset="0"/>
                <a:cs typeface="Times New Roman" pitchFamily="18" charset="0"/>
              </a:rPr>
              <a:t>Engineering </a:t>
            </a:r>
            <a:r>
              <a:rPr lang="en-US" b="1" dirty="0" smtClean="0">
                <a:solidFill>
                  <a:srgbClr val="FF0000"/>
                </a:solidFill>
                <a:latin typeface="Times New Roman" pitchFamily="18" charset="0"/>
                <a:cs typeface="Times New Roman" pitchFamily="18" charset="0"/>
              </a:rPr>
              <a:t>Management</a:t>
            </a:r>
            <a:endParaRPr lang="ar-YE" dirty="0">
              <a:solidFill>
                <a:srgbClr val="FF0000"/>
              </a:solidFill>
              <a:latin typeface="Times New Roman" pitchFamily="18" charset="0"/>
              <a:cs typeface="Times New Roman" pitchFamily="18" charset="0"/>
            </a:endParaRPr>
          </a:p>
        </p:txBody>
      </p:sp>
      <p:sp>
        <p:nvSpPr>
          <p:cNvPr id="3" name="عنصر نائب للمحتوى 2"/>
          <p:cNvSpPr>
            <a:spLocks noGrp="1"/>
          </p:cNvSpPr>
          <p:nvPr>
            <p:ph idx="1"/>
          </p:nvPr>
        </p:nvSpPr>
        <p:spPr>
          <a:xfrm>
            <a:off x="0" y="1295400"/>
            <a:ext cx="9144000" cy="5426075"/>
          </a:xfrm>
        </p:spPr>
        <p:txBody>
          <a:bodyPr>
            <a:normAutofit fontScale="92500"/>
          </a:bodyPr>
          <a:lstStyle/>
          <a:p>
            <a:pPr marL="0" indent="0" algn="just">
              <a:buNone/>
            </a:pPr>
            <a:r>
              <a:rPr lang="en-US" b="1" dirty="0">
                <a:latin typeface="Times New Roman" pitchFamily="18" charset="0"/>
                <a:cs typeface="Times New Roman" pitchFamily="18" charset="0"/>
              </a:rPr>
              <a:t>It is a specialized form of </a:t>
            </a:r>
            <a:r>
              <a:rPr lang="en-US" b="1" u="sng" dirty="0">
                <a:solidFill>
                  <a:srgbClr val="0000CC"/>
                </a:solidFill>
                <a:latin typeface="Times New Roman" pitchFamily="18" charset="0"/>
                <a:cs typeface="Times New Roman" pitchFamily="18" charset="0"/>
              </a:rPr>
              <a:t>management</a:t>
            </a:r>
            <a:r>
              <a:rPr lang="en-US" b="1" dirty="0">
                <a:latin typeface="Times New Roman" pitchFamily="18" charset="0"/>
                <a:cs typeface="Times New Roman" pitchFamily="18" charset="0"/>
              </a:rPr>
              <a:t> and </a:t>
            </a:r>
            <a:r>
              <a:rPr lang="en-US" b="1" u="sng" dirty="0">
                <a:solidFill>
                  <a:srgbClr val="0000CC"/>
                </a:solidFill>
                <a:latin typeface="Times New Roman" pitchFamily="18" charset="0"/>
                <a:cs typeface="Times New Roman" pitchFamily="18" charset="0"/>
              </a:rPr>
              <a:t>engineering</a:t>
            </a:r>
            <a:r>
              <a:rPr lang="en-US" b="1" dirty="0">
                <a:latin typeface="Times New Roman" pitchFamily="18" charset="0"/>
                <a:cs typeface="Times New Roman" pitchFamily="18" charset="0"/>
              </a:rPr>
              <a:t> that is concerned with the application of engineering principles to business practice in order to carry the following</a:t>
            </a:r>
            <a:r>
              <a:rPr lang="en-US" b="1" dirty="0" smtClean="0">
                <a:latin typeface="Times New Roman" pitchFamily="18" charset="0"/>
                <a:cs typeface="Times New Roman" pitchFamily="18" charset="0"/>
              </a:rPr>
              <a:t>:</a:t>
            </a:r>
          </a:p>
          <a:p>
            <a:pPr marL="538163" indent="-274638" algn="just">
              <a:lnSpc>
                <a:spcPct val="114000"/>
              </a:lnSpc>
              <a:spcBef>
                <a:spcPct val="25000"/>
              </a:spcBef>
              <a:buFont typeface="Wingdings" pitchFamily="2" charset="2"/>
              <a:buChar char="Ø"/>
              <a:defRPr/>
            </a:pPr>
            <a:r>
              <a:rPr lang="en-US" b="1" dirty="0">
                <a:solidFill>
                  <a:srgbClr val="002060"/>
                </a:solidFill>
                <a:latin typeface="Times New Roman" pitchFamily="18" charset="0"/>
                <a:cs typeface="Times New Roman" pitchFamily="18" charset="0"/>
              </a:rPr>
              <a:t>Planning, Organizing, Directing/Leading, Communicating, Motivating and Controlling the efforts of the organizational members and resources in order to achieve organizational goals.</a:t>
            </a:r>
          </a:p>
          <a:p>
            <a:pPr marL="538163" indent="-274638" algn="just">
              <a:lnSpc>
                <a:spcPct val="114000"/>
              </a:lnSpc>
              <a:spcBef>
                <a:spcPct val="25000"/>
              </a:spcBef>
              <a:buFont typeface="Wingdings" pitchFamily="2" charset="2"/>
              <a:buChar char="Ø"/>
              <a:defRPr/>
            </a:pPr>
            <a:r>
              <a:rPr lang="en-US" b="1" dirty="0">
                <a:solidFill>
                  <a:srgbClr val="002060"/>
                </a:solidFill>
                <a:latin typeface="Times New Roman" pitchFamily="18" charset="0"/>
                <a:cs typeface="Times New Roman" pitchFamily="18" charset="0"/>
              </a:rPr>
              <a:t>U</a:t>
            </a:r>
            <a:r>
              <a:rPr lang="en-US" b="1" dirty="0" smtClean="0">
                <a:solidFill>
                  <a:srgbClr val="002060"/>
                </a:solidFill>
                <a:latin typeface="Times New Roman" pitchFamily="18" charset="0"/>
                <a:cs typeface="Times New Roman" pitchFamily="18" charset="0"/>
              </a:rPr>
              <a:t>tilization </a:t>
            </a:r>
            <a:r>
              <a:rPr lang="en-US" b="1" dirty="0">
                <a:solidFill>
                  <a:srgbClr val="002060"/>
                </a:solidFill>
                <a:latin typeface="Times New Roman" pitchFamily="18" charset="0"/>
                <a:cs typeface="Times New Roman" pitchFamily="18" charset="0"/>
              </a:rPr>
              <a:t>and direction of resources to achieve objectives</a:t>
            </a:r>
            <a:r>
              <a:rPr lang="en-US" b="1" dirty="0" smtClean="0">
                <a:solidFill>
                  <a:srgbClr val="002060"/>
                </a:solidFill>
                <a:latin typeface="Times New Roman" pitchFamily="18" charset="0"/>
                <a:cs typeface="Times New Roman" pitchFamily="18" charset="0"/>
              </a:rPr>
              <a:t>.</a:t>
            </a:r>
            <a:endParaRPr lang="en-US" b="1" dirty="0">
              <a:solidFill>
                <a:srgbClr val="002060"/>
              </a:solidFill>
              <a:latin typeface="Times New Roman" pitchFamily="18" charset="0"/>
              <a:cs typeface="Times New Roman" pitchFamily="18" charset="0"/>
            </a:endParaRPr>
          </a:p>
          <a:p>
            <a:pPr marL="0" indent="0">
              <a:buNone/>
            </a:pPr>
            <a:endParaRPr lang="ar-YE" dirty="0"/>
          </a:p>
        </p:txBody>
      </p:sp>
      <p:sp>
        <p:nvSpPr>
          <p:cNvPr id="4" name="عنصر نائب لرقم الشريحة 3"/>
          <p:cNvSpPr>
            <a:spLocks noGrp="1"/>
          </p:cNvSpPr>
          <p:nvPr>
            <p:ph type="sldNum" sz="quarter" idx="12"/>
          </p:nvPr>
        </p:nvSpPr>
        <p:spPr/>
        <p:txBody>
          <a:bodyPr/>
          <a:lstStyle/>
          <a:p>
            <a:fld id="{64F3F0E1-6389-4DAA-B649-2ED1A0C4FA57}" type="slidenum">
              <a:rPr lang="en-US" smtClean="0"/>
              <a:pPr/>
              <a:t>16</a:t>
            </a:fld>
            <a:endParaRPr lang="en-US" dirty="0"/>
          </a:p>
        </p:txBody>
      </p:sp>
    </p:spTree>
    <p:extLst>
      <p:ext uri="{BB962C8B-B14F-4D97-AF65-F5344CB8AC3E}">
        <p14:creationId xmlns:p14="http://schemas.microsoft.com/office/powerpoint/2010/main" val="1294886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762000"/>
          </a:xfrm>
        </p:spPr>
        <p:txBody>
          <a:bodyPr>
            <a:normAutofit fontScale="90000"/>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sz="4000" b="1" dirty="0" smtClean="0"/>
              <a:t> </a:t>
            </a:r>
            <a:r>
              <a:rPr lang="en-US" sz="4800" b="1" dirty="0">
                <a:solidFill>
                  <a:srgbClr val="FF0000"/>
                </a:solidFill>
                <a:latin typeface="Times New Roman" pitchFamily="18" charset="0"/>
                <a:cs typeface="Times New Roman" pitchFamily="18" charset="0"/>
              </a:rPr>
              <a:t>Engineering Management</a:t>
            </a:r>
            <a: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17</a:t>
            </a:fld>
            <a:endParaRPr lang="en-US" dirty="0"/>
          </a:p>
        </p:txBody>
      </p:sp>
      <p:sp>
        <p:nvSpPr>
          <p:cNvPr id="7" name="مستطيل 6"/>
          <p:cNvSpPr/>
          <p:nvPr/>
        </p:nvSpPr>
        <p:spPr>
          <a:xfrm>
            <a:off x="0" y="914400"/>
            <a:ext cx="9144000" cy="5663217"/>
          </a:xfrm>
          <a:prstGeom prst="rect">
            <a:avLst/>
          </a:prstGeom>
        </p:spPr>
        <p:txBody>
          <a:bodyPr wrap="square">
            <a:spAutoFit/>
          </a:bodyPr>
          <a:lstStyle/>
          <a:p>
            <a:pPr marL="457200" indent="-457200" algn="just">
              <a:lnSpc>
                <a:spcPct val="114000"/>
              </a:lnSpc>
              <a:spcBef>
                <a:spcPts val="0"/>
              </a:spcBef>
              <a:buFont typeface="Wingdings" pitchFamily="2" charset="2"/>
              <a:buChar char="Ø"/>
            </a:pPr>
            <a:r>
              <a:rPr lang="en-US" sz="3600" b="1" i="1" u="sng" dirty="0">
                <a:latin typeface="Times New Roman" pitchFamily="18" charset="0"/>
                <a:cs typeface="Times New Roman" pitchFamily="18" charset="0"/>
              </a:rPr>
              <a:t>Example areas of engineering are:</a:t>
            </a:r>
            <a:r>
              <a:rPr lang="en-US" sz="3600" b="1" dirty="0">
                <a:latin typeface="Times New Roman" pitchFamily="18" charset="0"/>
                <a:cs typeface="Times New Roman" pitchFamily="18" charset="0"/>
              </a:rPr>
              <a:t> </a:t>
            </a:r>
            <a:endParaRPr lang="en-US" sz="3600" b="1" dirty="0" smtClean="0">
              <a:latin typeface="Times New Roman" pitchFamily="18" charset="0"/>
              <a:cs typeface="Times New Roman" pitchFamily="18" charset="0"/>
            </a:endParaRPr>
          </a:p>
          <a:p>
            <a:pPr marL="457200" indent="-457200" algn="just">
              <a:lnSpc>
                <a:spcPct val="114000"/>
              </a:lnSpc>
              <a:spcBef>
                <a:spcPts val="0"/>
              </a:spcBef>
              <a:buFont typeface="Wingdings" pitchFamily="2" charset="2"/>
              <a:buChar char="Ø"/>
            </a:pPr>
            <a:endParaRPr lang="en-US" sz="2000" b="1" dirty="0">
              <a:latin typeface="Times New Roman" pitchFamily="18" charset="0"/>
              <a:cs typeface="Times New Roman" pitchFamily="18" charset="0"/>
            </a:endParaRPr>
          </a:p>
          <a:p>
            <a:pPr marL="263525" indent="-263525" algn="just">
              <a:lnSpc>
                <a:spcPct val="114000"/>
              </a:lnSpc>
              <a:spcBef>
                <a:spcPts val="0"/>
              </a:spcBef>
            </a:pPr>
            <a:r>
              <a:rPr lang="en-US" sz="3600" dirty="0">
                <a:latin typeface="Times New Roman" pitchFamily="18" charset="0"/>
                <a:cs typeface="Times New Roman" pitchFamily="18" charset="0"/>
              </a:rPr>
              <a:t>	</a:t>
            </a:r>
            <a:r>
              <a:rPr lang="en-US" sz="3600" b="1" i="1" dirty="0">
                <a:solidFill>
                  <a:srgbClr val="0000CC"/>
                </a:solidFill>
                <a:latin typeface="Times New Roman" pitchFamily="18" charset="0"/>
                <a:cs typeface="Times New Roman" pitchFamily="18" charset="0"/>
              </a:rPr>
              <a:t>Product Development, Manufacturing, </a:t>
            </a:r>
            <a:r>
              <a:rPr lang="en-US" sz="3600" b="1" i="1" dirty="0" smtClean="0">
                <a:solidFill>
                  <a:srgbClr val="0000CC"/>
                </a:solidFill>
                <a:latin typeface="Times New Roman" pitchFamily="18" charset="0"/>
                <a:cs typeface="Times New Roman" pitchFamily="18" charset="0"/>
              </a:rPr>
              <a:t>Design </a:t>
            </a:r>
            <a:r>
              <a:rPr lang="en-US" sz="3600" b="1" i="1" dirty="0">
                <a:solidFill>
                  <a:srgbClr val="0000CC"/>
                </a:solidFill>
                <a:latin typeface="Times New Roman" pitchFamily="18" charset="0"/>
                <a:cs typeface="Times New Roman" pitchFamily="18" charset="0"/>
              </a:rPr>
              <a:t>Engineering, Industrial Engineering, technology, production, </a:t>
            </a:r>
            <a:r>
              <a:rPr lang="en-US" sz="3600" b="1" dirty="0">
                <a:latin typeface="Times New Roman" pitchFamily="18" charset="0"/>
                <a:cs typeface="Times New Roman" pitchFamily="18" charset="0"/>
              </a:rPr>
              <a:t>or any other field that employs personnel who perform an engineering function</a:t>
            </a:r>
            <a:r>
              <a:rPr lang="en-US" sz="3600" b="1" dirty="0" smtClean="0">
                <a:latin typeface="Times New Roman" pitchFamily="18" charset="0"/>
                <a:cs typeface="Times New Roman" pitchFamily="18" charset="0"/>
              </a:rPr>
              <a:t>.</a:t>
            </a:r>
          </a:p>
          <a:p>
            <a:pPr marL="263525" indent="-263525" algn="just">
              <a:lnSpc>
                <a:spcPct val="114000"/>
              </a:lnSpc>
              <a:spcBef>
                <a:spcPts val="0"/>
              </a:spcBef>
            </a:pPr>
            <a:endParaRPr lang="en-US" sz="3200" b="1" dirty="0">
              <a:latin typeface="Times New Roman" pitchFamily="18" charset="0"/>
              <a:cs typeface="Times New Roman" pitchFamily="18" charset="0"/>
            </a:endParaRPr>
          </a:p>
          <a:p>
            <a:pPr marL="263525" indent="-263525" algn="just">
              <a:lnSpc>
                <a:spcPct val="114000"/>
              </a:lnSpc>
              <a:spcBef>
                <a:spcPts val="0"/>
              </a:spcBef>
            </a:pPr>
            <a:endParaRPr lang="en-US" sz="3200" b="1" dirty="0">
              <a:latin typeface="Times New Roman" pitchFamily="18" charset="0"/>
              <a:cs typeface="Times New Roman" pitchFamily="18" charset="0"/>
            </a:endParaRPr>
          </a:p>
          <a:p>
            <a:endParaRPr lang="en-US" sz="2000" dirty="0" smtClean="0"/>
          </a:p>
        </p:txBody>
      </p:sp>
    </p:spTree>
    <p:extLst>
      <p:ext uri="{BB962C8B-B14F-4D97-AF65-F5344CB8AC3E}">
        <p14:creationId xmlns:p14="http://schemas.microsoft.com/office/powerpoint/2010/main" val="216354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 calcmode="lin" valueType="num">
                                      <p:cBhvr additive="base">
                                        <p:cTn id="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68362"/>
          </a:xfrm>
        </p:spPr>
        <p:txBody>
          <a:bodyPr>
            <a:normAutofit fontScale="90000"/>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sz="4000" b="1" dirty="0" smtClean="0"/>
              <a:t> </a:t>
            </a:r>
            <a:r>
              <a:rPr lang="en-US" sz="4800" b="1" dirty="0">
                <a:solidFill>
                  <a:srgbClr val="FF0000"/>
                </a:solidFill>
                <a:latin typeface="Times New Roman" pitchFamily="18" charset="0"/>
                <a:cs typeface="Times New Roman" pitchFamily="18" charset="0"/>
              </a:rPr>
              <a:t>Engineering Management</a:t>
            </a:r>
            <a: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18</a:t>
            </a:fld>
            <a:endParaRPr lang="en-US" dirty="0"/>
          </a:p>
        </p:txBody>
      </p:sp>
      <p:sp>
        <p:nvSpPr>
          <p:cNvPr id="7" name="TextBox 6"/>
          <p:cNvSpPr txBox="1"/>
          <p:nvPr/>
        </p:nvSpPr>
        <p:spPr>
          <a:xfrm>
            <a:off x="0" y="990600"/>
            <a:ext cx="9144000" cy="7205883"/>
          </a:xfrm>
          <a:prstGeom prst="rect">
            <a:avLst/>
          </a:prstGeom>
          <a:noFill/>
        </p:spPr>
        <p:txBody>
          <a:bodyPr wrap="square" rtlCol="1">
            <a:spAutoFit/>
          </a:bodyPr>
          <a:lstStyle/>
          <a:p>
            <a:pPr marL="571500" lvl="0" indent="-571500" algn="just">
              <a:lnSpc>
                <a:spcPct val="114000"/>
              </a:lnSpc>
              <a:buFont typeface="Wingdings" pitchFamily="2" charset="2"/>
              <a:buChar char="Ø"/>
              <a:defRPr/>
            </a:pPr>
            <a:r>
              <a:rPr lang="en-US" sz="3600" b="1" u="sng" dirty="0">
                <a:solidFill>
                  <a:srgbClr val="C00000"/>
                </a:solidFill>
                <a:latin typeface="Times New Roman" pitchFamily="18" charset="0"/>
                <a:cs typeface="Times New Roman" pitchFamily="18" charset="0"/>
              </a:rPr>
              <a:t>Engineering managers</a:t>
            </a:r>
            <a:r>
              <a:rPr lang="en-US" sz="3600" b="1" dirty="0">
                <a:solidFill>
                  <a:srgbClr val="C00000"/>
                </a:solidFill>
                <a:latin typeface="Times New Roman" pitchFamily="18" charset="0"/>
                <a:cs typeface="Times New Roman" pitchFamily="18" charset="0"/>
              </a:rPr>
              <a:t> </a:t>
            </a:r>
            <a:r>
              <a:rPr lang="en-US" sz="3600" b="1" dirty="0" smtClean="0">
                <a:solidFill>
                  <a:srgbClr val="C00000"/>
                </a:solidFill>
                <a:latin typeface="Times New Roman" pitchFamily="18" charset="0"/>
                <a:cs typeface="Times New Roman" pitchFamily="18" charset="0"/>
              </a:rPr>
              <a:t>:</a:t>
            </a:r>
          </a:p>
          <a:p>
            <a:pPr marL="571500" lvl="0" indent="-571500" algn="just">
              <a:lnSpc>
                <a:spcPct val="114000"/>
              </a:lnSpc>
              <a:buFont typeface="Wingdings" pitchFamily="2" charset="2"/>
              <a:buChar char="Ø"/>
              <a:defRPr/>
            </a:pPr>
            <a:endParaRPr lang="en-US" sz="1000" b="1" dirty="0">
              <a:latin typeface="Times New Roman" pitchFamily="18" charset="0"/>
              <a:cs typeface="Times New Roman" pitchFamily="18" charset="0"/>
            </a:endParaRPr>
          </a:p>
          <a:p>
            <a:pPr marL="263525" lvl="0" indent="-263525" algn="just">
              <a:lnSpc>
                <a:spcPct val="114000"/>
              </a:lnSpc>
              <a:defRPr/>
            </a:pPr>
            <a:r>
              <a:rPr lang="en-US" sz="3600" b="1" dirty="0">
                <a:latin typeface="Times New Roman" pitchFamily="18" charset="0"/>
                <a:cs typeface="Times New Roman" pitchFamily="18" charset="0"/>
              </a:rPr>
              <a:t>	They manage engineers who are driven by non- entrepreneurial thinking, thus require the necessary people skills to coach, mentor and motivate technical </a:t>
            </a:r>
            <a:r>
              <a:rPr lang="en-US" sz="3600" b="1" dirty="0" smtClean="0">
                <a:latin typeface="Times New Roman" pitchFamily="18" charset="0"/>
                <a:cs typeface="Times New Roman" pitchFamily="18" charset="0"/>
              </a:rPr>
              <a:t>professionals.</a:t>
            </a:r>
          </a:p>
          <a:p>
            <a:pPr marL="263525" lvl="0" indent="-263525" algn="just">
              <a:lnSpc>
                <a:spcPct val="114000"/>
              </a:lnSpc>
              <a:defRPr/>
            </a:pPr>
            <a:endParaRPr lang="en-US" b="1" dirty="0">
              <a:latin typeface="Times New Roman" pitchFamily="18" charset="0"/>
              <a:cs typeface="Times New Roman" pitchFamily="18" charset="0"/>
            </a:endParaRPr>
          </a:p>
          <a:p>
            <a:pPr marL="571500" indent="-571500" algn="just">
              <a:lnSpc>
                <a:spcPct val="114000"/>
              </a:lnSpc>
              <a:buFont typeface="Wingdings" pitchFamily="2" charset="2"/>
              <a:buChar char="Ø"/>
              <a:defRPr/>
            </a:pPr>
            <a:r>
              <a:rPr lang="en-US" sz="3600" b="1" dirty="0">
                <a:latin typeface="Times New Roman" pitchFamily="18" charset="0"/>
                <a:cs typeface="Times New Roman" pitchFamily="18" charset="0"/>
              </a:rPr>
              <a:t>One of most important area is </a:t>
            </a:r>
            <a:r>
              <a:rPr lang="en-US" sz="3600" b="1" i="1" u="sng" dirty="0">
                <a:solidFill>
                  <a:srgbClr val="0000CC"/>
                </a:solidFill>
                <a:latin typeface="Times New Roman" pitchFamily="18" charset="0"/>
                <a:cs typeface="Times New Roman" pitchFamily="18" charset="0"/>
              </a:rPr>
              <a:t>Project management</a:t>
            </a:r>
          </a:p>
          <a:p>
            <a:pPr marL="263525" lvl="0" indent="-263525" algn="just">
              <a:lnSpc>
                <a:spcPct val="114000"/>
              </a:lnSpc>
              <a:defRPr/>
            </a:pPr>
            <a:endParaRPr lang="en-US" sz="3600" b="1" dirty="0">
              <a:latin typeface="Times New Roman" pitchFamily="18" charset="0"/>
              <a:cs typeface="Times New Roman" pitchFamily="18" charset="0"/>
            </a:endParaRPr>
          </a:p>
          <a:p>
            <a:pPr lvl="0"/>
            <a:endParaRPr lang="en-US" sz="2800" b="1" dirty="0" smtClean="0">
              <a:cs typeface="+mj-cs"/>
            </a:endParaRPr>
          </a:p>
          <a:p>
            <a:pPr lvl="0"/>
            <a:endParaRPr lang="en-US" sz="2800" b="1" dirty="0" smtClean="0">
              <a:cs typeface="+mj-cs"/>
            </a:endParaRPr>
          </a:p>
          <a:p>
            <a:pPr lvl="0"/>
            <a:endParaRPr lang="en-US" sz="2800" b="1" dirty="0" smtClean="0">
              <a:cs typeface="+mj-cs"/>
            </a:endParaRPr>
          </a:p>
          <a:p>
            <a:endParaRPr lang="ar-EG" dirty="0"/>
          </a:p>
        </p:txBody>
      </p:sp>
      <p:sp>
        <p:nvSpPr>
          <p:cNvPr id="5939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59395" name="Rectangle 3"/>
          <p:cNvSpPr>
            <a:spLocks noChangeArrowheads="1"/>
          </p:cNvSpPr>
          <p:nvPr/>
        </p:nvSpPr>
        <p:spPr bwMode="auto">
          <a:xfrm>
            <a:off x="228600" y="8953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5939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59398" name="Rectangle 6"/>
          <p:cNvSpPr>
            <a:spLocks noChangeArrowheads="1"/>
          </p:cNvSpPr>
          <p:nvPr/>
        </p:nvSpPr>
        <p:spPr bwMode="auto">
          <a:xfrm>
            <a:off x="228600" y="9334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809515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 calcmode="lin" valueType="num">
                                      <p:cBhvr additive="base">
                                        <p:cTn id="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animEffect transition="in" filter="fade">
                                      <p:cBhvr>
                                        <p:cTn id="13" dur="1000"/>
                                        <p:tgtEl>
                                          <p:spTgt spid="7">
                                            <p:txEl>
                                              <p:pRg st="4" end="4"/>
                                            </p:txEl>
                                          </p:spTgt>
                                        </p:tgtEl>
                                      </p:cBhvr>
                                    </p:animEffect>
                                    <p:anim calcmode="lin" valueType="num">
                                      <p:cBhvr>
                                        <p:cTn id="14"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5"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399"/>
            <a:ext cx="9144000" cy="723901"/>
          </a:xfrm>
        </p:spPr>
        <p:txBody>
          <a:bodyPr>
            <a:normAutofit fontScale="90000"/>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sz="4000" b="1" dirty="0" smtClean="0"/>
              <a:t> </a:t>
            </a:r>
            <a:r>
              <a:rPr lang="en-US" b="1" dirty="0" smtClean="0">
                <a:solidFill>
                  <a:srgbClr val="FF0000"/>
                </a:solidFill>
                <a:latin typeface="Times New Roman" pitchFamily="18" charset="0"/>
                <a:cs typeface="Times New Roman" pitchFamily="18" charset="0"/>
              </a:rPr>
              <a:t>Functions </a:t>
            </a:r>
            <a:r>
              <a:rPr lang="en-US" b="1" dirty="0">
                <a:solidFill>
                  <a:srgbClr val="FF0000"/>
                </a:solidFill>
                <a:latin typeface="Times New Roman" pitchFamily="18" charset="0"/>
                <a:cs typeface="Times New Roman" pitchFamily="18" charset="0"/>
              </a:rPr>
              <a:t>of </a:t>
            </a:r>
            <a:r>
              <a:rPr lang="en-US" b="1" dirty="0" smtClean="0">
                <a:solidFill>
                  <a:srgbClr val="FF0000"/>
                </a:solidFill>
                <a:latin typeface="Times New Roman" pitchFamily="18" charset="0"/>
                <a:cs typeface="Times New Roman" pitchFamily="18" charset="0"/>
              </a:rPr>
              <a:t>Engineering Management</a:t>
            </a:r>
            <a:r>
              <a:rPr lang="en-US" sz="4000" b="1" dirty="0">
                <a:solidFill>
                  <a:srgbClr val="002060"/>
                </a:solidFill>
                <a:latin typeface="Times New Roman"/>
                <a:ea typeface="Times New Roman"/>
                <a:cs typeface="Arial"/>
              </a:rPr>
              <a:t/>
            </a:r>
            <a:br>
              <a:rPr lang="en-US" sz="4000" b="1" dirty="0">
                <a:solidFill>
                  <a:srgbClr val="002060"/>
                </a:solidFill>
                <a:latin typeface="Times New Roman"/>
                <a:ea typeface="Times New Roman"/>
                <a:cs typeface="Arial"/>
              </a:rPr>
            </a:br>
            <a: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19</a:t>
            </a:fld>
            <a:endParaRPr lang="en-US" dirty="0"/>
          </a:p>
        </p:txBody>
      </p:sp>
      <p:sp>
        <p:nvSpPr>
          <p:cNvPr id="9" name="TextBox 8"/>
          <p:cNvSpPr txBox="1"/>
          <p:nvPr/>
        </p:nvSpPr>
        <p:spPr>
          <a:xfrm>
            <a:off x="0" y="914400"/>
            <a:ext cx="9144000" cy="5773888"/>
          </a:xfrm>
          <a:prstGeom prst="rect">
            <a:avLst/>
          </a:prstGeom>
          <a:noFill/>
        </p:spPr>
        <p:txBody>
          <a:bodyPr wrap="square" rtlCol="1">
            <a:spAutoFit/>
          </a:bodyPr>
          <a:lstStyle/>
          <a:p>
            <a:pPr marL="457200" indent="-457200" algn="just">
              <a:buFont typeface="Wingdings" pitchFamily="2" charset="2"/>
              <a:buChar char="Ø"/>
            </a:pPr>
            <a:r>
              <a:rPr lang="en-US" sz="3200" b="1" dirty="0">
                <a:latin typeface="Times New Roman" pitchFamily="18" charset="0"/>
                <a:cs typeface="Times New Roman" pitchFamily="18" charset="0"/>
              </a:rPr>
              <a:t>The role of management is to plan, organize, and integrate resources and </a:t>
            </a:r>
            <a:r>
              <a:rPr lang="en-US" sz="3200" b="1" dirty="0" smtClean="0">
                <a:latin typeface="Times New Roman" pitchFamily="18" charset="0"/>
                <a:cs typeface="Times New Roman" pitchFamily="18" charset="0"/>
              </a:rPr>
              <a:t>tasks to </a:t>
            </a:r>
            <a:r>
              <a:rPr lang="en-US" sz="3200" b="1" dirty="0">
                <a:latin typeface="Times New Roman" pitchFamily="18" charset="0"/>
                <a:cs typeface="Times New Roman" pitchFamily="18" charset="0"/>
              </a:rPr>
              <a:t>achieve project goals</a:t>
            </a:r>
            <a:r>
              <a:rPr lang="en-US" sz="3200" b="1" dirty="0" smtClean="0">
                <a:latin typeface="Times New Roman" pitchFamily="18" charset="0"/>
                <a:cs typeface="Times New Roman" pitchFamily="18" charset="0"/>
              </a:rPr>
              <a:t>.</a:t>
            </a:r>
          </a:p>
          <a:p>
            <a:pPr marL="457200" indent="-457200" algn="just">
              <a:buFont typeface="Wingdings" pitchFamily="2" charset="2"/>
              <a:buChar char="Ø"/>
            </a:pPr>
            <a:endParaRPr lang="en-US" sz="800" b="1" dirty="0">
              <a:latin typeface="Times New Roman" pitchFamily="18" charset="0"/>
              <a:cs typeface="Times New Roman" pitchFamily="18" charset="0"/>
            </a:endParaRPr>
          </a:p>
          <a:p>
            <a:pPr marL="457200" lvl="0" indent="-457200" algn="just">
              <a:buFont typeface="Wingdings" pitchFamily="2" charset="2"/>
              <a:buChar char="Ø"/>
            </a:pPr>
            <a:r>
              <a:rPr lang="en-US" sz="3000" b="1" dirty="0" smtClean="0">
                <a:solidFill>
                  <a:srgbClr val="990099"/>
                </a:solidFill>
                <a:latin typeface="Times New Roman" pitchFamily="18" charset="0"/>
                <a:cs typeface="Times New Roman" pitchFamily="18" charset="0"/>
              </a:rPr>
              <a:t>There are </a:t>
            </a:r>
            <a:r>
              <a:rPr lang="en-US" sz="3000" b="1" dirty="0">
                <a:solidFill>
                  <a:srgbClr val="990099"/>
                </a:solidFill>
                <a:latin typeface="Times New Roman" pitchFamily="18" charset="0"/>
                <a:cs typeface="Times New Roman" pitchFamily="18" charset="0"/>
              </a:rPr>
              <a:t>several interrelated functions which are</a:t>
            </a:r>
            <a:r>
              <a:rPr lang="en-US" sz="3000" b="1" dirty="0" smtClean="0">
                <a:solidFill>
                  <a:srgbClr val="990099"/>
                </a:solidFill>
                <a:latin typeface="Times New Roman" pitchFamily="18" charset="0"/>
                <a:cs typeface="Times New Roman" pitchFamily="18" charset="0"/>
              </a:rPr>
              <a:t>:</a:t>
            </a:r>
          </a:p>
          <a:p>
            <a:pPr marL="812800" lvl="0" indent="-457200" algn="just">
              <a:lnSpc>
                <a:spcPct val="114000"/>
              </a:lnSpc>
              <a:spcBef>
                <a:spcPts val="600"/>
              </a:spcBef>
              <a:buFont typeface="+mj-lt"/>
              <a:buAutoNum type="arabicParenR"/>
              <a:defRPr/>
            </a:pPr>
            <a:r>
              <a:rPr lang="en-US" sz="3000" b="1" dirty="0">
                <a:latin typeface="Times New Roman" pitchFamily="18" charset="0"/>
                <a:cs typeface="Times New Roman" pitchFamily="18" charset="0"/>
              </a:rPr>
              <a:t>Planning</a:t>
            </a:r>
          </a:p>
          <a:p>
            <a:pPr marL="812800" lvl="0" indent="-457200" algn="just">
              <a:lnSpc>
                <a:spcPct val="114000"/>
              </a:lnSpc>
              <a:spcBef>
                <a:spcPts val="600"/>
              </a:spcBef>
              <a:buFont typeface="+mj-lt"/>
              <a:buAutoNum type="arabicParenR"/>
              <a:defRPr/>
            </a:pPr>
            <a:r>
              <a:rPr lang="en-US" sz="3000" b="1" dirty="0">
                <a:latin typeface="Times New Roman" pitchFamily="18" charset="0"/>
                <a:cs typeface="Times New Roman" pitchFamily="18" charset="0"/>
              </a:rPr>
              <a:t>Organizing</a:t>
            </a:r>
          </a:p>
          <a:p>
            <a:pPr marL="812800" lvl="0" indent="-457200" algn="just">
              <a:lnSpc>
                <a:spcPct val="114000"/>
              </a:lnSpc>
              <a:spcBef>
                <a:spcPts val="600"/>
              </a:spcBef>
              <a:buFont typeface="+mj-lt"/>
              <a:buAutoNum type="arabicParenR"/>
              <a:defRPr/>
            </a:pPr>
            <a:r>
              <a:rPr lang="en-US" sz="3000" b="1" dirty="0">
                <a:latin typeface="Times New Roman" pitchFamily="18" charset="0"/>
                <a:cs typeface="Times New Roman" pitchFamily="18" charset="0"/>
              </a:rPr>
              <a:t>Coordinating / Directing</a:t>
            </a:r>
          </a:p>
          <a:p>
            <a:pPr marL="812800" lvl="0" indent="-457200" algn="just">
              <a:lnSpc>
                <a:spcPct val="114000"/>
              </a:lnSpc>
              <a:spcBef>
                <a:spcPts val="600"/>
              </a:spcBef>
              <a:buFont typeface="+mj-lt"/>
              <a:buAutoNum type="arabicParenR"/>
              <a:defRPr/>
            </a:pPr>
            <a:r>
              <a:rPr lang="en-US" sz="3000" b="1" dirty="0">
                <a:latin typeface="Times New Roman" pitchFamily="18" charset="0"/>
                <a:cs typeface="Times New Roman" pitchFamily="18" charset="0"/>
              </a:rPr>
              <a:t>Communicating</a:t>
            </a:r>
          </a:p>
          <a:p>
            <a:pPr marL="812800" lvl="0" indent="-457200" algn="just">
              <a:lnSpc>
                <a:spcPct val="114000"/>
              </a:lnSpc>
              <a:spcBef>
                <a:spcPts val="600"/>
              </a:spcBef>
              <a:buFont typeface="+mj-lt"/>
              <a:buAutoNum type="arabicParenR"/>
              <a:defRPr/>
            </a:pPr>
            <a:r>
              <a:rPr lang="en-US" sz="3000" b="1" dirty="0">
                <a:latin typeface="Times New Roman" pitchFamily="18" charset="0"/>
                <a:cs typeface="Times New Roman" pitchFamily="18" charset="0"/>
              </a:rPr>
              <a:t>Motivating</a:t>
            </a:r>
          </a:p>
          <a:p>
            <a:pPr marL="812800" lvl="0" indent="-457200" algn="just">
              <a:lnSpc>
                <a:spcPct val="114000"/>
              </a:lnSpc>
              <a:spcBef>
                <a:spcPts val="600"/>
              </a:spcBef>
              <a:buFont typeface="+mj-lt"/>
              <a:buAutoNum type="arabicParenR"/>
              <a:defRPr/>
            </a:pPr>
            <a:r>
              <a:rPr lang="en-US" sz="3000" b="1" dirty="0">
                <a:latin typeface="Times New Roman" pitchFamily="18" charset="0"/>
                <a:cs typeface="Times New Roman" pitchFamily="18" charset="0"/>
              </a:rPr>
              <a:t>Controlling </a:t>
            </a:r>
          </a:p>
        </p:txBody>
      </p:sp>
      <p:sp>
        <p:nvSpPr>
          <p:cNvPr id="5734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57347" name="Rectangle 3"/>
          <p:cNvSpPr>
            <a:spLocks noChangeArrowheads="1"/>
          </p:cNvSpPr>
          <p:nvPr/>
        </p:nvSpPr>
        <p:spPr bwMode="auto">
          <a:xfrm>
            <a:off x="0" y="8953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968199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2" end="2"/>
                                            </p:txEl>
                                          </p:spTgt>
                                        </p:tgtEl>
                                        <p:attrNameLst>
                                          <p:attrName>style.visibility</p:attrName>
                                        </p:attrNameLst>
                                      </p:cBhvr>
                                      <p:to>
                                        <p:strVal val="visible"/>
                                      </p:to>
                                    </p:set>
                                    <p:animEffect transition="in" filter="fade">
                                      <p:cBhvr>
                                        <p:cTn id="14" dur="1000"/>
                                        <p:tgtEl>
                                          <p:spTgt spid="9">
                                            <p:txEl>
                                              <p:pRg st="2" end="2"/>
                                            </p:txEl>
                                          </p:spTgt>
                                        </p:tgtEl>
                                      </p:cBhvr>
                                    </p:animEffect>
                                    <p:anim calcmode="lin" valueType="num">
                                      <p:cBhvr>
                                        <p:cTn id="15"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 calcmode="lin" valueType="num">
                                      <p:cBhvr additive="base">
                                        <p:cTn id="21"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 calcmode="lin" valueType="num">
                                      <p:cBhvr additive="base">
                                        <p:cTn id="27"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 calcmode="lin" valueType="num">
                                      <p:cBhvr additive="base">
                                        <p:cTn id="33"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9">
                                            <p:txEl>
                                              <p:pRg st="6" end="6"/>
                                            </p:txEl>
                                          </p:spTgt>
                                        </p:tgtEl>
                                        <p:attrNameLst>
                                          <p:attrName>style.visibility</p:attrName>
                                        </p:attrNameLst>
                                      </p:cBhvr>
                                      <p:to>
                                        <p:strVal val="visible"/>
                                      </p:to>
                                    </p:set>
                                    <p:anim calcmode="lin" valueType="num">
                                      <p:cBhvr additive="base">
                                        <p:cTn id="39"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9">
                                            <p:txEl>
                                              <p:pRg st="7" end="7"/>
                                            </p:txEl>
                                          </p:spTgt>
                                        </p:tgtEl>
                                        <p:attrNameLst>
                                          <p:attrName>style.visibility</p:attrName>
                                        </p:attrNameLst>
                                      </p:cBhvr>
                                      <p:to>
                                        <p:strVal val="visible"/>
                                      </p:to>
                                    </p:set>
                                    <p:anim calcmode="lin" valueType="num">
                                      <p:cBhvr additive="base">
                                        <p:cTn id="45"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9">
                                            <p:txEl>
                                              <p:pRg st="8" end="8"/>
                                            </p:txEl>
                                          </p:spTgt>
                                        </p:tgtEl>
                                        <p:attrNameLst>
                                          <p:attrName>style.visibility</p:attrName>
                                        </p:attrNameLst>
                                      </p:cBhvr>
                                      <p:to>
                                        <p:strVal val="visible"/>
                                      </p:to>
                                    </p:set>
                                    <p:anim calcmode="lin" valueType="num">
                                      <p:cBhvr additive="base">
                                        <p:cTn id="51"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099"/>
            <a:ext cx="9144000" cy="781051"/>
          </a:xfrm>
        </p:spPr>
        <p:txBody>
          <a:bodyPr>
            <a:normAutofit fontScale="90000"/>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sz="4900" b="1" dirty="0" smtClean="0">
                <a:latin typeface="Times New Roman" pitchFamily="18" charset="0"/>
                <a:cs typeface="Times New Roman" pitchFamily="18" charset="0"/>
              </a:rPr>
              <a:t> </a:t>
            </a:r>
            <a:r>
              <a:rPr lang="en-US" sz="4900" b="1" dirty="0" smtClean="0">
                <a:solidFill>
                  <a:srgbClr val="FF0000"/>
                </a:solidFill>
                <a:latin typeface="Times New Roman" pitchFamily="18" charset="0"/>
                <a:cs typeface="Times New Roman" pitchFamily="18" charset="0"/>
              </a:rPr>
              <a:t>1) Planning</a:t>
            </a:r>
            <a:r>
              <a:rPr lang="en-US" sz="4000" b="1" dirty="0" smtClean="0">
                <a:solidFill>
                  <a:srgbClr val="002060"/>
                </a:solidFill>
                <a:latin typeface="Times New Roman"/>
                <a:ea typeface="Times New Roman"/>
                <a:cs typeface="Arial"/>
              </a:rPr>
              <a:t/>
            </a:r>
            <a:br>
              <a:rPr lang="en-US" sz="4000" b="1" dirty="0" smtClean="0">
                <a:solidFill>
                  <a:srgbClr val="002060"/>
                </a:solidFill>
                <a:latin typeface="Times New Roman"/>
                <a:ea typeface="Times New Roman"/>
                <a:cs typeface="Arial"/>
              </a:rPr>
            </a:br>
            <a: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20</a:t>
            </a:fld>
            <a:endParaRPr lang="en-US" dirty="0"/>
          </a:p>
        </p:txBody>
      </p:sp>
      <p:sp>
        <p:nvSpPr>
          <p:cNvPr id="8" name="TextBox 7"/>
          <p:cNvSpPr txBox="1"/>
          <p:nvPr/>
        </p:nvSpPr>
        <p:spPr>
          <a:xfrm>
            <a:off x="0" y="1066800"/>
            <a:ext cx="9144000" cy="5816977"/>
          </a:xfrm>
          <a:prstGeom prst="rect">
            <a:avLst/>
          </a:prstGeom>
          <a:noFill/>
        </p:spPr>
        <p:txBody>
          <a:bodyPr wrap="square" rtlCol="1">
            <a:spAutoFit/>
          </a:bodyPr>
          <a:lstStyle/>
          <a:p>
            <a:pPr marL="457200" indent="-457200" algn="just">
              <a:buFont typeface="Wingdings" pitchFamily="2" charset="2"/>
              <a:buChar char="Ø"/>
            </a:pPr>
            <a:r>
              <a:rPr lang="en-US" sz="3200" b="1" dirty="0">
                <a:latin typeface="Times New Roman" pitchFamily="18" charset="0"/>
                <a:cs typeface="Times New Roman" pitchFamily="18" charset="0"/>
              </a:rPr>
              <a:t>It is the </a:t>
            </a:r>
            <a:r>
              <a:rPr lang="en-US" sz="3200" b="1" u="sng" dirty="0">
                <a:latin typeface="Times New Roman" pitchFamily="18" charset="0"/>
                <a:cs typeface="Times New Roman" pitchFamily="18" charset="0"/>
                <a:hlinkClick r:id="rId3"/>
              </a:rPr>
              <a:t>process</a:t>
            </a:r>
            <a:r>
              <a:rPr lang="en-US" sz="3200" b="1" dirty="0">
                <a:latin typeface="Times New Roman" pitchFamily="18" charset="0"/>
                <a:cs typeface="Times New Roman" pitchFamily="18" charset="0"/>
              </a:rPr>
              <a:t> of setting </a:t>
            </a:r>
            <a:r>
              <a:rPr lang="en-US" sz="3200" b="1" dirty="0">
                <a:latin typeface="Times New Roman" pitchFamily="18" charset="0"/>
                <a:cs typeface="Times New Roman" pitchFamily="18" charset="0"/>
                <a:hlinkClick r:id="rId4"/>
              </a:rPr>
              <a:t>goals</a:t>
            </a:r>
            <a:r>
              <a:rPr lang="en-US" sz="3200" b="1" dirty="0">
                <a:latin typeface="Times New Roman" pitchFamily="18" charset="0"/>
                <a:cs typeface="Times New Roman" pitchFamily="18" charset="0"/>
              </a:rPr>
              <a:t>, developing </a:t>
            </a:r>
            <a:r>
              <a:rPr lang="en-US" sz="3200" b="1" dirty="0">
                <a:latin typeface="Times New Roman" pitchFamily="18" charset="0"/>
                <a:cs typeface="Times New Roman" pitchFamily="18" charset="0"/>
                <a:hlinkClick r:id="rId5"/>
              </a:rPr>
              <a:t>strategies</a:t>
            </a:r>
            <a:r>
              <a:rPr lang="en-US" sz="3200" b="1" dirty="0">
                <a:latin typeface="Times New Roman" pitchFamily="18" charset="0"/>
                <a:cs typeface="Times New Roman" pitchFamily="18" charset="0"/>
              </a:rPr>
              <a:t>, and outlining </a:t>
            </a:r>
            <a:r>
              <a:rPr lang="en-US" sz="3200" b="1" dirty="0">
                <a:latin typeface="Times New Roman" pitchFamily="18" charset="0"/>
                <a:cs typeface="Times New Roman" pitchFamily="18" charset="0"/>
                <a:hlinkClick r:id="rId6"/>
              </a:rPr>
              <a:t>tasks</a:t>
            </a:r>
            <a:r>
              <a:rPr lang="en-US" sz="3200" b="1" dirty="0">
                <a:latin typeface="Times New Roman" pitchFamily="18" charset="0"/>
                <a:cs typeface="Times New Roman" pitchFamily="18" charset="0"/>
              </a:rPr>
              <a:t> and </a:t>
            </a:r>
            <a:r>
              <a:rPr lang="en-US" sz="3200" b="1" dirty="0">
                <a:latin typeface="Times New Roman" pitchFamily="18" charset="0"/>
                <a:cs typeface="Times New Roman" pitchFamily="18" charset="0"/>
                <a:hlinkClick r:id="rId7"/>
              </a:rPr>
              <a:t>schedules</a:t>
            </a:r>
            <a:r>
              <a:rPr lang="en-US" sz="3200" b="1" dirty="0">
                <a:latin typeface="Times New Roman" pitchFamily="18" charset="0"/>
                <a:cs typeface="Times New Roman" pitchFamily="18" charset="0"/>
              </a:rPr>
              <a:t> to </a:t>
            </a:r>
            <a:r>
              <a:rPr lang="en-US" sz="3200" b="1" dirty="0">
                <a:latin typeface="Times New Roman" pitchFamily="18" charset="0"/>
                <a:cs typeface="Times New Roman" pitchFamily="18" charset="0"/>
                <a:hlinkClick r:id="rId8"/>
              </a:rPr>
              <a:t>accomplish</a:t>
            </a:r>
            <a:r>
              <a:rPr lang="en-US" sz="3200" b="1" dirty="0">
                <a:latin typeface="Times New Roman" pitchFamily="18" charset="0"/>
                <a:cs typeface="Times New Roman" pitchFamily="18" charset="0"/>
              </a:rPr>
              <a:t> the goals. </a:t>
            </a:r>
            <a:endParaRPr lang="en-US" sz="3200" b="1" dirty="0" smtClean="0">
              <a:latin typeface="Times New Roman" pitchFamily="18" charset="0"/>
              <a:cs typeface="Times New Roman" pitchFamily="18" charset="0"/>
            </a:endParaRPr>
          </a:p>
          <a:p>
            <a:pPr marL="457200" indent="-457200" algn="just">
              <a:buFont typeface="Wingdings" pitchFamily="2" charset="2"/>
              <a:buChar char="Ø"/>
            </a:pPr>
            <a:endParaRPr lang="en-US" sz="2000" b="1" dirty="0">
              <a:latin typeface="Times New Roman" pitchFamily="18" charset="0"/>
              <a:cs typeface="Times New Roman" pitchFamily="18" charset="0"/>
            </a:endParaRPr>
          </a:p>
          <a:p>
            <a:pPr marL="457200" indent="-457200" algn="just">
              <a:buFont typeface="Wingdings" pitchFamily="2" charset="2"/>
              <a:buChar char="Ø"/>
            </a:pPr>
            <a:r>
              <a:rPr lang="en-US" sz="3200" b="1" dirty="0">
                <a:latin typeface="Times New Roman" pitchFamily="18" charset="0"/>
                <a:cs typeface="Times New Roman" pitchFamily="18" charset="0"/>
                <a:hlinkClick r:id="rId3"/>
              </a:rPr>
              <a:t>The process </a:t>
            </a:r>
            <a:r>
              <a:rPr lang="en-US" sz="3200" b="1" dirty="0">
                <a:latin typeface="Times New Roman" pitchFamily="18" charset="0"/>
                <a:cs typeface="Times New Roman" pitchFamily="18" charset="0"/>
              </a:rPr>
              <a:t>is Sequence of interdependent and linked </a:t>
            </a:r>
            <a:r>
              <a:rPr lang="en-US" sz="3200" b="1" dirty="0">
                <a:latin typeface="Times New Roman" pitchFamily="18" charset="0"/>
                <a:cs typeface="Times New Roman" pitchFamily="18" charset="0"/>
                <a:hlinkClick r:id="rId9"/>
              </a:rPr>
              <a:t>procedures</a:t>
            </a:r>
            <a:r>
              <a:rPr lang="en-US" sz="3200" b="1" dirty="0">
                <a:latin typeface="Times New Roman" pitchFamily="18" charset="0"/>
                <a:cs typeface="Times New Roman" pitchFamily="18" charset="0"/>
              </a:rPr>
              <a:t> which, at every </a:t>
            </a:r>
            <a:r>
              <a:rPr lang="en-US" sz="3200" b="1" dirty="0">
                <a:latin typeface="Times New Roman" pitchFamily="18" charset="0"/>
                <a:cs typeface="Times New Roman" pitchFamily="18" charset="0"/>
                <a:hlinkClick r:id="rId10"/>
              </a:rPr>
              <a:t>stage</a:t>
            </a:r>
            <a:r>
              <a:rPr lang="en-US" sz="3200" b="1" dirty="0">
                <a:latin typeface="Times New Roman" pitchFamily="18" charset="0"/>
                <a:cs typeface="Times New Roman" pitchFamily="18" charset="0"/>
              </a:rPr>
              <a:t>, consume one or more </a:t>
            </a:r>
            <a:r>
              <a:rPr lang="en-US" sz="3200" b="1" dirty="0">
                <a:latin typeface="Times New Roman" pitchFamily="18" charset="0"/>
                <a:cs typeface="Times New Roman" pitchFamily="18" charset="0"/>
                <a:hlinkClick r:id="rId11"/>
              </a:rPr>
              <a:t>resources</a:t>
            </a:r>
            <a:r>
              <a:rPr lang="en-US" sz="3200" b="1" dirty="0">
                <a:latin typeface="Times New Roman" pitchFamily="18" charset="0"/>
                <a:cs typeface="Times New Roman" pitchFamily="18" charset="0"/>
              </a:rPr>
              <a:t> (</a:t>
            </a:r>
            <a:r>
              <a:rPr lang="en-US" sz="3200" b="1" dirty="0">
                <a:latin typeface="Times New Roman" pitchFamily="18" charset="0"/>
                <a:cs typeface="Times New Roman" pitchFamily="18" charset="0"/>
                <a:hlinkClick r:id="rId12"/>
              </a:rPr>
              <a:t>employee</a:t>
            </a:r>
            <a:r>
              <a:rPr lang="en-US" sz="3200" b="1" dirty="0">
                <a:latin typeface="Times New Roman" pitchFamily="18" charset="0"/>
                <a:cs typeface="Times New Roman" pitchFamily="18" charset="0"/>
              </a:rPr>
              <a:t> time, </a:t>
            </a:r>
            <a:r>
              <a:rPr lang="en-US" sz="3200" b="1" dirty="0">
                <a:latin typeface="Times New Roman" pitchFamily="18" charset="0"/>
                <a:cs typeface="Times New Roman" pitchFamily="18" charset="0"/>
                <a:hlinkClick r:id="rId13"/>
              </a:rPr>
              <a:t>energy</a:t>
            </a:r>
            <a:r>
              <a:rPr lang="en-US" sz="3200" b="1" dirty="0">
                <a:latin typeface="Times New Roman" pitchFamily="18" charset="0"/>
                <a:cs typeface="Times New Roman" pitchFamily="18" charset="0"/>
              </a:rPr>
              <a:t>, </a:t>
            </a:r>
            <a:r>
              <a:rPr lang="en-US" sz="3200" b="1" dirty="0">
                <a:latin typeface="Times New Roman" pitchFamily="18" charset="0"/>
                <a:cs typeface="Times New Roman" pitchFamily="18" charset="0"/>
                <a:hlinkClick r:id="rId14"/>
              </a:rPr>
              <a:t>machines</a:t>
            </a:r>
            <a:r>
              <a:rPr lang="en-US" sz="3200" b="1" dirty="0">
                <a:latin typeface="Times New Roman" pitchFamily="18" charset="0"/>
                <a:cs typeface="Times New Roman" pitchFamily="18" charset="0"/>
              </a:rPr>
              <a:t>, </a:t>
            </a:r>
            <a:r>
              <a:rPr lang="en-US" sz="3200" b="1" dirty="0">
                <a:latin typeface="Times New Roman" pitchFamily="18" charset="0"/>
                <a:cs typeface="Times New Roman" pitchFamily="18" charset="0"/>
                <a:hlinkClick r:id="rId15"/>
              </a:rPr>
              <a:t>money</a:t>
            </a:r>
            <a:r>
              <a:rPr lang="en-US" sz="3200" b="1" dirty="0">
                <a:latin typeface="Times New Roman" pitchFamily="18" charset="0"/>
                <a:cs typeface="Times New Roman" pitchFamily="18" charset="0"/>
              </a:rPr>
              <a:t>) to </a:t>
            </a:r>
            <a:r>
              <a:rPr lang="en-US" sz="3200" b="1" dirty="0">
                <a:latin typeface="Times New Roman" pitchFamily="18" charset="0"/>
                <a:cs typeface="Times New Roman" pitchFamily="18" charset="0"/>
                <a:hlinkClick r:id="rId16"/>
              </a:rPr>
              <a:t>convert</a:t>
            </a:r>
            <a:r>
              <a:rPr lang="en-US" sz="3200" b="1" dirty="0">
                <a:latin typeface="Times New Roman" pitchFamily="18" charset="0"/>
                <a:cs typeface="Times New Roman" pitchFamily="18" charset="0"/>
              </a:rPr>
              <a:t> inputs (</a:t>
            </a:r>
            <a:r>
              <a:rPr lang="en-US" sz="3200" b="1" dirty="0">
                <a:latin typeface="Times New Roman" pitchFamily="18" charset="0"/>
                <a:cs typeface="Times New Roman" pitchFamily="18" charset="0"/>
                <a:hlinkClick r:id="rId17"/>
              </a:rPr>
              <a:t>data</a:t>
            </a:r>
            <a:r>
              <a:rPr lang="en-US" sz="3200" b="1" dirty="0">
                <a:latin typeface="Times New Roman" pitchFamily="18" charset="0"/>
                <a:cs typeface="Times New Roman" pitchFamily="18" charset="0"/>
              </a:rPr>
              <a:t>, </a:t>
            </a:r>
            <a:r>
              <a:rPr lang="en-US" sz="3200" b="1" dirty="0">
                <a:latin typeface="Times New Roman" pitchFamily="18" charset="0"/>
                <a:cs typeface="Times New Roman" pitchFamily="18" charset="0"/>
                <a:hlinkClick r:id="rId18"/>
              </a:rPr>
              <a:t>material</a:t>
            </a:r>
            <a:r>
              <a:rPr lang="en-US" sz="3200" b="1" dirty="0">
                <a:latin typeface="Times New Roman" pitchFamily="18" charset="0"/>
                <a:cs typeface="Times New Roman" pitchFamily="18" charset="0"/>
              </a:rPr>
              <a:t>, </a:t>
            </a:r>
            <a:r>
              <a:rPr lang="en-US" sz="3200" b="1" dirty="0">
                <a:latin typeface="Times New Roman" pitchFamily="18" charset="0"/>
                <a:cs typeface="Times New Roman" pitchFamily="18" charset="0"/>
                <a:hlinkClick r:id="rId19"/>
              </a:rPr>
              <a:t>parts</a:t>
            </a:r>
            <a:r>
              <a:rPr lang="en-US" sz="3200" b="1" dirty="0">
                <a:latin typeface="Times New Roman" pitchFamily="18" charset="0"/>
                <a:cs typeface="Times New Roman" pitchFamily="18" charset="0"/>
              </a:rPr>
              <a:t>, etc.) into </a:t>
            </a:r>
            <a:r>
              <a:rPr lang="en-US" sz="3200" b="1" dirty="0">
                <a:latin typeface="Times New Roman" pitchFamily="18" charset="0"/>
                <a:cs typeface="Times New Roman" pitchFamily="18" charset="0"/>
                <a:hlinkClick r:id="rId20"/>
              </a:rPr>
              <a:t>outputs</a:t>
            </a:r>
            <a:r>
              <a:rPr lang="en-US" sz="3200" b="1" dirty="0">
                <a:latin typeface="Times New Roman" pitchFamily="18" charset="0"/>
                <a:cs typeface="Times New Roman" pitchFamily="18" charset="0"/>
              </a:rPr>
              <a:t>. These outputs then serve as inputs for the next stage until a known </a:t>
            </a:r>
            <a:r>
              <a:rPr lang="en-US" sz="3200" b="1" dirty="0">
                <a:latin typeface="Times New Roman" pitchFamily="18" charset="0"/>
                <a:cs typeface="Times New Roman" pitchFamily="18" charset="0"/>
                <a:hlinkClick r:id="rId21"/>
              </a:rPr>
              <a:t>goal</a:t>
            </a:r>
            <a:r>
              <a:rPr lang="en-US" sz="3200" b="1" dirty="0">
                <a:latin typeface="Times New Roman" pitchFamily="18" charset="0"/>
                <a:cs typeface="Times New Roman" pitchFamily="18" charset="0"/>
              </a:rPr>
              <a:t> or </a:t>
            </a:r>
            <a:r>
              <a:rPr lang="en-US" sz="3200" b="1" dirty="0">
                <a:latin typeface="Times New Roman" pitchFamily="18" charset="0"/>
                <a:cs typeface="Times New Roman" pitchFamily="18" charset="0"/>
                <a:hlinkClick r:id="rId22"/>
              </a:rPr>
              <a:t>end</a:t>
            </a:r>
            <a:r>
              <a:rPr lang="en-US" sz="3200" b="1" dirty="0">
                <a:latin typeface="Times New Roman" pitchFamily="18" charset="0"/>
                <a:cs typeface="Times New Roman" pitchFamily="18" charset="0"/>
              </a:rPr>
              <a:t> </a:t>
            </a:r>
            <a:r>
              <a:rPr lang="en-US" sz="3200" b="1" dirty="0">
                <a:latin typeface="Times New Roman" pitchFamily="18" charset="0"/>
                <a:cs typeface="Times New Roman" pitchFamily="18" charset="0"/>
                <a:hlinkClick r:id="rId23"/>
              </a:rPr>
              <a:t>result</a:t>
            </a:r>
            <a:r>
              <a:rPr lang="en-US" sz="3200" b="1" dirty="0">
                <a:latin typeface="Times New Roman" pitchFamily="18" charset="0"/>
                <a:cs typeface="Times New Roman" pitchFamily="18" charset="0"/>
              </a:rPr>
              <a:t> is reached.</a:t>
            </a:r>
          </a:p>
          <a:p>
            <a:pPr algn="just"/>
            <a:endParaRPr lang="en-US" sz="3200" b="1" dirty="0">
              <a:latin typeface="Times New Roman" pitchFamily="18" charset="0"/>
              <a:cs typeface="Times New Roman" pitchFamily="18" charset="0"/>
            </a:endParaRPr>
          </a:p>
        </p:txBody>
      </p:sp>
      <p:sp>
        <p:nvSpPr>
          <p:cNvPr id="3993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9939" name="Rectangle 3"/>
          <p:cNvSpPr>
            <a:spLocks noChangeArrowheads="1"/>
          </p:cNvSpPr>
          <p:nvPr/>
        </p:nvSpPr>
        <p:spPr bwMode="auto">
          <a:xfrm>
            <a:off x="0" y="2381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r>
              <a:rPr kumimoji="0" lang="en-US" sz="900" b="0" i="0" u="none" strike="noStrike" cap="none" normalizeH="0" baseline="0" smtClean="0">
                <a:ln>
                  <a:noFill/>
                </a:ln>
                <a:solidFill>
                  <a:schemeClr val="tx1"/>
                </a:solidFill>
                <a:effectLst/>
                <a:latin typeface="Arial" pitchFamily="34"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994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39942" name="Rectangle 6"/>
          <p:cNvSpPr>
            <a:spLocks noChangeArrowheads="1"/>
          </p:cNvSpPr>
          <p:nvPr/>
        </p:nvSpPr>
        <p:spPr bwMode="auto">
          <a:xfrm>
            <a:off x="152400" y="685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39944"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39945" name="Rectangle 9"/>
          <p:cNvSpPr>
            <a:spLocks noChangeArrowheads="1"/>
          </p:cNvSpPr>
          <p:nvPr/>
        </p:nvSpPr>
        <p:spPr bwMode="auto">
          <a:xfrm>
            <a:off x="457200" y="7524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39947"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39949"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Tree>
    <p:extLst>
      <p:ext uri="{BB962C8B-B14F-4D97-AF65-F5344CB8AC3E}">
        <p14:creationId xmlns:p14="http://schemas.microsoft.com/office/powerpoint/2010/main" val="1532127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0" y="274638"/>
            <a:ext cx="9144000" cy="944562"/>
          </a:xfrm>
        </p:spPr>
        <p:txBody>
          <a:bodyPr>
            <a:normAutofit/>
          </a:bodyPr>
          <a:lstStyle/>
          <a:p>
            <a:r>
              <a:rPr lang="en-US" b="1" dirty="0">
                <a:solidFill>
                  <a:srgbClr val="FF0000"/>
                </a:solidFill>
                <a:latin typeface="Times New Roman" pitchFamily="18" charset="0"/>
                <a:cs typeface="Times New Roman" pitchFamily="18" charset="0"/>
              </a:rPr>
              <a:t>1) Planning</a:t>
            </a:r>
            <a:endParaRPr lang="ar-YE" dirty="0">
              <a:solidFill>
                <a:srgbClr val="FF0000"/>
              </a:solidFill>
            </a:endParaRPr>
          </a:p>
        </p:txBody>
      </p:sp>
      <p:sp>
        <p:nvSpPr>
          <p:cNvPr id="3" name="عنصر نائب للمحتوى 2"/>
          <p:cNvSpPr>
            <a:spLocks noGrp="1"/>
          </p:cNvSpPr>
          <p:nvPr>
            <p:ph idx="1"/>
          </p:nvPr>
        </p:nvSpPr>
        <p:spPr>
          <a:xfrm>
            <a:off x="0" y="1295400"/>
            <a:ext cx="9144000" cy="5562600"/>
          </a:xfrm>
        </p:spPr>
        <p:txBody>
          <a:bodyPr>
            <a:normAutofit fontScale="92500" lnSpcReduction="10000"/>
          </a:bodyPr>
          <a:lstStyle/>
          <a:p>
            <a:pPr algn="just">
              <a:lnSpc>
                <a:spcPct val="114000"/>
              </a:lnSpc>
              <a:buFont typeface="Wingdings" pitchFamily="2" charset="2"/>
              <a:buChar char="Ø"/>
              <a:defRPr/>
            </a:pPr>
            <a:r>
              <a:rPr lang="en-US" sz="3900" b="1" dirty="0">
                <a:solidFill>
                  <a:srgbClr val="990099"/>
                </a:solidFill>
                <a:latin typeface="Times New Roman" pitchFamily="18" charset="0"/>
                <a:cs typeface="Times New Roman" pitchFamily="18" charset="0"/>
              </a:rPr>
              <a:t>Planning can be viewed from following points</a:t>
            </a:r>
            <a:r>
              <a:rPr lang="en-US" sz="3900" b="1" dirty="0" smtClean="0">
                <a:solidFill>
                  <a:srgbClr val="990099"/>
                </a:solidFill>
                <a:latin typeface="Times New Roman" pitchFamily="18" charset="0"/>
                <a:cs typeface="Times New Roman" pitchFamily="18" charset="0"/>
              </a:rPr>
              <a:t>:</a:t>
            </a:r>
          </a:p>
          <a:p>
            <a:pPr>
              <a:lnSpc>
                <a:spcPct val="114000"/>
              </a:lnSpc>
              <a:buFont typeface="Wingdings" pitchFamily="2" charset="2"/>
              <a:buChar char="Ø"/>
              <a:defRPr/>
            </a:pPr>
            <a:endParaRPr lang="en-US" sz="1500" b="1" dirty="0">
              <a:solidFill>
                <a:srgbClr val="990099"/>
              </a:solidFill>
              <a:latin typeface="Times New Roman" pitchFamily="18" charset="0"/>
              <a:cs typeface="Times New Roman" pitchFamily="18" charset="0"/>
            </a:endParaRPr>
          </a:p>
          <a:p>
            <a:pPr marL="280988" indent="-280988" algn="just">
              <a:lnSpc>
                <a:spcPct val="114000"/>
              </a:lnSpc>
              <a:spcBef>
                <a:spcPts val="600"/>
              </a:spcBef>
              <a:buFont typeface="Wingdings" pitchFamily="2" charset="2"/>
              <a:buChar char="Ø"/>
              <a:defRPr/>
            </a:pPr>
            <a:r>
              <a:rPr lang="en-US" sz="3500" b="1" u="sng" dirty="0">
                <a:solidFill>
                  <a:srgbClr val="C00000"/>
                </a:solidFill>
                <a:effectLst>
                  <a:outerShdw blurRad="38100" dist="38100" dir="2700000" algn="tl">
                    <a:srgbClr val="C0C0C0"/>
                  </a:outerShdw>
                </a:effectLst>
                <a:latin typeface="Times New Roman" pitchFamily="18" charset="0"/>
                <a:cs typeface="Times New Roman" pitchFamily="18" charset="0"/>
              </a:rPr>
              <a:t>Subject</a:t>
            </a:r>
            <a:r>
              <a:rPr lang="en-US" sz="3500" b="1" dirty="0">
                <a:solidFill>
                  <a:srgbClr val="C00000"/>
                </a:solidFill>
                <a:latin typeface="Times New Roman" pitchFamily="18" charset="0"/>
                <a:cs typeface="Times New Roman" pitchFamily="18" charset="0"/>
              </a:rPr>
              <a:t>:- </a:t>
            </a:r>
            <a:r>
              <a:rPr lang="en-US" sz="3500" b="1" dirty="0">
                <a:effectLst>
                  <a:outerShdw blurRad="38100" dist="38100" dir="2700000" algn="tl">
                    <a:srgbClr val="C0C0C0"/>
                  </a:outerShdw>
                </a:effectLst>
                <a:latin typeface="Times New Roman" pitchFamily="18" charset="0"/>
                <a:cs typeface="Times New Roman" pitchFamily="18" charset="0"/>
              </a:rPr>
              <a:t>Financial</a:t>
            </a:r>
            <a:r>
              <a:rPr lang="en-US" sz="3500" b="1" dirty="0">
                <a:latin typeface="Times New Roman" pitchFamily="18" charset="0"/>
                <a:cs typeface="Times New Roman" pitchFamily="18" charset="0"/>
              </a:rPr>
              <a:t> Planning, </a:t>
            </a:r>
            <a:r>
              <a:rPr lang="en-US" sz="3500" b="1" dirty="0">
                <a:effectLst>
                  <a:outerShdw blurRad="38100" dist="38100" dir="2700000" algn="tl">
                    <a:srgbClr val="C0C0C0"/>
                  </a:outerShdw>
                </a:effectLst>
                <a:latin typeface="Times New Roman" pitchFamily="18" charset="0"/>
                <a:cs typeface="Times New Roman" pitchFamily="18" charset="0"/>
              </a:rPr>
              <a:t>Time</a:t>
            </a:r>
            <a:r>
              <a:rPr lang="en-US" sz="3500" b="1" dirty="0">
                <a:latin typeface="Times New Roman" pitchFamily="18" charset="0"/>
                <a:cs typeface="Times New Roman" pitchFamily="18" charset="0"/>
              </a:rPr>
              <a:t> Planning, </a:t>
            </a:r>
            <a:r>
              <a:rPr lang="en-US" sz="3500" b="1" dirty="0">
                <a:effectLst>
                  <a:outerShdw blurRad="38100" dist="38100" dir="2700000" algn="tl">
                    <a:srgbClr val="C0C0C0"/>
                  </a:outerShdw>
                </a:effectLst>
                <a:latin typeface="Times New Roman" pitchFamily="18" charset="0"/>
                <a:cs typeface="Times New Roman" pitchFamily="18" charset="0"/>
              </a:rPr>
              <a:t>Quality</a:t>
            </a:r>
            <a:r>
              <a:rPr lang="en-US" sz="3500" b="1" dirty="0">
                <a:latin typeface="Times New Roman" pitchFamily="18" charset="0"/>
                <a:cs typeface="Times New Roman" pitchFamily="18" charset="0"/>
              </a:rPr>
              <a:t> Planning, </a:t>
            </a:r>
            <a:r>
              <a:rPr lang="en-US" sz="3500" b="1" dirty="0">
                <a:effectLst>
                  <a:outerShdw blurRad="38100" dist="38100" dir="2700000" algn="tl">
                    <a:srgbClr val="C0C0C0"/>
                  </a:outerShdw>
                </a:effectLst>
                <a:latin typeface="Times New Roman" pitchFamily="18" charset="0"/>
                <a:cs typeface="Times New Roman" pitchFamily="18" charset="0"/>
              </a:rPr>
              <a:t>Organizational</a:t>
            </a:r>
            <a:r>
              <a:rPr lang="en-US" sz="3500" b="1" dirty="0">
                <a:latin typeface="Times New Roman" pitchFamily="18" charset="0"/>
                <a:cs typeface="Times New Roman" pitchFamily="18" charset="0"/>
              </a:rPr>
              <a:t> </a:t>
            </a:r>
            <a:r>
              <a:rPr lang="en-US" sz="3500" b="1" dirty="0" smtClean="0">
                <a:latin typeface="Times New Roman" pitchFamily="18" charset="0"/>
                <a:cs typeface="Times New Roman" pitchFamily="18" charset="0"/>
              </a:rPr>
              <a:t>Planning, …</a:t>
            </a:r>
          </a:p>
          <a:p>
            <a:pPr marL="280988" indent="-280988" algn="just">
              <a:lnSpc>
                <a:spcPct val="114000"/>
              </a:lnSpc>
              <a:spcBef>
                <a:spcPts val="600"/>
              </a:spcBef>
              <a:buClr>
                <a:srgbClr val="CC3300"/>
              </a:buClr>
              <a:buFont typeface="Wingdings" pitchFamily="2" charset="2"/>
              <a:buChar char="Ø"/>
              <a:defRPr/>
            </a:pPr>
            <a:endParaRPr lang="en-US" sz="1500" b="1" dirty="0">
              <a:latin typeface="Times New Roman" pitchFamily="18" charset="0"/>
              <a:cs typeface="Times New Roman" pitchFamily="18" charset="0"/>
            </a:endParaRPr>
          </a:p>
          <a:p>
            <a:pPr marL="280988" indent="-280988" algn="just">
              <a:lnSpc>
                <a:spcPct val="114000"/>
              </a:lnSpc>
              <a:spcBef>
                <a:spcPts val="600"/>
              </a:spcBef>
              <a:buFont typeface="Wingdings" pitchFamily="2" charset="2"/>
              <a:buChar char="Ø"/>
              <a:defRPr/>
            </a:pPr>
            <a:r>
              <a:rPr lang="en-US" sz="3500" b="1" u="sng" dirty="0">
                <a:solidFill>
                  <a:srgbClr val="C00000"/>
                </a:solidFill>
                <a:effectLst>
                  <a:outerShdw blurRad="38100" dist="38100" dir="2700000" algn="tl">
                    <a:srgbClr val="C0C0C0"/>
                  </a:outerShdw>
                </a:effectLst>
                <a:latin typeface="Times New Roman" pitchFamily="18" charset="0"/>
                <a:cs typeface="Times New Roman" pitchFamily="18" charset="0"/>
              </a:rPr>
              <a:t>Organization</a:t>
            </a:r>
            <a:r>
              <a:rPr lang="en-US" sz="3500" b="1" dirty="0">
                <a:solidFill>
                  <a:srgbClr val="C00000"/>
                </a:solidFill>
                <a:latin typeface="Times New Roman" pitchFamily="18" charset="0"/>
                <a:cs typeface="Times New Roman" pitchFamily="18" charset="0"/>
              </a:rPr>
              <a:t>:- </a:t>
            </a:r>
            <a:r>
              <a:rPr lang="en-US" sz="3500" b="1" dirty="0">
                <a:effectLst>
                  <a:outerShdw blurRad="38100" dist="38100" dir="2700000" algn="tl">
                    <a:srgbClr val="C0C0C0"/>
                  </a:outerShdw>
                </a:effectLst>
                <a:latin typeface="Times New Roman" pitchFamily="18" charset="0"/>
                <a:cs typeface="Times New Roman" pitchFamily="18" charset="0"/>
              </a:rPr>
              <a:t>Corporate</a:t>
            </a:r>
            <a:r>
              <a:rPr lang="en-US" sz="3500" b="1" dirty="0">
                <a:latin typeface="Times New Roman" pitchFamily="18" charset="0"/>
                <a:cs typeface="Times New Roman" pitchFamily="18" charset="0"/>
              </a:rPr>
              <a:t> Planning, </a:t>
            </a:r>
            <a:r>
              <a:rPr lang="en-US" sz="3500" b="1" dirty="0">
                <a:effectLst>
                  <a:outerShdw blurRad="38100" dist="38100" dir="2700000" algn="tl">
                    <a:srgbClr val="C0C0C0"/>
                  </a:outerShdw>
                </a:effectLst>
                <a:latin typeface="Times New Roman" pitchFamily="18" charset="0"/>
                <a:cs typeface="Times New Roman" pitchFamily="18" charset="0"/>
              </a:rPr>
              <a:t>Project</a:t>
            </a:r>
            <a:r>
              <a:rPr lang="en-US" sz="3500" b="1" dirty="0">
                <a:latin typeface="Times New Roman" pitchFamily="18" charset="0"/>
                <a:cs typeface="Times New Roman" pitchFamily="18" charset="0"/>
              </a:rPr>
              <a:t> Planning</a:t>
            </a:r>
            <a:r>
              <a:rPr lang="en-US" sz="3500" b="1" dirty="0" smtClean="0">
                <a:latin typeface="Times New Roman" pitchFamily="18" charset="0"/>
                <a:cs typeface="Times New Roman" pitchFamily="18" charset="0"/>
              </a:rPr>
              <a:t>,…</a:t>
            </a:r>
          </a:p>
          <a:p>
            <a:pPr marL="280988" indent="-280988" algn="just">
              <a:lnSpc>
                <a:spcPct val="114000"/>
              </a:lnSpc>
              <a:spcBef>
                <a:spcPts val="600"/>
              </a:spcBef>
              <a:buClr>
                <a:srgbClr val="CC3300"/>
              </a:buClr>
              <a:buFont typeface="Wingdings" pitchFamily="2" charset="2"/>
              <a:buChar char="Ø"/>
              <a:defRPr/>
            </a:pPr>
            <a:endParaRPr lang="en-US" sz="1500" b="1" dirty="0">
              <a:latin typeface="Times New Roman" pitchFamily="18" charset="0"/>
              <a:cs typeface="Times New Roman" pitchFamily="18" charset="0"/>
            </a:endParaRPr>
          </a:p>
          <a:p>
            <a:pPr marL="280988" indent="-280988" algn="just">
              <a:lnSpc>
                <a:spcPct val="114000"/>
              </a:lnSpc>
              <a:spcBef>
                <a:spcPts val="600"/>
              </a:spcBef>
              <a:buFont typeface="Wingdings" pitchFamily="2" charset="2"/>
              <a:buChar char="Ø"/>
              <a:defRPr/>
            </a:pPr>
            <a:r>
              <a:rPr lang="en-US" sz="3500" b="1" u="sng" dirty="0">
                <a:solidFill>
                  <a:srgbClr val="C00000"/>
                </a:solidFill>
                <a:effectLst>
                  <a:outerShdw blurRad="38100" dist="38100" dir="2700000" algn="tl">
                    <a:srgbClr val="C0C0C0"/>
                  </a:outerShdw>
                </a:effectLst>
                <a:latin typeface="Times New Roman" pitchFamily="18" charset="0"/>
                <a:cs typeface="Times New Roman" pitchFamily="18" charset="0"/>
              </a:rPr>
              <a:t>Time</a:t>
            </a:r>
            <a:r>
              <a:rPr lang="en-US" sz="3500" b="1" dirty="0">
                <a:solidFill>
                  <a:srgbClr val="C00000"/>
                </a:solidFill>
                <a:latin typeface="Times New Roman" pitchFamily="18" charset="0"/>
                <a:cs typeface="Times New Roman" pitchFamily="18" charset="0"/>
              </a:rPr>
              <a:t>:- </a:t>
            </a:r>
            <a:r>
              <a:rPr lang="en-US" sz="3500" b="1" dirty="0">
                <a:effectLst>
                  <a:outerShdw blurRad="38100" dist="38100" dir="2700000" algn="tl">
                    <a:srgbClr val="C0C0C0"/>
                  </a:outerShdw>
                </a:effectLst>
                <a:latin typeface="Times New Roman" pitchFamily="18" charset="0"/>
                <a:cs typeface="Times New Roman" pitchFamily="18" charset="0"/>
              </a:rPr>
              <a:t>Long-Range</a:t>
            </a:r>
            <a:r>
              <a:rPr lang="en-US" sz="3500" b="1" dirty="0">
                <a:solidFill>
                  <a:schemeClr val="bg1"/>
                </a:solidFill>
                <a:latin typeface="Times New Roman" pitchFamily="18" charset="0"/>
                <a:cs typeface="Times New Roman" pitchFamily="18" charset="0"/>
              </a:rPr>
              <a:t>. </a:t>
            </a:r>
            <a:r>
              <a:rPr lang="en-US" sz="3500" b="1" dirty="0">
                <a:latin typeface="Times New Roman" pitchFamily="18" charset="0"/>
                <a:cs typeface="Times New Roman" pitchFamily="18" charset="0"/>
              </a:rPr>
              <a:t>Planning, </a:t>
            </a:r>
            <a:r>
              <a:rPr lang="en-US" sz="3500" b="1" dirty="0">
                <a:effectLst>
                  <a:outerShdw blurRad="38100" dist="38100" dir="2700000" algn="tl">
                    <a:srgbClr val="C0C0C0"/>
                  </a:outerShdw>
                </a:effectLst>
                <a:latin typeface="Times New Roman" pitchFamily="18" charset="0"/>
                <a:cs typeface="Times New Roman" pitchFamily="18" charset="0"/>
              </a:rPr>
              <a:t>Short-Range</a:t>
            </a:r>
            <a:r>
              <a:rPr lang="en-US" sz="3500" b="1" dirty="0">
                <a:latin typeface="Times New Roman" pitchFamily="18" charset="0"/>
                <a:cs typeface="Times New Roman" pitchFamily="18" charset="0"/>
              </a:rPr>
              <a:t> Planning, </a:t>
            </a:r>
            <a:r>
              <a:rPr lang="en-US" sz="3500" b="1" dirty="0">
                <a:effectLst>
                  <a:outerShdw blurRad="38100" dist="38100" dir="2700000" algn="tl">
                    <a:srgbClr val="C0C0C0"/>
                  </a:outerShdw>
                </a:effectLst>
                <a:latin typeface="Times New Roman" pitchFamily="18" charset="0"/>
                <a:cs typeface="Times New Roman" pitchFamily="18" charset="0"/>
              </a:rPr>
              <a:t>Weekly</a:t>
            </a:r>
            <a:r>
              <a:rPr lang="en-US" sz="3500" b="1" dirty="0">
                <a:latin typeface="Times New Roman" pitchFamily="18" charset="0"/>
                <a:cs typeface="Times New Roman" pitchFamily="18" charset="0"/>
              </a:rPr>
              <a:t> Planning, </a:t>
            </a:r>
            <a:r>
              <a:rPr lang="en-US" sz="3500" b="1" dirty="0" smtClean="0">
                <a:latin typeface="Times New Roman" pitchFamily="18" charset="0"/>
                <a:cs typeface="Times New Roman" pitchFamily="18" charset="0"/>
              </a:rPr>
              <a:t>…</a:t>
            </a:r>
            <a:endParaRPr lang="en-US" sz="3500" b="1" dirty="0">
              <a:latin typeface="Times New Roman" pitchFamily="18" charset="0"/>
              <a:cs typeface="Times New Roman" pitchFamily="18" charset="0"/>
            </a:endParaRPr>
          </a:p>
          <a:p>
            <a:pPr marL="0" indent="0">
              <a:buNone/>
            </a:pPr>
            <a:endParaRPr lang="ar-YE" dirty="0"/>
          </a:p>
        </p:txBody>
      </p:sp>
      <p:sp>
        <p:nvSpPr>
          <p:cNvPr id="4" name="عنصر نائب لرقم الشريحة 3"/>
          <p:cNvSpPr>
            <a:spLocks noGrp="1"/>
          </p:cNvSpPr>
          <p:nvPr>
            <p:ph type="sldNum" sz="quarter" idx="12"/>
          </p:nvPr>
        </p:nvSpPr>
        <p:spPr/>
        <p:txBody>
          <a:bodyPr/>
          <a:lstStyle/>
          <a:p>
            <a:fld id="{64F3F0E1-6389-4DAA-B649-2ED1A0C4FA57}" type="slidenum">
              <a:rPr lang="en-US" smtClean="0"/>
              <a:pPr/>
              <a:t>21</a:t>
            </a:fld>
            <a:endParaRPr lang="en-US" dirty="0"/>
          </a:p>
        </p:txBody>
      </p:sp>
    </p:spTree>
    <p:extLst>
      <p:ext uri="{BB962C8B-B14F-4D97-AF65-F5344CB8AC3E}">
        <p14:creationId xmlns:p14="http://schemas.microsoft.com/office/powerpoint/2010/main" val="4208321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additive="base">
                                        <p:cTn id="1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 calcmode="lin" valueType="num">
                                      <p:cBhvr additive="base">
                                        <p:cTn id="2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 calcmode="lin" valueType="num">
                                      <p:cBhvr additive="base">
                                        <p:cTn id="2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099"/>
            <a:ext cx="9144000" cy="904875"/>
          </a:xfrm>
        </p:spPr>
        <p:txBody>
          <a:bodyPr>
            <a:noAutofit/>
          </a:bodyPr>
          <a:lstStyle/>
          <a:p>
            <a:pPr lvl="0"/>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b="1" dirty="0" smtClean="0">
                <a:solidFill>
                  <a:srgbClr val="FF0000"/>
                </a:solidFill>
              </a:rPr>
              <a:t> </a:t>
            </a:r>
            <a:r>
              <a:rPr lang="en-US" b="1" dirty="0" smtClean="0">
                <a:solidFill>
                  <a:srgbClr val="FF0000"/>
                </a:solidFill>
                <a:latin typeface="Times New Roman" pitchFamily="18" charset="0"/>
                <a:cs typeface="Times New Roman" pitchFamily="18" charset="0"/>
              </a:rPr>
              <a:t>2) Organizing</a:t>
            </a:r>
            <a:r>
              <a:rPr lang="en-US" b="1" dirty="0">
                <a:solidFill>
                  <a:srgbClr val="FF0000"/>
                </a:solidFill>
                <a:latin typeface="Times New Roman"/>
                <a:ea typeface="Times New Roman"/>
                <a:cs typeface="Arial"/>
              </a:rPr>
              <a:t/>
            </a:r>
            <a:br>
              <a:rPr lang="en-US" b="1" dirty="0">
                <a:solidFill>
                  <a:srgbClr val="FF0000"/>
                </a:solidFill>
                <a:latin typeface="Times New Roman"/>
                <a:ea typeface="Times New Roman"/>
                <a:cs typeface="Arial"/>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endParaRPr lang="en-US" dirty="0">
              <a:solidFill>
                <a:srgbClr val="FF0000"/>
              </a:solidFill>
            </a:endParaRPr>
          </a:p>
        </p:txBody>
      </p:sp>
      <p:sp>
        <p:nvSpPr>
          <p:cNvPr id="6" name="Slide Number Placeholder 5"/>
          <p:cNvSpPr>
            <a:spLocks noGrp="1"/>
          </p:cNvSpPr>
          <p:nvPr>
            <p:ph type="sldNum" sz="quarter" idx="12"/>
          </p:nvPr>
        </p:nvSpPr>
        <p:spPr/>
        <p:txBody>
          <a:bodyPr/>
          <a:lstStyle/>
          <a:p>
            <a:fld id="{64F3F0E1-6389-4DAA-B649-2ED1A0C4FA57}" type="slidenum">
              <a:rPr lang="en-US" smtClean="0"/>
              <a:pPr/>
              <a:t>22</a:t>
            </a:fld>
            <a:endParaRPr lang="en-US" dirty="0"/>
          </a:p>
        </p:txBody>
      </p:sp>
      <p:sp>
        <p:nvSpPr>
          <p:cNvPr id="3789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37891" name="Rectangle 3"/>
          <p:cNvSpPr>
            <a:spLocks noChangeArrowheads="1"/>
          </p:cNvSpPr>
          <p:nvPr/>
        </p:nvSpPr>
        <p:spPr bwMode="auto">
          <a:xfrm>
            <a:off x="457200" y="9429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3789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3789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37897"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378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19" name="TextBox 18"/>
          <p:cNvSpPr txBox="1"/>
          <p:nvPr/>
        </p:nvSpPr>
        <p:spPr>
          <a:xfrm>
            <a:off x="0" y="1066800"/>
            <a:ext cx="9144000" cy="5509200"/>
          </a:xfrm>
          <a:prstGeom prst="rect">
            <a:avLst/>
          </a:prstGeom>
          <a:noFill/>
        </p:spPr>
        <p:txBody>
          <a:bodyPr wrap="square" rtlCol="1">
            <a:spAutoFit/>
          </a:bodyPr>
          <a:lstStyle/>
          <a:p>
            <a:pPr marL="457200" indent="-457200" algn="just">
              <a:buFont typeface="Wingdings" pitchFamily="2" charset="2"/>
              <a:buChar char="ü"/>
            </a:pPr>
            <a:r>
              <a:rPr lang="en-US" sz="3200" b="1" dirty="0">
                <a:latin typeface="Times New Roman" pitchFamily="18" charset="0"/>
                <a:cs typeface="Times New Roman" pitchFamily="18" charset="0"/>
              </a:rPr>
              <a:t>It is the arranging several </a:t>
            </a:r>
            <a:r>
              <a:rPr lang="en-US" sz="3200" b="1" dirty="0">
                <a:latin typeface="Times New Roman" pitchFamily="18" charset="0"/>
                <a:cs typeface="Times New Roman" pitchFamily="18" charset="0"/>
                <a:hlinkClick r:id="rId3"/>
              </a:rPr>
              <a:t>elements</a:t>
            </a:r>
            <a:r>
              <a:rPr lang="en-US" sz="3200" b="1" dirty="0">
                <a:latin typeface="Times New Roman" pitchFamily="18" charset="0"/>
                <a:cs typeface="Times New Roman" pitchFamily="18" charset="0"/>
              </a:rPr>
              <a:t> into a purposeful </a:t>
            </a:r>
            <a:r>
              <a:rPr lang="en-US" sz="3200" b="1" dirty="0">
                <a:latin typeface="Times New Roman" pitchFamily="18" charset="0"/>
                <a:cs typeface="Times New Roman" pitchFamily="18" charset="0"/>
                <a:hlinkClick r:id="rId4"/>
              </a:rPr>
              <a:t>sequential</a:t>
            </a:r>
            <a:r>
              <a:rPr lang="en-US" sz="3200" b="1" dirty="0">
                <a:latin typeface="Times New Roman" pitchFamily="18" charset="0"/>
                <a:cs typeface="Times New Roman" pitchFamily="18" charset="0"/>
              </a:rPr>
              <a:t> or spatial (or both) </a:t>
            </a:r>
            <a:r>
              <a:rPr lang="en-US" sz="3200" b="1" dirty="0">
                <a:latin typeface="Times New Roman" pitchFamily="18" charset="0"/>
                <a:cs typeface="Times New Roman" pitchFamily="18" charset="0"/>
                <a:hlinkClick r:id="rId5"/>
              </a:rPr>
              <a:t>order</a:t>
            </a:r>
            <a:r>
              <a:rPr lang="en-US" sz="3200" b="1" dirty="0">
                <a:latin typeface="Times New Roman" pitchFamily="18" charset="0"/>
                <a:cs typeface="Times New Roman" pitchFamily="18" charset="0"/>
              </a:rPr>
              <a:t> or </a:t>
            </a:r>
            <a:r>
              <a:rPr lang="en-US" sz="3200" b="1" dirty="0">
                <a:latin typeface="Times New Roman" pitchFamily="18" charset="0"/>
                <a:cs typeface="Times New Roman" pitchFamily="18" charset="0"/>
                <a:hlinkClick r:id="rId6"/>
              </a:rPr>
              <a:t>structure</a:t>
            </a:r>
            <a:r>
              <a:rPr lang="en-US" sz="3200" b="1" dirty="0" smtClean="0">
                <a:latin typeface="Times New Roman" pitchFamily="18" charset="0"/>
                <a:cs typeface="Times New Roman" pitchFamily="18" charset="0"/>
              </a:rPr>
              <a:t>.</a:t>
            </a:r>
          </a:p>
          <a:p>
            <a:pPr marL="457200" indent="-457200" algn="just">
              <a:buFont typeface="Wingdings" pitchFamily="2" charset="2"/>
              <a:buChar char="ü"/>
            </a:pPr>
            <a:endParaRPr lang="en-US" sz="1600" b="1" dirty="0">
              <a:latin typeface="Times New Roman" pitchFamily="18" charset="0"/>
              <a:cs typeface="Times New Roman" pitchFamily="18" charset="0"/>
            </a:endParaRPr>
          </a:p>
          <a:p>
            <a:pPr marL="457200" indent="-457200" algn="just">
              <a:buFont typeface="Wingdings" pitchFamily="2" charset="2"/>
              <a:buChar char="ü"/>
            </a:pPr>
            <a:r>
              <a:rPr lang="en-US" sz="3200" b="1" dirty="0">
                <a:latin typeface="Times New Roman" pitchFamily="18" charset="0"/>
                <a:cs typeface="Times New Roman" pitchFamily="18" charset="0"/>
              </a:rPr>
              <a:t>It is the assembling </a:t>
            </a:r>
            <a:r>
              <a:rPr lang="en-US" sz="3200" b="1" dirty="0">
                <a:latin typeface="Times New Roman" pitchFamily="18" charset="0"/>
                <a:cs typeface="Times New Roman" pitchFamily="18" charset="0"/>
                <a:hlinkClick r:id="rId7"/>
              </a:rPr>
              <a:t>required</a:t>
            </a:r>
            <a:r>
              <a:rPr lang="en-US" sz="3200" b="1" dirty="0">
                <a:latin typeface="Times New Roman" pitchFamily="18" charset="0"/>
                <a:cs typeface="Times New Roman" pitchFamily="18" charset="0"/>
              </a:rPr>
              <a:t> </a:t>
            </a:r>
            <a:r>
              <a:rPr lang="en-US" sz="3200" b="1" dirty="0">
                <a:latin typeface="Times New Roman" pitchFamily="18" charset="0"/>
                <a:cs typeface="Times New Roman" pitchFamily="18" charset="0"/>
                <a:hlinkClick r:id="rId8"/>
              </a:rPr>
              <a:t>resources</a:t>
            </a:r>
            <a:r>
              <a:rPr lang="en-US" sz="3200" b="1" dirty="0">
                <a:latin typeface="Times New Roman" pitchFamily="18" charset="0"/>
                <a:cs typeface="Times New Roman" pitchFamily="18" charset="0"/>
              </a:rPr>
              <a:t> to attain </a:t>
            </a:r>
            <a:r>
              <a:rPr lang="en-US" sz="3200" b="1" dirty="0">
                <a:latin typeface="Times New Roman" pitchFamily="18" charset="0"/>
                <a:cs typeface="Times New Roman" pitchFamily="18" charset="0"/>
                <a:hlinkClick r:id="rId9"/>
              </a:rPr>
              <a:t>organizational</a:t>
            </a:r>
            <a:r>
              <a:rPr lang="en-US" sz="3200" b="1" dirty="0">
                <a:latin typeface="Times New Roman" pitchFamily="18" charset="0"/>
                <a:cs typeface="Times New Roman" pitchFamily="18" charset="0"/>
              </a:rPr>
              <a:t> </a:t>
            </a:r>
            <a:r>
              <a:rPr lang="en-US" sz="3200" b="1" dirty="0">
                <a:latin typeface="Times New Roman" pitchFamily="18" charset="0"/>
                <a:cs typeface="Times New Roman" pitchFamily="18" charset="0"/>
                <a:hlinkClick r:id="rId10"/>
              </a:rPr>
              <a:t>objectives</a:t>
            </a:r>
            <a:r>
              <a:rPr lang="en-US" sz="3200" b="1" dirty="0" smtClean="0">
                <a:latin typeface="Times New Roman" pitchFamily="18" charset="0"/>
                <a:cs typeface="Times New Roman" pitchFamily="18" charset="0"/>
              </a:rPr>
              <a:t>.</a:t>
            </a:r>
          </a:p>
          <a:p>
            <a:pPr marL="457200" indent="-457200" algn="just">
              <a:buFont typeface="Wingdings" pitchFamily="2" charset="2"/>
              <a:buChar char="ü"/>
            </a:pPr>
            <a:endParaRPr lang="en-US" sz="1600" b="1" dirty="0">
              <a:latin typeface="Times New Roman" pitchFamily="18" charset="0"/>
              <a:cs typeface="Times New Roman" pitchFamily="18" charset="0"/>
            </a:endParaRPr>
          </a:p>
          <a:p>
            <a:pPr marL="457200" indent="-457200" algn="just">
              <a:buFont typeface="Wingdings" pitchFamily="2" charset="2"/>
              <a:buChar char="ü"/>
            </a:pPr>
            <a:r>
              <a:rPr lang="en-US" sz="3200" b="1" dirty="0">
                <a:latin typeface="Times New Roman" pitchFamily="18" charset="0"/>
                <a:cs typeface="Times New Roman" pitchFamily="18" charset="0"/>
              </a:rPr>
              <a:t>It is The process of determining the responsibilities and scope of authority of each position in the company structure and defining how each company segment interrelates with the </a:t>
            </a:r>
            <a:r>
              <a:rPr lang="en-US" sz="3200" b="1" dirty="0" smtClean="0">
                <a:latin typeface="Times New Roman" pitchFamily="18" charset="0"/>
                <a:cs typeface="Times New Roman" pitchFamily="18" charset="0"/>
              </a:rPr>
              <a:t>others.</a:t>
            </a:r>
            <a:endParaRPr lang="en-US" sz="3200" b="1" dirty="0">
              <a:latin typeface="Times New Roman" pitchFamily="18" charset="0"/>
              <a:cs typeface="Times New Roman" pitchFamily="18" charset="0"/>
            </a:endParaRPr>
          </a:p>
        </p:txBody>
      </p:sp>
      <p:sp>
        <p:nvSpPr>
          <p:cNvPr id="3584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35843" name="Rectangle 3"/>
          <p:cNvSpPr>
            <a:spLocks noChangeArrowheads="1"/>
          </p:cNvSpPr>
          <p:nvPr/>
        </p:nvSpPr>
        <p:spPr bwMode="auto">
          <a:xfrm>
            <a:off x="0" y="8953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35845"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35846" name="Rectangle 6"/>
          <p:cNvSpPr>
            <a:spLocks noChangeArrowheads="1"/>
          </p:cNvSpPr>
          <p:nvPr/>
        </p:nvSpPr>
        <p:spPr bwMode="auto">
          <a:xfrm>
            <a:off x="0" y="8858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740656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 calcmode="lin" valueType="num">
                                      <p:cBhvr additive="base">
                                        <p:cTn id="7"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animEffect transition="in" filter="fade">
                                      <p:cBhvr>
                                        <p:cTn id="13" dur="1000"/>
                                        <p:tgtEl>
                                          <p:spTgt spid="19">
                                            <p:txEl>
                                              <p:pRg st="2" end="2"/>
                                            </p:txEl>
                                          </p:spTgt>
                                        </p:tgtEl>
                                      </p:cBhvr>
                                    </p:animEffect>
                                    <p:anim calcmode="lin" valueType="num">
                                      <p:cBhvr>
                                        <p:cTn id="14" dur="10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9">
                                            <p:txEl>
                                              <p:pRg st="4" end="4"/>
                                            </p:txEl>
                                          </p:spTgt>
                                        </p:tgtEl>
                                        <p:attrNameLst>
                                          <p:attrName>style.visibility</p:attrName>
                                        </p:attrNameLst>
                                      </p:cBhvr>
                                      <p:to>
                                        <p:strVal val="visible"/>
                                      </p:to>
                                    </p:set>
                                    <p:anim calcmode="lin" valueType="num">
                                      <p:cBhvr additive="base">
                                        <p:cTn id="20" dur="500" fill="hold"/>
                                        <p:tgtEl>
                                          <p:spTgt spid="19">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0" y="274638"/>
            <a:ext cx="9144000" cy="868362"/>
          </a:xfrm>
        </p:spPr>
        <p:txBody>
          <a:bodyPr>
            <a:normAutofit/>
          </a:bodyPr>
          <a:lstStyle/>
          <a:p>
            <a:r>
              <a:rPr lang="en-US" b="1" dirty="0">
                <a:solidFill>
                  <a:srgbClr val="FF0000"/>
                </a:solidFill>
              </a:rPr>
              <a:t> </a:t>
            </a:r>
            <a:r>
              <a:rPr lang="en-US" b="1" dirty="0">
                <a:solidFill>
                  <a:srgbClr val="FF0000"/>
                </a:solidFill>
                <a:latin typeface="Times New Roman" pitchFamily="18" charset="0"/>
                <a:cs typeface="Times New Roman" pitchFamily="18" charset="0"/>
              </a:rPr>
              <a:t>2) Organizing</a:t>
            </a:r>
            <a:endParaRPr lang="ar-YE" dirty="0">
              <a:solidFill>
                <a:srgbClr val="FF0000"/>
              </a:solidFill>
            </a:endParaRPr>
          </a:p>
        </p:txBody>
      </p:sp>
      <p:sp>
        <p:nvSpPr>
          <p:cNvPr id="3" name="عنصر نائب للمحتوى 2"/>
          <p:cNvSpPr>
            <a:spLocks noGrp="1"/>
          </p:cNvSpPr>
          <p:nvPr>
            <p:ph idx="1"/>
          </p:nvPr>
        </p:nvSpPr>
        <p:spPr>
          <a:xfrm>
            <a:off x="0" y="1295400"/>
            <a:ext cx="9144000" cy="5562600"/>
          </a:xfrm>
        </p:spPr>
        <p:txBody>
          <a:bodyPr>
            <a:normAutofit/>
          </a:bodyPr>
          <a:lstStyle/>
          <a:p>
            <a:pPr>
              <a:buFont typeface="Wingdings" pitchFamily="2" charset="2"/>
              <a:buChar char="Ø"/>
            </a:pPr>
            <a:r>
              <a:rPr lang="en-US" sz="3600" b="1" dirty="0">
                <a:solidFill>
                  <a:srgbClr val="990099"/>
                </a:solidFill>
                <a:latin typeface="Times New Roman" pitchFamily="18" charset="0"/>
                <a:cs typeface="Times New Roman" pitchFamily="18" charset="0"/>
              </a:rPr>
              <a:t>Organizing as a process involves</a:t>
            </a:r>
            <a:r>
              <a:rPr lang="en-US" sz="3600" b="1" dirty="0" smtClean="0">
                <a:solidFill>
                  <a:srgbClr val="990099"/>
                </a:solidFill>
                <a:latin typeface="Times New Roman" pitchFamily="18" charset="0"/>
                <a:cs typeface="Times New Roman" pitchFamily="18" charset="0"/>
              </a:rPr>
              <a:t>:</a:t>
            </a:r>
          </a:p>
          <a:p>
            <a:pPr>
              <a:buFont typeface="Wingdings" pitchFamily="2" charset="2"/>
              <a:buChar char="Ø"/>
            </a:pPr>
            <a:endParaRPr lang="en-US" sz="1400" b="1" dirty="0">
              <a:solidFill>
                <a:srgbClr val="990099"/>
              </a:solidFill>
              <a:latin typeface="Times New Roman" pitchFamily="18" charset="0"/>
              <a:cs typeface="Times New Roman" pitchFamily="18" charset="0"/>
            </a:endParaRPr>
          </a:p>
          <a:p>
            <a:pPr marL="514350" indent="-514350" algn="just">
              <a:buFont typeface="+mj-lt"/>
              <a:buAutoNum type="arabicPeriod"/>
            </a:pPr>
            <a:r>
              <a:rPr lang="en-US" b="1" dirty="0" smtClean="0">
                <a:latin typeface="Times New Roman" pitchFamily="18" charset="0"/>
                <a:cs typeface="Times New Roman" pitchFamily="18" charset="0"/>
              </a:rPr>
              <a:t>Identification </a:t>
            </a:r>
            <a:r>
              <a:rPr lang="en-US" b="1" dirty="0">
                <a:latin typeface="Times New Roman" pitchFamily="18" charset="0"/>
                <a:cs typeface="Times New Roman" pitchFamily="18" charset="0"/>
              </a:rPr>
              <a:t>of activities</a:t>
            </a:r>
            <a:r>
              <a:rPr lang="en-US" b="1" dirty="0" smtClean="0">
                <a:latin typeface="Times New Roman" pitchFamily="18" charset="0"/>
                <a:cs typeface="Times New Roman" pitchFamily="18" charset="0"/>
              </a:rPr>
              <a:t>.</a:t>
            </a:r>
          </a:p>
          <a:p>
            <a:pPr marL="514350" indent="-514350" algn="just">
              <a:buFont typeface="+mj-lt"/>
              <a:buAutoNum type="arabicPeriod"/>
            </a:pPr>
            <a:endParaRPr lang="en-US" sz="900" b="1" dirty="0">
              <a:latin typeface="Times New Roman" pitchFamily="18" charset="0"/>
              <a:cs typeface="Times New Roman" pitchFamily="18" charset="0"/>
            </a:endParaRPr>
          </a:p>
          <a:p>
            <a:pPr marL="514350" indent="-514350" algn="just">
              <a:buFont typeface="+mj-lt"/>
              <a:buAutoNum type="arabicPeriod"/>
            </a:pPr>
            <a:r>
              <a:rPr lang="en-US" b="1" dirty="0" smtClean="0">
                <a:latin typeface="Times New Roman" pitchFamily="18" charset="0"/>
                <a:cs typeface="Times New Roman" pitchFamily="18" charset="0"/>
              </a:rPr>
              <a:t>Classification </a:t>
            </a:r>
            <a:r>
              <a:rPr lang="en-US" b="1" dirty="0">
                <a:latin typeface="Times New Roman" pitchFamily="18" charset="0"/>
                <a:cs typeface="Times New Roman" pitchFamily="18" charset="0"/>
              </a:rPr>
              <a:t>of grouping of activities</a:t>
            </a:r>
            <a:r>
              <a:rPr lang="en-US" b="1" dirty="0" smtClean="0">
                <a:latin typeface="Times New Roman" pitchFamily="18" charset="0"/>
                <a:cs typeface="Times New Roman" pitchFamily="18" charset="0"/>
              </a:rPr>
              <a:t>.</a:t>
            </a:r>
          </a:p>
          <a:p>
            <a:pPr marL="514350" indent="-514350" algn="just">
              <a:buFont typeface="+mj-lt"/>
              <a:buAutoNum type="arabicPeriod"/>
            </a:pPr>
            <a:endParaRPr lang="en-US" sz="900" b="1" dirty="0">
              <a:latin typeface="Times New Roman" pitchFamily="18" charset="0"/>
              <a:cs typeface="Times New Roman" pitchFamily="18" charset="0"/>
            </a:endParaRPr>
          </a:p>
          <a:p>
            <a:pPr marL="514350" indent="-514350" algn="just">
              <a:buFont typeface="+mj-lt"/>
              <a:buAutoNum type="arabicPeriod"/>
            </a:pPr>
            <a:r>
              <a:rPr lang="en-US" b="1" dirty="0" smtClean="0">
                <a:latin typeface="Times New Roman" pitchFamily="18" charset="0"/>
                <a:cs typeface="Times New Roman" pitchFamily="18" charset="0"/>
              </a:rPr>
              <a:t>Assignment </a:t>
            </a:r>
            <a:r>
              <a:rPr lang="en-US" b="1" dirty="0">
                <a:latin typeface="Times New Roman" pitchFamily="18" charset="0"/>
                <a:cs typeface="Times New Roman" pitchFamily="18" charset="0"/>
              </a:rPr>
              <a:t>of duties</a:t>
            </a:r>
            <a:r>
              <a:rPr lang="en-US" b="1" dirty="0" smtClean="0">
                <a:latin typeface="Times New Roman" pitchFamily="18" charset="0"/>
                <a:cs typeface="Times New Roman" pitchFamily="18" charset="0"/>
              </a:rPr>
              <a:t>.</a:t>
            </a:r>
          </a:p>
          <a:p>
            <a:pPr marL="514350" indent="-514350" algn="just">
              <a:buFont typeface="+mj-lt"/>
              <a:buAutoNum type="arabicPeriod"/>
            </a:pPr>
            <a:endParaRPr lang="en-US" sz="900" b="1" dirty="0">
              <a:latin typeface="Times New Roman" pitchFamily="18" charset="0"/>
              <a:cs typeface="Times New Roman" pitchFamily="18" charset="0"/>
            </a:endParaRPr>
          </a:p>
          <a:p>
            <a:pPr marL="514350" indent="-514350" algn="just">
              <a:buFont typeface="+mj-lt"/>
              <a:buAutoNum type="arabicPeriod"/>
            </a:pPr>
            <a:r>
              <a:rPr lang="en-US" b="1" dirty="0" smtClean="0">
                <a:latin typeface="Times New Roman" pitchFamily="18" charset="0"/>
                <a:cs typeface="Times New Roman" pitchFamily="18" charset="0"/>
              </a:rPr>
              <a:t>Delegation </a:t>
            </a:r>
            <a:r>
              <a:rPr lang="en-US" b="1" dirty="0">
                <a:latin typeface="Times New Roman" pitchFamily="18" charset="0"/>
                <a:cs typeface="Times New Roman" pitchFamily="18" charset="0"/>
              </a:rPr>
              <a:t>of authority and creation of responsibility</a:t>
            </a:r>
            <a:r>
              <a:rPr lang="en-US" b="1" dirty="0" smtClean="0">
                <a:latin typeface="Times New Roman" pitchFamily="18" charset="0"/>
                <a:cs typeface="Times New Roman" pitchFamily="18" charset="0"/>
              </a:rPr>
              <a:t>.</a:t>
            </a:r>
          </a:p>
          <a:p>
            <a:pPr marL="514350" indent="-514350" algn="just">
              <a:buFont typeface="+mj-lt"/>
              <a:buAutoNum type="arabicPeriod"/>
            </a:pPr>
            <a:endParaRPr lang="en-US" sz="800" b="1" dirty="0">
              <a:latin typeface="Times New Roman" pitchFamily="18" charset="0"/>
              <a:cs typeface="Times New Roman" pitchFamily="18" charset="0"/>
            </a:endParaRPr>
          </a:p>
          <a:p>
            <a:pPr marL="514350" indent="-514350" algn="just">
              <a:buFont typeface="+mj-lt"/>
              <a:buAutoNum type="arabicPeriod"/>
            </a:pPr>
            <a:r>
              <a:rPr lang="en-US" b="1" dirty="0" smtClean="0">
                <a:latin typeface="Times New Roman" pitchFamily="18" charset="0"/>
                <a:cs typeface="Times New Roman" pitchFamily="18" charset="0"/>
              </a:rPr>
              <a:t>Coordinating </a:t>
            </a:r>
            <a:r>
              <a:rPr lang="en-US" b="1" dirty="0">
                <a:latin typeface="Times New Roman" pitchFamily="18" charset="0"/>
                <a:cs typeface="Times New Roman" pitchFamily="18" charset="0"/>
              </a:rPr>
              <a:t>authority and responsibility relationships.</a:t>
            </a:r>
            <a:endParaRPr lang="ar-YE" b="1" dirty="0">
              <a:latin typeface="Times New Roman" pitchFamily="18" charset="0"/>
              <a:cs typeface="Times New Roman" pitchFamily="18" charset="0"/>
            </a:endParaRPr>
          </a:p>
        </p:txBody>
      </p:sp>
      <p:sp>
        <p:nvSpPr>
          <p:cNvPr id="4" name="عنصر نائب لرقم الشريحة 3"/>
          <p:cNvSpPr>
            <a:spLocks noGrp="1"/>
          </p:cNvSpPr>
          <p:nvPr>
            <p:ph type="sldNum" sz="quarter" idx="12"/>
          </p:nvPr>
        </p:nvSpPr>
        <p:spPr/>
        <p:txBody>
          <a:bodyPr/>
          <a:lstStyle/>
          <a:p>
            <a:fld id="{64F3F0E1-6389-4DAA-B649-2ED1A0C4FA57}" type="slidenum">
              <a:rPr lang="en-US" smtClean="0"/>
              <a:pPr/>
              <a:t>23</a:t>
            </a:fld>
            <a:endParaRPr lang="en-US" dirty="0"/>
          </a:p>
        </p:txBody>
      </p:sp>
    </p:spTree>
    <p:extLst>
      <p:ext uri="{BB962C8B-B14F-4D97-AF65-F5344CB8AC3E}">
        <p14:creationId xmlns:p14="http://schemas.microsoft.com/office/powerpoint/2010/main" val="2876288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additive="base">
                                        <p:cTn id="1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 calcmode="lin" valueType="num">
                                      <p:cBhvr additive="base">
                                        <p:cTn id="2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1000"/>
                                        <p:tgtEl>
                                          <p:spTgt spid="3">
                                            <p:txEl>
                                              <p:pRg st="6" end="6"/>
                                            </p:txEl>
                                          </p:spTgt>
                                        </p:tgtEl>
                                      </p:cBhvr>
                                    </p:animEffect>
                                    <p:anim calcmode="lin" valueType="num">
                                      <p:cBhvr>
                                        <p:cTn id="2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 calcmode="lin" valueType="num">
                                      <p:cBhvr additive="base">
                                        <p:cTn id="3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 calcmode="lin" valueType="num">
                                      <p:cBhvr additive="base">
                                        <p:cTn id="3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721320"/>
          </a:xfrm>
        </p:spPr>
        <p:txBody>
          <a:bodyPr>
            <a:noAutofit/>
          </a:bodyPr>
          <a:lstStyle/>
          <a:p>
            <a:pPr lvl="0"/>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b="1" dirty="0" smtClean="0">
                <a:solidFill>
                  <a:srgbClr val="FF0000"/>
                </a:solidFill>
              </a:rPr>
              <a:t> </a:t>
            </a:r>
            <a:r>
              <a:rPr lang="en-US" b="1" dirty="0" smtClean="0">
                <a:solidFill>
                  <a:srgbClr val="FF0000"/>
                </a:solidFill>
                <a:latin typeface="Times New Roman" pitchFamily="18" charset="0"/>
                <a:cs typeface="Times New Roman" pitchFamily="18" charset="0"/>
              </a:rPr>
              <a:t>3) </a:t>
            </a:r>
            <a:r>
              <a:rPr lang="en-US" b="1" dirty="0">
                <a:solidFill>
                  <a:srgbClr val="FF0000"/>
                </a:solidFill>
                <a:latin typeface="Times New Roman" pitchFamily="18" charset="0"/>
                <a:cs typeface="Times New Roman" pitchFamily="18" charset="0"/>
              </a:rPr>
              <a:t>Coordinating / </a:t>
            </a:r>
            <a:r>
              <a:rPr lang="en-US" b="1" dirty="0" smtClean="0">
                <a:solidFill>
                  <a:srgbClr val="FF0000"/>
                </a:solidFill>
                <a:latin typeface="Times New Roman" pitchFamily="18" charset="0"/>
                <a:cs typeface="Times New Roman" pitchFamily="18" charset="0"/>
              </a:rPr>
              <a:t>Directing</a:t>
            </a:r>
            <a:r>
              <a:rPr lang="en-US" b="1" dirty="0">
                <a:solidFill>
                  <a:srgbClr val="FF0000"/>
                </a:solidFill>
                <a:latin typeface="Times New Roman"/>
                <a:ea typeface="Times New Roman"/>
                <a:cs typeface="Arial"/>
              </a:rPr>
              <a:t/>
            </a:r>
            <a:br>
              <a:rPr lang="en-US" b="1" dirty="0">
                <a:solidFill>
                  <a:srgbClr val="FF0000"/>
                </a:solidFill>
                <a:latin typeface="Times New Roman"/>
                <a:ea typeface="Times New Roman"/>
                <a:cs typeface="Arial"/>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endParaRPr lang="en-US" dirty="0">
              <a:solidFill>
                <a:srgbClr val="FF0000"/>
              </a:solidFill>
            </a:endParaRPr>
          </a:p>
        </p:txBody>
      </p:sp>
      <p:sp>
        <p:nvSpPr>
          <p:cNvPr id="6" name="Slide Number Placeholder 5"/>
          <p:cNvSpPr>
            <a:spLocks noGrp="1"/>
          </p:cNvSpPr>
          <p:nvPr>
            <p:ph type="sldNum" sz="quarter" idx="12"/>
          </p:nvPr>
        </p:nvSpPr>
        <p:spPr/>
        <p:txBody>
          <a:bodyPr/>
          <a:lstStyle/>
          <a:p>
            <a:fld id="{64F3F0E1-6389-4DAA-B649-2ED1A0C4FA57}" type="slidenum">
              <a:rPr lang="en-US" smtClean="0"/>
              <a:pPr/>
              <a:t>24</a:t>
            </a:fld>
            <a:endParaRPr lang="en-US" dirty="0"/>
          </a:p>
        </p:txBody>
      </p:sp>
      <p:sp>
        <p:nvSpPr>
          <p:cNvPr id="7" name="TextBox 6"/>
          <p:cNvSpPr txBox="1"/>
          <p:nvPr/>
        </p:nvSpPr>
        <p:spPr>
          <a:xfrm>
            <a:off x="0" y="1371600"/>
            <a:ext cx="9144000" cy="4493538"/>
          </a:xfrm>
          <a:prstGeom prst="rect">
            <a:avLst/>
          </a:prstGeom>
          <a:noFill/>
        </p:spPr>
        <p:txBody>
          <a:bodyPr wrap="square" rtlCol="1">
            <a:spAutoFit/>
          </a:bodyPr>
          <a:lstStyle/>
          <a:p>
            <a:pPr marL="457200" indent="-457200" algn="just">
              <a:buFont typeface="Wingdings" pitchFamily="2" charset="2"/>
              <a:buChar char="Ø"/>
            </a:pPr>
            <a:r>
              <a:rPr lang="en-US" sz="3200" b="1" dirty="0">
                <a:latin typeface="Times New Roman" pitchFamily="18" charset="0"/>
                <a:cs typeface="Times New Roman" pitchFamily="18" charset="0"/>
              </a:rPr>
              <a:t>The </a:t>
            </a:r>
            <a:r>
              <a:rPr lang="en-US" sz="3200" b="1" dirty="0">
                <a:latin typeface="Times New Roman" pitchFamily="18" charset="0"/>
                <a:cs typeface="Times New Roman" pitchFamily="18" charset="0"/>
                <a:hlinkClick r:id="rId3"/>
              </a:rPr>
              <a:t>synchronization</a:t>
            </a:r>
            <a:r>
              <a:rPr lang="en-US" sz="3200" b="1" dirty="0">
                <a:latin typeface="Times New Roman" pitchFamily="18" charset="0"/>
                <a:cs typeface="Times New Roman" pitchFamily="18" charset="0"/>
              </a:rPr>
              <a:t> and </a:t>
            </a:r>
            <a:r>
              <a:rPr lang="en-US" sz="3200" b="1" dirty="0">
                <a:latin typeface="Times New Roman" pitchFamily="18" charset="0"/>
                <a:cs typeface="Times New Roman" pitchFamily="18" charset="0"/>
                <a:hlinkClick r:id="rId4"/>
              </a:rPr>
              <a:t>integration</a:t>
            </a:r>
            <a:r>
              <a:rPr lang="en-US" sz="3200" b="1" dirty="0">
                <a:latin typeface="Times New Roman" pitchFamily="18" charset="0"/>
                <a:cs typeface="Times New Roman" pitchFamily="18" charset="0"/>
              </a:rPr>
              <a:t> of </a:t>
            </a:r>
            <a:r>
              <a:rPr lang="en-US" sz="3200" b="1" dirty="0">
                <a:latin typeface="Times New Roman" pitchFamily="18" charset="0"/>
                <a:cs typeface="Times New Roman" pitchFamily="18" charset="0"/>
                <a:hlinkClick r:id="rId5"/>
              </a:rPr>
              <a:t>activities</a:t>
            </a:r>
            <a:r>
              <a:rPr lang="en-US" sz="3200" b="1" dirty="0">
                <a:latin typeface="Times New Roman" pitchFamily="18" charset="0"/>
                <a:cs typeface="Times New Roman" pitchFamily="18" charset="0"/>
              </a:rPr>
              <a:t>, </a:t>
            </a:r>
            <a:r>
              <a:rPr lang="en-US" sz="3200" b="1" dirty="0">
                <a:latin typeface="Times New Roman" pitchFamily="18" charset="0"/>
                <a:cs typeface="Times New Roman" pitchFamily="18" charset="0"/>
                <a:hlinkClick r:id="rId6"/>
              </a:rPr>
              <a:t>responsibilities</a:t>
            </a:r>
            <a:r>
              <a:rPr lang="en-US" sz="3200" b="1" dirty="0">
                <a:latin typeface="Times New Roman" pitchFamily="18" charset="0"/>
                <a:cs typeface="Times New Roman" pitchFamily="18" charset="0"/>
              </a:rPr>
              <a:t>, and command and </a:t>
            </a:r>
            <a:r>
              <a:rPr lang="en-US" sz="3200" b="1" dirty="0">
                <a:latin typeface="Times New Roman" pitchFamily="18" charset="0"/>
                <a:cs typeface="Times New Roman" pitchFamily="18" charset="0"/>
                <a:hlinkClick r:id="rId7"/>
              </a:rPr>
              <a:t>control</a:t>
            </a:r>
            <a:r>
              <a:rPr lang="en-US" sz="3200" b="1" dirty="0">
                <a:latin typeface="Times New Roman" pitchFamily="18" charset="0"/>
                <a:cs typeface="Times New Roman" pitchFamily="18" charset="0"/>
              </a:rPr>
              <a:t> </a:t>
            </a:r>
            <a:r>
              <a:rPr lang="en-US" sz="3200" b="1" dirty="0">
                <a:latin typeface="Times New Roman" pitchFamily="18" charset="0"/>
                <a:cs typeface="Times New Roman" pitchFamily="18" charset="0"/>
                <a:hlinkClick r:id="rId8"/>
              </a:rPr>
              <a:t>structures</a:t>
            </a:r>
            <a:r>
              <a:rPr lang="en-US" sz="3200" b="1" dirty="0">
                <a:latin typeface="Times New Roman" pitchFamily="18" charset="0"/>
                <a:cs typeface="Times New Roman" pitchFamily="18" charset="0"/>
              </a:rPr>
              <a:t> to </a:t>
            </a:r>
            <a:r>
              <a:rPr lang="en-US" sz="3200" b="1" dirty="0">
                <a:latin typeface="Times New Roman" pitchFamily="18" charset="0"/>
                <a:cs typeface="Times New Roman" pitchFamily="18" charset="0"/>
                <a:hlinkClick r:id="rId9"/>
              </a:rPr>
              <a:t>ensure</a:t>
            </a:r>
            <a:r>
              <a:rPr lang="en-US" sz="3200" b="1" dirty="0">
                <a:latin typeface="Times New Roman" pitchFamily="18" charset="0"/>
                <a:cs typeface="Times New Roman" pitchFamily="18" charset="0"/>
              </a:rPr>
              <a:t> that the </a:t>
            </a:r>
            <a:r>
              <a:rPr lang="en-US" sz="3200" b="1" dirty="0">
                <a:latin typeface="Times New Roman" pitchFamily="18" charset="0"/>
                <a:cs typeface="Times New Roman" pitchFamily="18" charset="0"/>
                <a:hlinkClick r:id="rId10"/>
              </a:rPr>
              <a:t>resources</a:t>
            </a:r>
            <a:r>
              <a:rPr lang="en-US" sz="3200" b="1" dirty="0">
                <a:latin typeface="Times New Roman" pitchFamily="18" charset="0"/>
                <a:cs typeface="Times New Roman" pitchFamily="18" charset="0"/>
              </a:rPr>
              <a:t> of an </a:t>
            </a:r>
            <a:r>
              <a:rPr lang="en-US" sz="3200" b="1" dirty="0">
                <a:latin typeface="Times New Roman" pitchFamily="18" charset="0"/>
                <a:cs typeface="Times New Roman" pitchFamily="18" charset="0"/>
                <a:hlinkClick r:id="rId11"/>
              </a:rPr>
              <a:t>organization</a:t>
            </a:r>
            <a:r>
              <a:rPr lang="en-US" sz="3200" b="1" dirty="0">
                <a:latin typeface="Times New Roman" pitchFamily="18" charset="0"/>
                <a:cs typeface="Times New Roman" pitchFamily="18" charset="0"/>
              </a:rPr>
              <a:t> are used most </a:t>
            </a:r>
            <a:r>
              <a:rPr lang="en-US" sz="3200" b="1" dirty="0">
                <a:latin typeface="Times New Roman" pitchFamily="18" charset="0"/>
                <a:cs typeface="Times New Roman" pitchFamily="18" charset="0"/>
                <a:hlinkClick r:id="rId12"/>
              </a:rPr>
              <a:t>efficiently</a:t>
            </a:r>
            <a:r>
              <a:rPr lang="en-US" sz="3200" b="1" dirty="0">
                <a:latin typeface="Times New Roman" pitchFamily="18" charset="0"/>
                <a:cs typeface="Times New Roman" pitchFamily="18" charset="0"/>
              </a:rPr>
              <a:t> in pursuit of the specified </a:t>
            </a:r>
            <a:r>
              <a:rPr lang="en-US" sz="3200" b="1" dirty="0">
                <a:latin typeface="Times New Roman" pitchFamily="18" charset="0"/>
                <a:cs typeface="Times New Roman" pitchFamily="18" charset="0"/>
                <a:hlinkClick r:id="rId13"/>
              </a:rPr>
              <a:t>objectives</a:t>
            </a:r>
            <a:r>
              <a:rPr lang="en-US" sz="3200" b="1" dirty="0" smtClean="0">
                <a:latin typeface="Times New Roman" pitchFamily="18" charset="0"/>
                <a:cs typeface="Times New Roman" pitchFamily="18" charset="0"/>
              </a:rPr>
              <a:t>.</a:t>
            </a:r>
          </a:p>
          <a:p>
            <a:pPr marL="457200" indent="-457200" algn="just">
              <a:buFont typeface="Wingdings" pitchFamily="2" charset="2"/>
              <a:buChar char="Ø"/>
            </a:pPr>
            <a:endParaRPr lang="en-US" sz="1000" b="1" dirty="0">
              <a:latin typeface="Times New Roman" pitchFamily="18" charset="0"/>
              <a:cs typeface="Times New Roman" pitchFamily="18" charset="0"/>
            </a:endParaRPr>
          </a:p>
          <a:p>
            <a:pPr marL="457200" indent="-457200" algn="just">
              <a:buFont typeface="Wingdings" pitchFamily="2" charset="2"/>
              <a:buChar char="Ø"/>
            </a:pPr>
            <a:r>
              <a:rPr lang="en-US" sz="3200" b="1" dirty="0" smtClean="0">
                <a:latin typeface="Times New Roman" pitchFamily="18" charset="0"/>
                <a:cs typeface="Times New Roman" pitchFamily="18" charset="0"/>
              </a:rPr>
              <a:t>Along </a:t>
            </a:r>
            <a:r>
              <a:rPr lang="en-US" sz="3200" b="1" dirty="0">
                <a:latin typeface="Times New Roman" pitchFamily="18" charset="0"/>
                <a:cs typeface="Times New Roman" pitchFamily="18" charset="0"/>
              </a:rPr>
              <a:t>with </a:t>
            </a:r>
            <a:r>
              <a:rPr lang="en-US" sz="3200" b="1" dirty="0">
                <a:latin typeface="Times New Roman" pitchFamily="18" charset="0"/>
                <a:cs typeface="Times New Roman" pitchFamily="18" charset="0"/>
                <a:hlinkClick r:id="rId14"/>
              </a:rPr>
              <a:t>organizing</a:t>
            </a:r>
            <a:r>
              <a:rPr lang="en-US" sz="3200" b="1" dirty="0">
                <a:latin typeface="Times New Roman" pitchFamily="18" charset="0"/>
                <a:cs typeface="Times New Roman" pitchFamily="18" charset="0"/>
              </a:rPr>
              <a:t>, </a:t>
            </a:r>
            <a:r>
              <a:rPr lang="en-US" sz="3200" b="1" dirty="0">
                <a:latin typeface="Times New Roman" pitchFamily="18" charset="0"/>
                <a:cs typeface="Times New Roman" pitchFamily="18" charset="0"/>
                <a:hlinkClick r:id="rId15"/>
              </a:rPr>
              <a:t>monitoring</a:t>
            </a:r>
            <a:r>
              <a:rPr lang="en-US" sz="3200" b="1" dirty="0">
                <a:latin typeface="Times New Roman" pitchFamily="18" charset="0"/>
                <a:cs typeface="Times New Roman" pitchFamily="18" charset="0"/>
              </a:rPr>
              <a:t>, and </a:t>
            </a:r>
            <a:r>
              <a:rPr lang="en-US" sz="3200" b="1" dirty="0">
                <a:latin typeface="Times New Roman" pitchFamily="18" charset="0"/>
                <a:cs typeface="Times New Roman" pitchFamily="18" charset="0"/>
                <a:hlinkClick r:id="rId16"/>
              </a:rPr>
              <a:t>controlling</a:t>
            </a:r>
            <a:r>
              <a:rPr lang="en-US" sz="3200" b="1" dirty="0">
                <a:latin typeface="Times New Roman" pitchFamily="18" charset="0"/>
                <a:cs typeface="Times New Roman" pitchFamily="18" charset="0"/>
              </a:rPr>
              <a:t>, coordinating is one of the </a:t>
            </a:r>
            <a:r>
              <a:rPr lang="en-US" sz="3200" b="1" dirty="0">
                <a:latin typeface="Times New Roman" pitchFamily="18" charset="0"/>
                <a:cs typeface="Times New Roman" pitchFamily="18" charset="0"/>
                <a:hlinkClick r:id="rId17"/>
              </a:rPr>
              <a:t>key</a:t>
            </a:r>
            <a:r>
              <a:rPr lang="en-US" sz="3200" b="1" dirty="0">
                <a:latin typeface="Times New Roman" pitchFamily="18" charset="0"/>
                <a:cs typeface="Times New Roman" pitchFamily="18" charset="0"/>
              </a:rPr>
              <a:t> </a:t>
            </a:r>
            <a:r>
              <a:rPr lang="en-US" sz="3200" b="1" dirty="0">
                <a:latin typeface="Times New Roman" pitchFamily="18" charset="0"/>
                <a:cs typeface="Times New Roman" pitchFamily="18" charset="0"/>
                <a:hlinkClick r:id="rId18"/>
              </a:rPr>
              <a:t>functions</a:t>
            </a:r>
            <a:r>
              <a:rPr lang="en-US" sz="3200" b="1" dirty="0">
                <a:latin typeface="Times New Roman" pitchFamily="18" charset="0"/>
                <a:cs typeface="Times New Roman" pitchFamily="18" charset="0"/>
              </a:rPr>
              <a:t> of </a:t>
            </a:r>
            <a:r>
              <a:rPr lang="en-US" sz="3200" b="1" dirty="0">
                <a:latin typeface="Times New Roman" pitchFamily="18" charset="0"/>
                <a:cs typeface="Times New Roman" pitchFamily="18" charset="0"/>
                <a:hlinkClick r:id="rId19"/>
              </a:rPr>
              <a:t>management</a:t>
            </a:r>
            <a:r>
              <a:rPr lang="en-US" sz="3200" b="1" dirty="0">
                <a:latin typeface="Times New Roman" pitchFamily="18" charset="0"/>
                <a:cs typeface="Times New Roman" pitchFamily="18" charset="0"/>
              </a:rPr>
              <a:t>.</a:t>
            </a:r>
          </a:p>
          <a:p>
            <a:endParaRPr lang="en-US" sz="2000" dirty="0" smtClean="0"/>
          </a:p>
        </p:txBody>
      </p:sp>
    </p:spTree>
    <p:extLst>
      <p:ext uri="{BB962C8B-B14F-4D97-AF65-F5344CB8AC3E}">
        <p14:creationId xmlns:p14="http://schemas.microsoft.com/office/powerpoint/2010/main" val="4279653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914400"/>
          </a:xfrm>
        </p:spPr>
        <p:txBody>
          <a:bodyPr>
            <a:noAutofit/>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b="1" dirty="0" smtClean="0">
                <a:solidFill>
                  <a:srgbClr val="FF0000"/>
                </a:solidFill>
              </a:rPr>
              <a:t> </a:t>
            </a:r>
            <a:r>
              <a:rPr lang="en-US" b="1" dirty="0">
                <a:solidFill>
                  <a:srgbClr val="FF0000"/>
                </a:solidFill>
                <a:latin typeface="Times New Roman" pitchFamily="18" charset="0"/>
                <a:cs typeface="Times New Roman" pitchFamily="18" charset="0"/>
              </a:rPr>
              <a:t>3) Coordinating / Directing</a:t>
            </a:r>
            <a:r>
              <a:rPr lang="en-US" b="1" dirty="0">
                <a:solidFill>
                  <a:srgbClr val="FF0000"/>
                </a:solidFill>
                <a:latin typeface="Times New Roman"/>
                <a:ea typeface="Times New Roman"/>
                <a:cs typeface="Arial"/>
              </a:rPr>
              <a:t/>
            </a:r>
            <a:br>
              <a:rPr lang="en-US" b="1" dirty="0">
                <a:solidFill>
                  <a:srgbClr val="FF0000"/>
                </a:solidFill>
                <a:latin typeface="Times New Roman"/>
                <a:ea typeface="Times New Roman"/>
                <a:cs typeface="Arial"/>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endParaRPr lang="en-US" dirty="0">
              <a:solidFill>
                <a:srgbClr val="FF0000"/>
              </a:solidFill>
            </a:endParaRPr>
          </a:p>
        </p:txBody>
      </p:sp>
      <p:sp>
        <p:nvSpPr>
          <p:cNvPr id="6" name="Slide Number Placeholder 5"/>
          <p:cNvSpPr>
            <a:spLocks noGrp="1"/>
          </p:cNvSpPr>
          <p:nvPr>
            <p:ph type="sldNum" sz="quarter" idx="12"/>
          </p:nvPr>
        </p:nvSpPr>
        <p:spPr/>
        <p:txBody>
          <a:bodyPr/>
          <a:lstStyle/>
          <a:p>
            <a:fld id="{64F3F0E1-6389-4DAA-B649-2ED1A0C4FA57}" type="slidenum">
              <a:rPr lang="en-US" smtClean="0"/>
              <a:pPr/>
              <a:t>25</a:t>
            </a:fld>
            <a:endParaRPr lang="en-US" dirty="0"/>
          </a:p>
        </p:txBody>
      </p:sp>
      <p:sp>
        <p:nvSpPr>
          <p:cNvPr id="5" name="Content Placeholder 4"/>
          <p:cNvSpPr>
            <a:spLocks noGrp="1"/>
          </p:cNvSpPr>
          <p:nvPr>
            <p:ph idx="1"/>
          </p:nvPr>
        </p:nvSpPr>
        <p:spPr>
          <a:xfrm>
            <a:off x="0" y="1295400"/>
            <a:ext cx="9144000" cy="5257800"/>
          </a:xfrm>
        </p:spPr>
        <p:txBody>
          <a:bodyPr>
            <a:normAutofit/>
          </a:bodyPr>
          <a:lstStyle/>
          <a:p>
            <a:pPr>
              <a:buFont typeface="Wingdings" pitchFamily="2" charset="2"/>
              <a:buChar char="Ø"/>
            </a:pPr>
            <a:r>
              <a:rPr lang="en-US" b="1" dirty="0">
                <a:solidFill>
                  <a:srgbClr val="990099"/>
                </a:solidFill>
                <a:latin typeface="Times New Roman" pitchFamily="18" charset="0"/>
                <a:cs typeface="Times New Roman" pitchFamily="18" charset="0"/>
              </a:rPr>
              <a:t>Direction has following elements</a:t>
            </a:r>
            <a:r>
              <a:rPr lang="en-US" b="1" dirty="0" smtClean="0">
                <a:solidFill>
                  <a:srgbClr val="990099"/>
                </a:solidFill>
                <a:latin typeface="Times New Roman" pitchFamily="18" charset="0"/>
                <a:cs typeface="Times New Roman" pitchFamily="18" charset="0"/>
              </a:rPr>
              <a:t>:</a:t>
            </a:r>
          </a:p>
          <a:p>
            <a:pPr>
              <a:buFont typeface="Wingdings" pitchFamily="2" charset="2"/>
              <a:buChar char="Ø"/>
            </a:pPr>
            <a:endParaRPr lang="en-US" sz="1200" b="1" dirty="0">
              <a:solidFill>
                <a:srgbClr val="990099"/>
              </a:solidFill>
              <a:latin typeface="Times New Roman" pitchFamily="18" charset="0"/>
              <a:cs typeface="Times New Roman" pitchFamily="18" charset="0"/>
            </a:endParaRPr>
          </a:p>
          <a:p>
            <a:pPr marL="514350" indent="-514350">
              <a:buFont typeface="+mj-lt"/>
              <a:buAutoNum type="arabicParenR"/>
            </a:pPr>
            <a:r>
              <a:rPr lang="en-US" b="1" dirty="0" smtClean="0">
                <a:latin typeface="Times New Roman" pitchFamily="18" charset="0"/>
                <a:cs typeface="Times New Roman" pitchFamily="18" charset="0"/>
              </a:rPr>
              <a:t>Supervision</a:t>
            </a:r>
          </a:p>
          <a:p>
            <a:pPr marL="514350" indent="-514350">
              <a:buFont typeface="+mj-lt"/>
              <a:buAutoNum type="arabicParenR"/>
            </a:pPr>
            <a:endParaRPr lang="en-US" sz="800" b="1" dirty="0">
              <a:latin typeface="Times New Roman" pitchFamily="18" charset="0"/>
              <a:cs typeface="Times New Roman" pitchFamily="18" charset="0"/>
            </a:endParaRPr>
          </a:p>
          <a:p>
            <a:pPr marL="514350" indent="-514350">
              <a:buFont typeface="+mj-lt"/>
              <a:buAutoNum type="arabicParenR"/>
            </a:pPr>
            <a:r>
              <a:rPr lang="en-US" b="1" dirty="0" smtClean="0">
                <a:latin typeface="Times New Roman" pitchFamily="18" charset="0"/>
                <a:cs typeface="Times New Roman" pitchFamily="18" charset="0"/>
              </a:rPr>
              <a:t>Motivation</a:t>
            </a:r>
          </a:p>
          <a:p>
            <a:pPr marL="514350" indent="-514350">
              <a:buFont typeface="+mj-lt"/>
              <a:buAutoNum type="arabicParenR"/>
            </a:pPr>
            <a:endParaRPr lang="en-US" sz="800" b="1" dirty="0">
              <a:latin typeface="Times New Roman" pitchFamily="18" charset="0"/>
              <a:cs typeface="Times New Roman" pitchFamily="18" charset="0"/>
            </a:endParaRPr>
          </a:p>
          <a:p>
            <a:pPr marL="514350" indent="-514350">
              <a:buFont typeface="+mj-lt"/>
              <a:buAutoNum type="arabicParenR"/>
            </a:pPr>
            <a:r>
              <a:rPr lang="en-US" b="1" dirty="0" smtClean="0">
                <a:latin typeface="Times New Roman" pitchFamily="18" charset="0"/>
                <a:cs typeface="Times New Roman" pitchFamily="18" charset="0"/>
              </a:rPr>
              <a:t>Leadership</a:t>
            </a:r>
          </a:p>
          <a:p>
            <a:pPr marL="514350" indent="-514350">
              <a:buFont typeface="+mj-lt"/>
              <a:buAutoNum type="arabicParenR"/>
            </a:pPr>
            <a:endParaRPr lang="en-US" sz="1800" b="1" dirty="0" smtClean="0">
              <a:latin typeface="Times New Roman" pitchFamily="18" charset="0"/>
              <a:cs typeface="Times New Roman" pitchFamily="18" charset="0"/>
            </a:endParaRPr>
          </a:p>
          <a:p>
            <a:pPr algn="just">
              <a:buFont typeface="Wingdings" pitchFamily="2" charset="2"/>
              <a:buChar char="Ø"/>
            </a:pPr>
            <a:r>
              <a:rPr lang="en-US" b="1" dirty="0" smtClean="0">
                <a:solidFill>
                  <a:srgbClr val="C00000"/>
                </a:solidFill>
                <a:latin typeface="Times New Roman" pitchFamily="18" charset="0"/>
                <a:cs typeface="Times New Roman" pitchFamily="18" charset="0"/>
              </a:rPr>
              <a:t>Supervision</a:t>
            </a:r>
            <a:r>
              <a:rPr lang="en-US" b="1" dirty="0" smtClean="0">
                <a:latin typeface="Times New Roman" pitchFamily="18" charset="0"/>
                <a:cs typeface="Times New Roman" pitchFamily="18" charset="0"/>
              </a:rPr>
              <a:t>: </a:t>
            </a:r>
            <a:r>
              <a:rPr lang="en-US" b="1" dirty="0">
                <a:latin typeface="Times New Roman" pitchFamily="18" charset="0"/>
                <a:cs typeface="Times New Roman" pitchFamily="18" charset="0"/>
              </a:rPr>
              <a:t>implies overseeing the work of subordinates by their superiors. It </a:t>
            </a:r>
            <a:r>
              <a:rPr lang="en-US" b="1" dirty="0" smtClean="0">
                <a:latin typeface="Times New Roman" pitchFamily="18" charset="0"/>
                <a:cs typeface="Times New Roman" pitchFamily="18" charset="0"/>
              </a:rPr>
              <a:t>is the </a:t>
            </a:r>
            <a:r>
              <a:rPr lang="en-US" b="1" dirty="0">
                <a:latin typeface="Times New Roman" pitchFamily="18" charset="0"/>
                <a:cs typeface="Times New Roman" pitchFamily="18" charset="0"/>
              </a:rPr>
              <a:t>act of watching &amp; directing work &amp; workers</a:t>
            </a:r>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p:txBody>
      </p:sp>
      <p:sp>
        <p:nvSpPr>
          <p:cNvPr id="2560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25603" name="Rectangle 3"/>
          <p:cNvSpPr>
            <a:spLocks noChangeArrowheads="1"/>
          </p:cNvSpPr>
          <p:nvPr/>
        </p:nvSpPr>
        <p:spPr bwMode="auto">
          <a:xfrm>
            <a:off x="0" y="9239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4147002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 calcmode="lin" valueType="num">
                                      <p:cBhvr additive="base">
                                        <p:cTn id="14"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 calcmode="lin" valueType="num">
                                      <p:cBhvr additive="base">
                                        <p:cTn id="20"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5">
                                            <p:txEl>
                                              <p:pRg st="6" end="6"/>
                                            </p:txEl>
                                          </p:spTgt>
                                        </p:tgtEl>
                                        <p:attrNameLst>
                                          <p:attrName>style.visibility</p:attrName>
                                        </p:attrNameLst>
                                      </p:cBhvr>
                                      <p:to>
                                        <p:strVal val="visible"/>
                                      </p:to>
                                    </p:set>
                                    <p:anim calcmode="lin" valueType="num">
                                      <p:cBhvr additive="base">
                                        <p:cTn id="26"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anim calcmode="lin" valueType="num">
                                      <p:cBhvr additive="base">
                                        <p:cTn id="32"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0" y="274638"/>
            <a:ext cx="9144000" cy="792162"/>
          </a:xfrm>
        </p:spPr>
        <p:txBody>
          <a:bodyPr>
            <a:normAutofit/>
          </a:bodyPr>
          <a:lstStyle/>
          <a:p>
            <a:r>
              <a:rPr lang="en-US" b="1" dirty="0">
                <a:solidFill>
                  <a:srgbClr val="FF0000"/>
                </a:solidFill>
                <a:latin typeface="Times New Roman" pitchFamily="18" charset="0"/>
                <a:cs typeface="Times New Roman" pitchFamily="18" charset="0"/>
              </a:rPr>
              <a:t>3) Coordinating / Directing</a:t>
            </a:r>
            <a:endParaRPr lang="ar-YE" dirty="0">
              <a:solidFill>
                <a:srgbClr val="FF0000"/>
              </a:solidFill>
            </a:endParaRPr>
          </a:p>
        </p:txBody>
      </p:sp>
      <p:sp>
        <p:nvSpPr>
          <p:cNvPr id="3" name="عنصر نائب للمحتوى 2"/>
          <p:cNvSpPr>
            <a:spLocks noGrp="1"/>
          </p:cNvSpPr>
          <p:nvPr>
            <p:ph idx="1"/>
          </p:nvPr>
        </p:nvSpPr>
        <p:spPr>
          <a:xfrm>
            <a:off x="0" y="1219200"/>
            <a:ext cx="9144000" cy="5486400"/>
          </a:xfrm>
        </p:spPr>
        <p:txBody>
          <a:bodyPr>
            <a:normAutofit/>
          </a:bodyPr>
          <a:lstStyle/>
          <a:p>
            <a:pPr algn="just">
              <a:buFont typeface="Wingdings" pitchFamily="2" charset="2"/>
              <a:buChar char="Ø"/>
            </a:pPr>
            <a:r>
              <a:rPr lang="en-US" sz="3600" b="1" dirty="0" smtClean="0">
                <a:solidFill>
                  <a:srgbClr val="C00000"/>
                </a:solidFill>
                <a:latin typeface="Times New Roman" pitchFamily="18" charset="0"/>
                <a:cs typeface="Times New Roman" pitchFamily="18" charset="0"/>
              </a:rPr>
              <a:t>Motivation: </a:t>
            </a:r>
            <a:r>
              <a:rPr lang="en-US" sz="3600" b="1" dirty="0">
                <a:latin typeface="Times New Roman" pitchFamily="18" charset="0"/>
                <a:cs typeface="Times New Roman" pitchFamily="18" charset="0"/>
              </a:rPr>
              <a:t>means inspiring, stimulating or encouraging the sub-ordinates with </a:t>
            </a:r>
            <a:r>
              <a:rPr lang="en-US" sz="3600" b="1" dirty="0" smtClean="0">
                <a:latin typeface="Times New Roman" pitchFamily="18" charset="0"/>
                <a:cs typeface="Times New Roman" pitchFamily="18" charset="0"/>
              </a:rPr>
              <a:t>zeal to </a:t>
            </a:r>
            <a:r>
              <a:rPr lang="en-US" sz="3600" b="1" dirty="0">
                <a:latin typeface="Times New Roman" pitchFamily="18" charset="0"/>
                <a:cs typeface="Times New Roman" pitchFamily="18" charset="0"/>
              </a:rPr>
              <a:t>work. Positive, negative, monetary, non-monetary incentives may be used for </a:t>
            </a:r>
            <a:r>
              <a:rPr lang="en-US" sz="3600" b="1" dirty="0" smtClean="0">
                <a:latin typeface="Times New Roman" pitchFamily="18" charset="0"/>
                <a:cs typeface="Times New Roman" pitchFamily="18" charset="0"/>
              </a:rPr>
              <a:t>this purpose.</a:t>
            </a:r>
          </a:p>
          <a:p>
            <a:pPr algn="just">
              <a:buFont typeface="Wingdings" pitchFamily="2" charset="2"/>
              <a:buChar char="Ø"/>
            </a:pPr>
            <a:endParaRPr lang="en-US" sz="2000" b="1" dirty="0">
              <a:latin typeface="Times New Roman" pitchFamily="18" charset="0"/>
              <a:cs typeface="Times New Roman" pitchFamily="18" charset="0"/>
            </a:endParaRPr>
          </a:p>
          <a:p>
            <a:pPr algn="just">
              <a:buFont typeface="Wingdings" pitchFamily="2" charset="2"/>
              <a:buChar char="Ø"/>
            </a:pPr>
            <a:r>
              <a:rPr lang="en-US" sz="3600" b="1" dirty="0" smtClean="0">
                <a:solidFill>
                  <a:srgbClr val="C00000"/>
                </a:solidFill>
                <a:latin typeface="Times New Roman" pitchFamily="18" charset="0"/>
                <a:cs typeface="Times New Roman" pitchFamily="18" charset="0"/>
              </a:rPr>
              <a:t>Leadership: </a:t>
            </a:r>
            <a:r>
              <a:rPr lang="en-US" sz="3600" b="1" dirty="0">
                <a:latin typeface="Times New Roman" pitchFamily="18" charset="0"/>
                <a:cs typeface="Times New Roman" pitchFamily="18" charset="0"/>
              </a:rPr>
              <a:t>may be defined as a process by which manager guides and </a:t>
            </a:r>
            <a:r>
              <a:rPr lang="en-US" sz="3600" b="1" dirty="0" smtClean="0">
                <a:latin typeface="Times New Roman" pitchFamily="18" charset="0"/>
                <a:cs typeface="Times New Roman" pitchFamily="18" charset="0"/>
              </a:rPr>
              <a:t>influences the </a:t>
            </a:r>
            <a:r>
              <a:rPr lang="en-US" sz="3600" b="1" dirty="0">
                <a:latin typeface="Times New Roman" pitchFamily="18" charset="0"/>
                <a:cs typeface="Times New Roman" pitchFamily="18" charset="0"/>
              </a:rPr>
              <a:t>work of subordinates in desired direction.</a:t>
            </a:r>
          </a:p>
          <a:p>
            <a:pPr marL="0" indent="0">
              <a:buNone/>
            </a:pPr>
            <a:endParaRPr lang="ar-YE" dirty="0"/>
          </a:p>
        </p:txBody>
      </p:sp>
      <p:sp>
        <p:nvSpPr>
          <p:cNvPr id="4" name="عنصر نائب لرقم الشريحة 3"/>
          <p:cNvSpPr>
            <a:spLocks noGrp="1"/>
          </p:cNvSpPr>
          <p:nvPr>
            <p:ph type="sldNum" sz="quarter" idx="12"/>
          </p:nvPr>
        </p:nvSpPr>
        <p:spPr/>
        <p:txBody>
          <a:bodyPr/>
          <a:lstStyle/>
          <a:p>
            <a:fld id="{64F3F0E1-6389-4DAA-B649-2ED1A0C4FA57}" type="slidenum">
              <a:rPr lang="en-US" smtClean="0"/>
              <a:pPr/>
              <a:t>26</a:t>
            </a:fld>
            <a:endParaRPr lang="en-US" dirty="0"/>
          </a:p>
        </p:txBody>
      </p:sp>
    </p:spTree>
    <p:extLst>
      <p:ext uri="{BB962C8B-B14F-4D97-AF65-F5344CB8AC3E}">
        <p14:creationId xmlns:p14="http://schemas.microsoft.com/office/powerpoint/2010/main" val="1519530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5979"/>
            <a:ext cx="9144000" cy="850821"/>
          </a:xfrm>
        </p:spPr>
        <p:txBody>
          <a:bodyPr>
            <a:noAutofit/>
          </a:bodyPr>
          <a:lstStyle/>
          <a:p>
            <a:pPr lvl="0"/>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b="1" dirty="0" smtClean="0">
                <a:solidFill>
                  <a:srgbClr val="FF0000"/>
                </a:solidFill>
              </a:rPr>
              <a:t> </a:t>
            </a:r>
            <a:r>
              <a:rPr lang="en-US" b="1" dirty="0" smtClean="0">
                <a:solidFill>
                  <a:srgbClr val="FF0000"/>
                </a:solidFill>
                <a:latin typeface="Times New Roman" pitchFamily="18" charset="0"/>
                <a:cs typeface="Times New Roman" pitchFamily="18" charset="0"/>
              </a:rPr>
              <a:t>4) Communicating</a:t>
            </a:r>
            <a:r>
              <a:rPr lang="en-US" b="1" dirty="0">
                <a:solidFill>
                  <a:srgbClr val="FF0000"/>
                </a:solidFill>
                <a:latin typeface="Times New Roman"/>
                <a:ea typeface="Times New Roman"/>
                <a:cs typeface="Arial"/>
              </a:rPr>
              <a:t/>
            </a:r>
            <a:br>
              <a:rPr lang="en-US" b="1" dirty="0">
                <a:solidFill>
                  <a:srgbClr val="FF0000"/>
                </a:solidFill>
                <a:latin typeface="Times New Roman"/>
                <a:ea typeface="Times New Roman"/>
                <a:cs typeface="Arial"/>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endParaRPr lang="en-US" dirty="0">
              <a:solidFill>
                <a:srgbClr val="FF0000"/>
              </a:solidFill>
            </a:endParaRPr>
          </a:p>
        </p:txBody>
      </p:sp>
      <p:sp>
        <p:nvSpPr>
          <p:cNvPr id="6" name="Slide Number Placeholder 5"/>
          <p:cNvSpPr>
            <a:spLocks noGrp="1"/>
          </p:cNvSpPr>
          <p:nvPr>
            <p:ph type="sldNum" sz="quarter" idx="12"/>
          </p:nvPr>
        </p:nvSpPr>
        <p:spPr/>
        <p:txBody>
          <a:bodyPr/>
          <a:lstStyle/>
          <a:p>
            <a:fld id="{64F3F0E1-6389-4DAA-B649-2ED1A0C4FA57}" type="slidenum">
              <a:rPr lang="en-US" smtClean="0"/>
              <a:pPr/>
              <a:t>27</a:t>
            </a:fld>
            <a:endParaRPr lang="en-US" dirty="0"/>
          </a:p>
        </p:txBody>
      </p:sp>
      <p:sp>
        <p:nvSpPr>
          <p:cNvPr id="256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256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10" name="TextBox 9"/>
          <p:cNvSpPr txBox="1"/>
          <p:nvPr/>
        </p:nvSpPr>
        <p:spPr>
          <a:xfrm>
            <a:off x="0" y="1295400"/>
            <a:ext cx="9144000" cy="5282856"/>
          </a:xfrm>
          <a:prstGeom prst="rect">
            <a:avLst/>
          </a:prstGeom>
          <a:noFill/>
        </p:spPr>
        <p:txBody>
          <a:bodyPr wrap="square" rtlCol="1">
            <a:spAutoFit/>
          </a:bodyPr>
          <a:lstStyle/>
          <a:p>
            <a:pPr marL="355600" algn="just">
              <a:lnSpc>
                <a:spcPct val="114000"/>
              </a:lnSpc>
              <a:spcBef>
                <a:spcPts val="1800"/>
              </a:spcBef>
              <a:buClr>
                <a:srgbClr val="FF0000"/>
              </a:buClr>
            </a:pPr>
            <a:r>
              <a:rPr lang="en-US" sz="3600" b="1" dirty="0">
                <a:solidFill>
                  <a:srgbClr val="C00000"/>
                </a:solidFill>
                <a:latin typeface="Times New Roman" pitchFamily="18" charset="0"/>
                <a:cs typeface="Times New Roman" pitchFamily="18" charset="0"/>
              </a:rPr>
              <a:t>Business Communication: </a:t>
            </a:r>
            <a:r>
              <a:rPr lang="en-US" sz="3600" b="1" dirty="0">
                <a:latin typeface="Times New Roman" pitchFamily="18" charset="0"/>
                <a:cs typeface="Times New Roman" pitchFamily="18" charset="0"/>
              </a:rPr>
              <a:t>communication used to promote a product, service, or organization; relay information within the business; or deal with legal and similar issues. It is also a means of relaying between a supply chain, for example the consumer and manufacturer.  </a:t>
            </a:r>
          </a:p>
          <a:p>
            <a:pPr algn="just">
              <a:buFont typeface="Wingdings" pitchFamily="2" charset="2"/>
              <a:buChar char="Ø"/>
            </a:pPr>
            <a:endParaRPr lang="en-US" sz="3200" dirty="0" smtClean="0">
              <a:cs typeface="+mj-cs"/>
            </a:endParaRPr>
          </a:p>
          <a:p>
            <a:endParaRPr lang="ar-EG" dirty="0"/>
          </a:p>
        </p:txBody>
      </p:sp>
      <p:sp>
        <p:nvSpPr>
          <p:cNvPr id="2355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23555" name="Rectangle 3"/>
          <p:cNvSpPr>
            <a:spLocks noChangeArrowheads="1"/>
          </p:cNvSpPr>
          <p:nvPr/>
        </p:nvSpPr>
        <p:spPr bwMode="auto">
          <a:xfrm>
            <a:off x="0" y="8953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52591932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0" y="274638"/>
            <a:ext cx="9144000" cy="1143000"/>
          </a:xfrm>
        </p:spPr>
        <p:txBody>
          <a:bodyPr>
            <a:normAutofit/>
          </a:bodyPr>
          <a:lstStyle/>
          <a:p>
            <a:r>
              <a:rPr lang="en-US" b="1" dirty="0">
                <a:solidFill>
                  <a:srgbClr val="FF0000"/>
                </a:solidFill>
              </a:rPr>
              <a:t> </a:t>
            </a:r>
            <a:r>
              <a:rPr lang="en-US" b="1" dirty="0">
                <a:solidFill>
                  <a:srgbClr val="FF0000"/>
                </a:solidFill>
                <a:latin typeface="Times New Roman" pitchFamily="18" charset="0"/>
                <a:cs typeface="Times New Roman" pitchFamily="18" charset="0"/>
              </a:rPr>
              <a:t>4) Communicating</a:t>
            </a:r>
            <a:endParaRPr lang="ar-YE" dirty="0"/>
          </a:p>
        </p:txBody>
      </p:sp>
      <p:sp>
        <p:nvSpPr>
          <p:cNvPr id="3" name="عنصر نائب للمحتوى 2"/>
          <p:cNvSpPr>
            <a:spLocks noGrp="1"/>
          </p:cNvSpPr>
          <p:nvPr>
            <p:ph idx="1"/>
          </p:nvPr>
        </p:nvSpPr>
        <p:spPr>
          <a:xfrm>
            <a:off x="152400" y="1600200"/>
            <a:ext cx="8763000" cy="4525963"/>
          </a:xfrm>
        </p:spPr>
        <p:txBody>
          <a:bodyPr/>
          <a:lstStyle/>
          <a:p>
            <a:pPr marL="0" indent="0" algn="just">
              <a:buNone/>
            </a:pPr>
            <a:r>
              <a:rPr lang="en-US" sz="3600" b="1" dirty="0">
                <a:solidFill>
                  <a:srgbClr val="C00000"/>
                </a:solidFill>
                <a:latin typeface="Times New Roman" pitchFamily="18" charset="0"/>
                <a:cs typeface="Times New Roman" pitchFamily="18" charset="0"/>
              </a:rPr>
              <a:t>Engineering Communication: </a:t>
            </a:r>
            <a:r>
              <a:rPr lang="en-US" sz="3600" b="1" dirty="0">
                <a:latin typeface="Times New Roman" pitchFamily="18" charset="0"/>
                <a:cs typeface="Times New Roman" pitchFamily="18" charset="0"/>
              </a:rPr>
              <a:t>The ability to effectively communicate information about the design and engineering process. To that end, the competition requires teams to submit technical reports, prepare and deliver engineering presentations, and create poster displays</a:t>
            </a:r>
            <a:r>
              <a:rPr lang="en-US" dirty="0">
                <a:latin typeface="Times New Roman" pitchFamily="18" charset="0"/>
                <a:cs typeface="Times New Roman" pitchFamily="18" charset="0"/>
              </a:rPr>
              <a:t>. </a:t>
            </a:r>
          </a:p>
          <a:p>
            <a:pPr marL="0" indent="0">
              <a:buNone/>
            </a:pPr>
            <a:endParaRPr lang="ar-YE" dirty="0"/>
          </a:p>
        </p:txBody>
      </p:sp>
      <p:sp>
        <p:nvSpPr>
          <p:cNvPr id="4" name="عنصر نائب لرقم الشريحة 3"/>
          <p:cNvSpPr>
            <a:spLocks noGrp="1"/>
          </p:cNvSpPr>
          <p:nvPr>
            <p:ph type="sldNum" sz="quarter" idx="12"/>
          </p:nvPr>
        </p:nvSpPr>
        <p:spPr/>
        <p:txBody>
          <a:bodyPr/>
          <a:lstStyle/>
          <a:p>
            <a:fld id="{64F3F0E1-6389-4DAA-B649-2ED1A0C4FA57}" type="slidenum">
              <a:rPr lang="en-US" smtClean="0"/>
              <a:pPr/>
              <a:t>28</a:t>
            </a:fld>
            <a:endParaRPr lang="en-US" dirty="0"/>
          </a:p>
        </p:txBody>
      </p:sp>
    </p:spTree>
    <p:extLst>
      <p:ext uri="{BB962C8B-B14F-4D97-AF65-F5344CB8AC3E}">
        <p14:creationId xmlns:p14="http://schemas.microsoft.com/office/powerpoint/2010/main" val="232012915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399"/>
            <a:ext cx="9144000" cy="771525"/>
          </a:xfrm>
        </p:spPr>
        <p:txBody>
          <a:bodyPr>
            <a:noAutofit/>
          </a:bodyPr>
          <a:lstStyle/>
          <a:p>
            <a:pPr lvl="0"/>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b="1" dirty="0" smtClean="0">
                <a:solidFill>
                  <a:srgbClr val="FF0000"/>
                </a:solidFill>
                <a:latin typeface="Times New Roman" pitchFamily="18" charset="0"/>
                <a:cs typeface="Times New Roman" pitchFamily="18" charset="0"/>
              </a:rPr>
              <a:t>5) Motivating</a:t>
            </a:r>
            <a:r>
              <a:rPr lang="en-US" b="1" dirty="0">
                <a:solidFill>
                  <a:srgbClr val="FF0000"/>
                </a:solidFill>
                <a:latin typeface="Times New Roman"/>
                <a:ea typeface="Times New Roman"/>
                <a:cs typeface="Arial"/>
              </a:rPr>
              <a:t/>
            </a:r>
            <a:br>
              <a:rPr lang="en-US" b="1" dirty="0">
                <a:solidFill>
                  <a:srgbClr val="FF0000"/>
                </a:solidFill>
                <a:latin typeface="Times New Roman"/>
                <a:ea typeface="Times New Roman"/>
                <a:cs typeface="Arial"/>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endParaRPr lang="en-US" dirty="0">
              <a:solidFill>
                <a:srgbClr val="FF0000"/>
              </a:solidFill>
            </a:endParaRPr>
          </a:p>
        </p:txBody>
      </p:sp>
      <p:sp>
        <p:nvSpPr>
          <p:cNvPr id="6" name="Slide Number Placeholder 5"/>
          <p:cNvSpPr>
            <a:spLocks noGrp="1"/>
          </p:cNvSpPr>
          <p:nvPr>
            <p:ph type="sldNum" sz="quarter" idx="12"/>
          </p:nvPr>
        </p:nvSpPr>
        <p:spPr/>
        <p:txBody>
          <a:bodyPr/>
          <a:lstStyle/>
          <a:p>
            <a:fld id="{64F3F0E1-6389-4DAA-B649-2ED1A0C4FA57}" type="slidenum">
              <a:rPr lang="en-US" smtClean="0"/>
              <a:pPr/>
              <a:t>29</a:t>
            </a:fld>
            <a:endParaRPr lang="en-US" dirty="0"/>
          </a:p>
        </p:txBody>
      </p:sp>
      <p:sp>
        <p:nvSpPr>
          <p:cNvPr id="5" name="Content Placeholder 4"/>
          <p:cNvSpPr>
            <a:spLocks noGrp="1"/>
          </p:cNvSpPr>
          <p:nvPr>
            <p:ph idx="1"/>
          </p:nvPr>
        </p:nvSpPr>
        <p:spPr>
          <a:xfrm>
            <a:off x="0" y="923925"/>
            <a:ext cx="9144000" cy="5934075"/>
          </a:xfrm>
        </p:spPr>
        <p:txBody>
          <a:bodyPr>
            <a:normAutofit/>
          </a:bodyPr>
          <a:lstStyle/>
          <a:p>
            <a:pPr algn="just">
              <a:buFont typeface="Wingdings" pitchFamily="2" charset="2"/>
              <a:buChar char="Ø"/>
            </a:pPr>
            <a:r>
              <a:rPr lang="en-US" sz="2800" b="1" dirty="0">
                <a:latin typeface="Times New Roman" pitchFamily="18" charset="0"/>
                <a:cs typeface="Times New Roman" pitchFamily="18" charset="0"/>
              </a:rPr>
              <a:t>Internal and </a:t>
            </a:r>
            <a:r>
              <a:rPr lang="en-US" sz="2800" b="1" dirty="0">
                <a:latin typeface="Times New Roman" pitchFamily="18" charset="0"/>
                <a:cs typeface="Times New Roman" pitchFamily="18" charset="0"/>
                <a:hlinkClick r:id="rId3"/>
              </a:rPr>
              <a:t>external</a:t>
            </a:r>
            <a:r>
              <a:rPr lang="en-US" sz="2800" b="1" dirty="0">
                <a:latin typeface="Times New Roman" pitchFamily="18" charset="0"/>
                <a:cs typeface="Times New Roman" pitchFamily="18" charset="0"/>
              </a:rPr>
              <a:t> </a:t>
            </a:r>
            <a:r>
              <a:rPr lang="en-US" sz="2800" b="1" dirty="0">
                <a:latin typeface="Times New Roman" pitchFamily="18" charset="0"/>
                <a:cs typeface="Times New Roman" pitchFamily="18" charset="0"/>
                <a:hlinkClick r:id="rId4"/>
              </a:rPr>
              <a:t>factors</a:t>
            </a:r>
            <a:r>
              <a:rPr lang="en-US" sz="2800" b="1" dirty="0">
                <a:latin typeface="Times New Roman" pitchFamily="18" charset="0"/>
                <a:cs typeface="Times New Roman" pitchFamily="18" charset="0"/>
              </a:rPr>
              <a:t> that </a:t>
            </a:r>
            <a:r>
              <a:rPr lang="en-US" sz="2800" b="1" dirty="0">
                <a:latin typeface="Times New Roman" pitchFamily="18" charset="0"/>
                <a:cs typeface="Times New Roman" pitchFamily="18" charset="0"/>
                <a:hlinkClick r:id="rId5"/>
              </a:rPr>
              <a:t>stimulate</a:t>
            </a:r>
            <a:r>
              <a:rPr lang="en-US" sz="2800" b="1" dirty="0">
                <a:latin typeface="Times New Roman" pitchFamily="18" charset="0"/>
                <a:cs typeface="Times New Roman" pitchFamily="18" charset="0"/>
              </a:rPr>
              <a:t> desire and </a:t>
            </a:r>
            <a:r>
              <a:rPr lang="en-US" sz="2800" b="1" dirty="0">
                <a:latin typeface="Times New Roman" pitchFamily="18" charset="0"/>
                <a:cs typeface="Times New Roman" pitchFamily="18" charset="0"/>
                <a:hlinkClick r:id="rId6"/>
              </a:rPr>
              <a:t>energy</a:t>
            </a:r>
            <a:r>
              <a:rPr lang="en-US" sz="2800" b="1" dirty="0">
                <a:latin typeface="Times New Roman" pitchFamily="18" charset="0"/>
                <a:cs typeface="Times New Roman" pitchFamily="18" charset="0"/>
              </a:rPr>
              <a:t> in people to be continually interested in and committed to a </a:t>
            </a:r>
            <a:r>
              <a:rPr lang="en-US" sz="2800" b="1" dirty="0">
                <a:latin typeface="Times New Roman" pitchFamily="18" charset="0"/>
                <a:cs typeface="Times New Roman" pitchFamily="18" charset="0"/>
                <a:hlinkClick r:id="rId7"/>
              </a:rPr>
              <a:t>job</a:t>
            </a:r>
            <a:r>
              <a:rPr lang="en-US" sz="2800" b="1" dirty="0">
                <a:latin typeface="Times New Roman" pitchFamily="18" charset="0"/>
                <a:cs typeface="Times New Roman" pitchFamily="18" charset="0"/>
              </a:rPr>
              <a:t>, </a:t>
            </a:r>
            <a:r>
              <a:rPr lang="en-US" sz="2800" b="1" dirty="0">
                <a:latin typeface="Times New Roman" pitchFamily="18" charset="0"/>
                <a:cs typeface="Times New Roman" pitchFamily="18" charset="0"/>
                <a:hlinkClick r:id="rId8"/>
              </a:rPr>
              <a:t>role</a:t>
            </a:r>
            <a:r>
              <a:rPr lang="en-US" sz="2800" b="1" dirty="0">
                <a:latin typeface="Times New Roman" pitchFamily="18" charset="0"/>
                <a:cs typeface="Times New Roman" pitchFamily="18" charset="0"/>
              </a:rPr>
              <a:t>, or </a:t>
            </a:r>
            <a:r>
              <a:rPr lang="en-US" sz="2800" b="1" dirty="0">
                <a:latin typeface="Times New Roman" pitchFamily="18" charset="0"/>
                <a:cs typeface="Times New Roman" pitchFamily="18" charset="0"/>
                <a:hlinkClick r:id="rId9"/>
              </a:rPr>
              <a:t>subject</a:t>
            </a:r>
            <a:r>
              <a:rPr lang="en-US" sz="2800" b="1" dirty="0">
                <a:latin typeface="Times New Roman" pitchFamily="18" charset="0"/>
                <a:cs typeface="Times New Roman" pitchFamily="18" charset="0"/>
              </a:rPr>
              <a:t>, and to exert persistent effort in attaining a </a:t>
            </a:r>
            <a:r>
              <a:rPr lang="en-US" sz="2800" b="1" dirty="0" smtClean="0">
                <a:latin typeface="Times New Roman" pitchFamily="18" charset="0"/>
                <a:cs typeface="Times New Roman" pitchFamily="18" charset="0"/>
                <a:hlinkClick r:id="rId10"/>
              </a:rPr>
              <a:t>goal</a:t>
            </a:r>
            <a:r>
              <a:rPr lang="en-US" sz="2800" b="1" dirty="0" smtClean="0">
                <a:latin typeface="Times New Roman" pitchFamily="18" charset="0"/>
                <a:cs typeface="Times New Roman" pitchFamily="18" charset="0"/>
              </a:rPr>
              <a:t>.</a:t>
            </a:r>
          </a:p>
          <a:p>
            <a:pPr algn="just">
              <a:buFont typeface="Wingdings" pitchFamily="2" charset="2"/>
              <a:buChar char="Ø"/>
            </a:pPr>
            <a:endParaRPr lang="en-US" sz="1000" b="1" dirty="0" smtClean="0">
              <a:latin typeface="Times New Roman" pitchFamily="18" charset="0"/>
              <a:cs typeface="Times New Roman" pitchFamily="18" charset="0"/>
            </a:endParaRPr>
          </a:p>
          <a:p>
            <a:pPr algn="just">
              <a:buFont typeface="Wingdings" pitchFamily="2" charset="2"/>
              <a:buChar char="Ø"/>
            </a:pPr>
            <a:r>
              <a:rPr lang="en-US" sz="2800" b="1" dirty="0">
                <a:latin typeface="Times New Roman" pitchFamily="18" charset="0"/>
                <a:cs typeface="Times New Roman" pitchFamily="18" charset="0"/>
              </a:rPr>
              <a:t>Motivation </a:t>
            </a:r>
            <a:r>
              <a:rPr lang="en-US" sz="2800" b="1" dirty="0">
                <a:latin typeface="Times New Roman" pitchFamily="18" charset="0"/>
                <a:cs typeface="Times New Roman" pitchFamily="18" charset="0"/>
                <a:hlinkClick r:id="rId11"/>
              </a:rPr>
              <a:t>results</a:t>
            </a:r>
            <a:r>
              <a:rPr lang="en-US" sz="2800" b="1" dirty="0">
                <a:latin typeface="Times New Roman" pitchFamily="18" charset="0"/>
                <a:cs typeface="Times New Roman" pitchFamily="18" charset="0"/>
              </a:rPr>
              <a:t> from the interactions among conscious and unconscious factors such as </a:t>
            </a:r>
            <a:r>
              <a:rPr lang="en-US" sz="2800" b="1" dirty="0" smtClean="0">
                <a:latin typeface="Times New Roman" pitchFamily="18" charset="0"/>
                <a:cs typeface="Times New Roman" pitchFamily="18" charset="0"/>
              </a:rPr>
              <a:t>the:</a:t>
            </a:r>
          </a:p>
          <a:p>
            <a:pPr algn="just">
              <a:buFont typeface="Wingdings" pitchFamily="2" charset="2"/>
              <a:buChar char="Ø"/>
            </a:pPr>
            <a:endParaRPr lang="en-US" sz="900" b="1" dirty="0" smtClean="0">
              <a:latin typeface="Times New Roman" pitchFamily="18" charset="0"/>
              <a:cs typeface="Times New Roman" pitchFamily="18" charset="0"/>
            </a:endParaRPr>
          </a:p>
          <a:p>
            <a:pPr marL="514350" indent="-514350" algn="just">
              <a:buAutoNum type="arabicParenBoth"/>
            </a:pPr>
            <a:r>
              <a:rPr lang="en-US" sz="2800" b="1" dirty="0" smtClean="0">
                <a:latin typeface="Times New Roman" pitchFamily="18" charset="0"/>
                <a:cs typeface="Times New Roman" pitchFamily="18" charset="0"/>
                <a:hlinkClick r:id="rId12"/>
              </a:rPr>
              <a:t>Intensity</a:t>
            </a:r>
            <a:r>
              <a:rPr lang="en-US" sz="2800" b="1" dirty="0" smtClean="0">
                <a:latin typeface="Times New Roman" pitchFamily="18" charset="0"/>
                <a:cs typeface="Times New Roman" pitchFamily="18" charset="0"/>
              </a:rPr>
              <a:t> </a:t>
            </a:r>
            <a:r>
              <a:rPr lang="en-US" sz="2800" b="1" dirty="0">
                <a:latin typeface="Times New Roman" pitchFamily="18" charset="0"/>
                <a:cs typeface="Times New Roman" pitchFamily="18" charset="0"/>
              </a:rPr>
              <a:t>of desire or </a:t>
            </a:r>
            <a:r>
              <a:rPr lang="en-US" sz="2800" b="1" dirty="0">
                <a:latin typeface="Times New Roman" pitchFamily="18" charset="0"/>
                <a:cs typeface="Times New Roman" pitchFamily="18" charset="0"/>
                <a:hlinkClick r:id="rId13"/>
              </a:rPr>
              <a:t>need</a:t>
            </a:r>
            <a:r>
              <a:rPr lang="en-US" sz="2800" b="1" dirty="0">
                <a:latin typeface="Times New Roman" pitchFamily="18" charset="0"/>
                <a:cs typeface="Times New Roman" pitchFamily="18" charset="0"/>
              </a:rPr>
              <a:t>, </a:t>
            </a:r>
            <a:endParaRPr lang="en-US" sz="2800" b="1" dirty="0" smtClean="0">
              <a:latin typeface="Times New Roman" pitchFamily="18" charset="0"/>
              <a:cs typeface="Times New Roman" pitchFamily="18" charset="0"/>
            </a:endParaRPr>
          </a:p>
          <a:p>
            <a:pPr marL="514350" indent="-514350" algn="just">
              <a:buAutoNum type="arabicParenBoth"/>
            </a:pPr>
            <a:endParaRPr lang="en-US" sz="800" b="1" dirty="0">
              <a:latin typeface="Times New Roman" pitchFamily="18" charset="0"/>
              <a:cs typeface="Times New Roman" pitchFamily="18" charset="0"/>
            </a:endParaRPr>
          </a:p>
          <a:p>
            <a:pPr marL="514350" indent="-514350" algn="just">
              <a:buAutoNum type="arabicParenBoth"/>
            </a:pPr>
            <a:r>
              <a:rPr lang="en-US" sz="2800" b="1" dirty="0" smtClean="0">
                <a:latin typeface="Times New Roman" pitchFamily="18" charset="0"/>
                <a:cs typeface="Times New Roman" pitchFamily="18" charset="0"/>
              </a:rPr>
              <a:t> </a:t>
            </a:r>
            <a:r>
              <a:rPr lang="en-US" sz="2800" b="1" dirty="0" smtClean="0">
                <a:latin typeface="Times New Roman" pitchFamily="18" charset="0"/>
                <a:cs typeface="Times New Roman" pitchFamily="18" charset="0"/>
                <a:hlinkClick r:id="rId14"/>
              </a:rPr>
              <a:t>Incentive</a:t>
            </a:r>
            <a:r>
              <a:rPr lang="en-US" sz="2800" b="1" dirty="0" smtClean="0">
                <a:latin typeface="Times New Roman" pitchFamily="18" charset="0"/>
                <a:cs typeface="Times New Roman" pitchFamily="18" charset="0"/>
              </a:rPr>
              <a:t> </a:t>
            </a:r>
            <a:r>
              <a:rPr lang="en-US" sz="2800" b="1" dirty="0">
                <a:latin typeface="Times New Roman" pitchFamily="18" charset="0"/>
                <a:cs typeface="Times New Roman" pitchFamily="18" charset="0"/>
              </a:rPr>
              <a:t>or </a:t>
            </a:r>
            <a:r>
              <a:rPr lang="en-US" sz="2800" b="1" dirty="0">
                <a:latin typeface="Times New Roman" pitchFamily="18" charset="0"/>
                <a:cs typeface="Times New Roman" pitchFamily="18" charset="0"/>
                <a:hlinkClick r:id="rId15"/>
              </a:rPr>
              <a:t>reward</a:t>
            </a:r>
            <a:r>
              <a:rPr lang="en-US" sz="2800" b="1" dirty="0">
                <a:latin typeface="Times New Roman" pitchFamily="18" charset="0"/>
                <a:cs typeface="Times New Roman" pitchFamily="18" charset="0"/>
              </a:rPr>
              <a:t> </a:t>
            </a:r>
            <a:r>
              <a:rPr lang="en-US" sz="2800" b="1" dirty="0">
                <a:latin typeface="Times New Roman" pitchFamily="18" charset="0"/>
                <a:cs typeface="Times New Roman" pitchFamily="18" charset="0"/>
                <a:hlinkClick r:id="rId16"/>
              </a:rPr>
              <a:t>value</a:t>
            </a:r>
            <a:r>
              <a:rPr lang="en-US" sz="2800" b="1" dirty="0">
                <a:latin typeface="Times New Roman" pitchFamily="18" charset="0"/>
                <a:cs typeface="Times New Roman" pitchFamily="18" charset="0"/>
              </a:rPr>
              <a:t> of the goal, </a:t>
            </a:r>
            <a:r>
              <a:rPr lang="en-US" sz="2800" b="1" dirty="0" smtClean="0">
                <a:latin typeface="Times New Roman" pitchFamily="18" charset="0"/>
                <a:cs typeface="Times New Roman" pitchFamily="18" charset="0"/>
              </a:rPr>
              <a:t>and</a:t>
            </a:r>
          </a:p>
          <a:p>
            <a:pPr marL="514350" indent="-514350" algn="just">
              <a:buAutoNum type="arabicParenBoth"/>
            </a:pPr>
            <a:endParaRPr lang="en-US" sz="800" b="1" dirty="0" smtClean="0">
              <a:latin typeface="Times New Roman" pitchFamily="18" charset="0"/>
              <a:cs typeface="Times New Roman" pitchFamily="18" charset="0"/>
            </a:endParaRPr>
          </a:p>
          <a:p>
            <a:pPr marL="514350" indent="-514350" algn="just">
              <a:buAutoNum type="arabicParenBoth"/>
            </a:pPr>
            <a:r>
              <a:rPr lang="en-US" sz="2800" b="1" dirty="0" smtClean="0">
                <a:latin typeface="Times New Roman" pitchFamily="18" charset="0"/>
                <a:cs typeface="Times New Roman" pitchFamily="18" charset="0"/>
              </a:rPr>
              <a:t> </a:t>
            </a:r>
            <a:r>
              <a:rPr lang="en-US" sz="2800" b="1" dirty="0" smtClean="0">
                <a:latin typeface="Times New Roman" pitchFamily="18" charset="0"/>
                <a:cs typeface="Times New Roman" pitchFamily="18" charset="0"/>
                <a:hlinkClick r:id="rId17"/>
              </a:rPr>
              <a:t>Expectations</a:t>
            </a:r>
            <a:r>
              <a:rPr lang="en-US" sz="2800" b="1" dirty="0" smtClean="0">
                <a:latin typeface="Times New Roman" pitchFamily="18" charset="0"/>
                <a:cs typeface="Times New Roman" pitchFamily="18" charset="0"/>
              </a:rPr>
              <a:t> </a:t>
            </a:r>
            <a:r>
              <a:rPr lang="en-US" sz="2800" b="1" dirty="0">
                <a:latin typeface="Times New Roman" pitchFamily="18" charset="0"/>
                <a:cs typeface="Times New Roman" pitchFamily="18" charset="0"/>
              </a:rPr>
              <a:t>of the </a:t>
            </a:r>
            <a:r>
              <a:rPr lang="en-US" sz="2800" b="1" dirty="0">
                <a:latin typeface="Times New Roman" pitchFamily="18" charset="0"/>
                <a:cs typeface="Times New Roman" pitchFamily="18" charset="0"/>
                <a:hlinkClick r:id="rId18"/>
              </a:rPr>
              <a:t>individual</a:t>
            </a:r>
            <a:r>
              <a:rPr lang="en-US" sz="2800" b="1" dirty="0">
                <a:latin typeface="Times New Roman" pitchFamily="18" charset="0"/>
                <a:cs typeface="Times New Roman" pitchFamily="18" charset="0"/>
              </a:rPr>
              <a:t> and of his or her </a:t>
            </a:r>
            <a:r>
              <a:rPr lang="en-US" sz="2800" b="1" dirty="0">
                <a:latin typeface="Times New Roman" pitchFamily="18" charset="0"/>
                <a:cs typeface="Times New Roman" pitchFamily="18" charset="0"/>
                <a:hlinkClick r:id="rId19"/>
              </a:rPr>
              <a:t>significant</a:t>
            </a:r>
            <a:r>
              <a:rPr lang="en-US" sz="2800" b="1" dirty="0">
                <a:latin typeface="Times New Roman" pitchFamily="18" charset="0"/>
                <a:cs typeface="Times New Roman" pitchFamily="18" charset="0"/>
              </a:rPr>
              <a:t> others.</a:t>
            </a:r>
          </a:p>
          <a:p>
            <a:pPr algn="just">
              <a:buFont typeface="Wingdings" pitchFamily="2" charset="2"/>
              <a:buChar char="Ø"/>
            </a:pPr>
            <a:endParaRPr lang="en-US" b="1" dirty="0">
              <a:latin typeface="Times New Roman" pitchFamily="18" charset="0"/>
              <a:cs typeface="Times New Roman" pitchFamily="18" charset="0"/>
            </a:endParaRPr>
          </a:p>
          <a:p>
            <a:pPr marL="0" indent="0" algn="just">
              <a:buNone/>
            </a:pPr>
            <a:endParaRPr lang="en-US" sz="2800" dirty="0" smtClean="0">
              <a:cs typeface="+mj-cs"/>
            </a:endParaRPr>
          </a:p>
          <a:p>
            <a:pPr>
              <a:buNone/>
            </a:pPr>
            <a:endParaRPr lang="en-US" sz="2000" dirty="0" smtClean="0"/>
          </a:p>
          <a:p>
            <a:pPr>
              <a:buNone/>
            </a:pPr>
            <a:endParaRPr lang="ar-EG" sz="2000" dirty="0"/>
          </a:p>
        </p:txBody>
      </p:sp>
      <p:sp>
        <p:nvSpPr>
          <p:cNvPr id="23555"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23556" name="Rectangle 4"/>
          <p:cNvSpPr>
            <a:spLocks noChangeArrowheads="1"/>
          </p:cNvSpPr>
          <p:nvPr/>
        </p:nvSpPr>
        <p:spPr bwMode="auto">
          <a:xfrm>
            <a:off x="0" y="6953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23558" name="Rectangle 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23559" name="Rectangle 7"/>
          <p:cNvSpPr>
            <a:spLocks noChangeArrowheads="1"/>
          </p:cNvSpPr>
          <p:nvPr/>
        </p:nvSpPr>
        <p:spPr bwMode="auto">
          <a:xfrm>
            <a:off x="0" y="6953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23561"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23562" name="Rectangle 10"/>
          <p:cNvSpPr>
            <a:spLocks noChangeArrowheads="1"/>
          </p:cNvSpPr>
          <p:nvPr/>
        </p:nvSpPr>
        <p:spPr bwMode="auto">
          <a:xfrm>
            <a:off x="0" y="7048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2150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21507" name="Rectangle 3"/>
          <p:cNvSpPr>
            <a:spLocks noChangeArrowheads="1"/>
          </p:cNvSpPr>
          <p:nvPr/>
        </p:nvSpPr>
        <p:spPr bwMode="auto">
          <a:xfrm>
            <a:off x="0" y="9239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079611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1000"/>
                                        <p:tgtEl>
                                          <p:spTgt spid="5">
                                            <p:txEl>
                                              <p:pRg st="2" end="2"/>
                                            </p:txEl>
                                          </p:spTgt>
                                        </p:tgtEl>
                                      </p:cBhvr>
                                    </p:animEffect>
                                    <p:anim calcmode="lin" valueType="num">
                                      <p:cBhvr>
                                        <p:cTn id="14"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 calcmode="lin" valueType="num">
                                      <p:cBhvr additive="base">
                                        <p:cTn id="20"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5">
                                            <p:txEl>
                                              <p:pRg st="6" end="6"/>
                                            </p:txEl>
                                          </p:spTgt>
                                        </p:tgtEl>
                                        <p:attrNameLst>
                                          <p:attrName>style.visibility</p:attrName>
                                        </p:attrNameLst>
                                      </p:cBhvr>
                                      <p:to>
                                        <p:strVal val="visible"/>
                                      </p:to>
                                    </p:set>
                                    <p:anim calcmode="lin" valueType="num">
                                      <p:cBhvr additive="base">
                                        <p:cTn id="26"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anim calcmode="lin" valueType="num">
                                      <p:cBhvr additive="base">
                                        <p:cTn id="32"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5400"/>
            <a:ext cx="9144000" cy="908050"/>
          </a:xfrm>
        </p:spPr>
        <p:txBody>
          <a:bodyPr>
            <a:noAutofit/>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b="1" dirty="0" smtClean="0">
                <a:solidFill>
                  <a:srgbClr val="FF0000"/>
                </a:solidFill>
              </a:rPr>
              <a:t> </a:t>
            </a:r>
            <a:r>
              <a:rPr lang="en-US" b="1" dirty="0" smtClean="0">
                <a:solidFill>
                  <a:srgbClr val="FF0000"/>
                </a:solidFill>
                <a:latin typeface="Times New Roman" pitchFamily="18" charset="0"/>
                <a:cs typeface="Times New Roman" pitchFamily="18" charset="0"/>
              </a:rPr>
              <a:t>6) </a:t>
            </a:r>
            <a:r>
              <a:rPr lang="en-US" b="1" dirty="0">
                <a:solidFill>
                  <a:srgbClr val="FF0000"/>
                </a:solidFill>
                <a:latin typeface="Times New Roman" pitchFamily="18" charset="0"/>
                <a:cs typeface="Times New Roman" pitchFamily="18" charset="0"/>
              </a:rPr>
              <a:t>Controlling</a:t>
            </a:r>
            <a:r>
              <a:rPr lang="en-US" b="1" dirty="0">
                <a:solidFill>
                  <a:srgbClr val="FF0000"/>
                </a:solidFill>
                <a:latin typeface="Times New Roman"/>
                <a:ea typeface="Times New Roman"/>
                <a:cs typeface="Arial"/>
              </a:rPr>
              <a:t/>
            </a:r>
            <a:br>
              <a:rPr lang="en-US" b="1" dirty="0">
                <a:solidFill>
                  <a:srgbClr val="FF0000"/>
                </a:solidFill>
                <a:latin typeface="Times New Roman"/>
                <a:ea typeface="Times New Roman"/>
                <a:cs typeface="Arial"/>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endParaRPr lang="en-US" dirty="0">
              <a:solidFill>
                <a:srgbClr val="FF0000"/>
              </a:solidFill>
            </a:endParaRPr>
          </a:p>
        </p:txBody>
      </p:sp>
      <p:sp>
        <p:nvSpPr>
          <p:cNvPr id="6" name="Slide Number Placeholder 5"/>
          <p:cNvSpPr>
            <a:spLocks noGrp="1"/>
          </p:cNvSpPr>
          <p:nvPr>
            <p:ph type="sldNum" sz="quarter" idx="12"/>
          </p:nvPr>
        </p:nvSpPr>
        <p:spPr/>
        <p:txBody>
          <a:bodyPr/>
          <a:lstStyle/>
          <a:p>
            <a:fld id="{64F3F0E1-6389-4DAA-B649-2ED1A0C4FA57}" type="slidenum">
              <a:rPr lang="en-US" smtClean="0"/>
              <a:pPr/>
              <a:t>30</a:t>
            </a:fld>
            <a:endParaRPr lang="en-US" dirty="0"/>
          </a:p>
        </p:txBody>
      </p:sp>
      <p:sp>
        <p:nvSpPr>
          <p:cNvPr id="7" name="TextBox 6"/>
          <p:cNvSpPr txBox="1"/>
          <p:nvPr/>
        </p:nvSpPr>
        <p:spPr>
          <a:xfrm>
            <a:off x="0" y="1433929"/>
            <a:ext cx="9144000" cy="4373057"/>
          </a:xfrm>
          <a:prstGeom prst="rect">
            <a:avLst/>
          </a:prstGeom>
          <a:noFill/>
        </p:spPr>
        <p:txBody>
          <a:bodyPr wrap="square" rtlCol="1">
            <a:spAutoFit/>
          </a:bodyPr>
          <a:lstStyle/>
          <a:p>
            <a:pPr marL="447675" algn="just">
              <a:lnSpc>
                <a:spcPct val="114000"/>
              </a:lnSpc>
              <a:buClr>
                <a:srgbClr val="FF0000"/>
              </a:buClr>
            </a:pPr>
            <a:r>
              <a:rPr lang="en-US" sz="3600" b="1" dirty="0" smtClean="0">
                <a:latin typeface="Times New Roman" pitchFamily="18" charset="0"/>
                <a:cs typeface="Times New Roman" pitchFamily="18" charset="0"/>
              </a:rPr>
              <a:t>The </a:t>
            </a:r>
            <a:r>
              <a:rPr lang="en-US" sz="3600" b="1" dirty="0">
                <a:latin typeface="Times New Roman" pitchFamily="18" charset="0"/>
                <a:cs typeface="Times New Roman" pitchFamily="18" charset="0"/>
              </a:rPr>
              <a:t>basic </a:t>
            </a:r>
            <a:r>
              <a:rPr lang="en-US" sz="3600" b="1" dirty="0">
                <a:latin typeface="Times New Roman" pitchFamily="18" charset="0"/>
                <a:cs typeface="Times New Roman" pitchFamily="18" charset="0"/>
                <a:hlinkClick r:id="rId3"/>
              </a:rPr>
              <a:t>management</a:t>
            </a:r>
            <a:r>
              <a:rPr lang="en-US" sz="3600" b="1" dirty="0">
                <a:latin typeface="Times New Roman" pitchFamily="18" charset="0"/>
                <a:cs typeface="Times New Roman" pitchFamily="18" charset="0"/>
              </a:rPr>
              <a:t> </a:t>
            </a:r>
            <a:r>
              <a:rPr lang="en-US" sz="3600" b="1" dirty="0">
                <a:latin typeface="Times New Roman" pitchFamily="18" charset="0"/>
                <a:cs typeface="Times New Roman" pitchFamily="18" charset="0"/>
                <a:hlinkClick r:id="rId4"/>
              </a:rPr>
              <a:t>function</a:t>
            </a:r>
            <a:r>
              <a:rPr lang="en-US" sz="3600" b="1" dirty="0">
                <a:latin typeface="Times New Roman" pitchFamily="18" charset="0"/>
                <a:cs typeface="Times New Roman" pitchFamily="18" charset="0"/>
              </a:rPr>
              <a:t> </a:t>
            </a:r>
            <a:r>
              <a:rPr lang="en-US" sz="3600" b="1" dirty="0" smtClean="0">
                <a:latin typeface="Times New Roman" pitchFamily="18" charset="0"/>
                <a:cs typeface="Times New Roman" pitchFamily="18" charset="0"/>
              </a:rPr>
              <a:t>of:</a:t>
            </a:r>
          </a:p>
          <a:p>
            <a:pPr marL="447675" algn="just">
              <a:lnSpc>
                <a:spcPct val="114000"/>
              </a:lnSpc>
              <a:buClr>
                <a:srgbClr val="FF0000"/>
              </a:buClr>
            </a:pPr>
            <a:endParaRPr lang="en-US" b="1" dirty="0" smtClean="0">
              <a:latin typeface="Times New Roman" pitchFamily="18" charset="0"/>
              <a:cs typeface="Times New Roman" pitchFamily="18" charset="0"/>
            </a:endParaRPr>
          </a:p>
          <a:p>
            <a:pPr marL="447675" algn="just">
              <a:lnSpc>
                <a:spcPct val="114000"/>
              </a:lnSpc>
              <a:buClr>
                <a:srgbClr val="FF0000"/>
              </a:buClr>
            </a:pPr>
            <a:endParaRPr lang="en-US" sz="1000" b="1" dirty="0" smtClean="0">
              <a:latin typeface="Times New Roman" pitchFamily="18" charset="0"/>
              <a:cs typeface="Times New Roman" pitchFamily="18" charset="0"/>
            </a:endParaRPr>
          </a:p>
          <a:p>
            <a:pPr marL="1190625" indent="-742950" algn="just">
              <a:lnSpc>
                <a:spcPct val="114000"/>
              </a:lnSpc>
              <a:buFont typeface="+mj-lt"/>
              <a:buAutoNum type="arabicParenR"/>
            </a:pPr>
            <a:r>
              <a:rPr lang="en-US" sz="3600" b="1" dirty="0" smtClean="0">
                <a:latin typeface="Times New Roman" pitchFamily="18" charset="0"/>
                <a:cs typeface="Times New Roman" pitchFamily="18" charset="0"/>
              </a:rPr>
              <a:t>Establishing </a:t>
            </a:r>
            <a:r>
              <a:rPr lang="en-US" sz="3600" b="1" dirty="0">
                <a:latin typeface="Times New Roman" pitchFamily="18" charset="0"/>
                <a:cs typeface="Times New Roman" pitchFamily="18" charset="0"/>
                <a:hlinkClick r:id="rId5"/>
              </a:rPr>
              <a:t>benchmarks</a:t>
            </a:r>
            <a:r>
              <a:rPr lang="en-US" sz="3600" b="1" dirty="0">
                <a:latin typeface="Times New Roman" pitchFamily="18" charset="0"/>
                <a:cs typeface="Times New Roman" pitchFamily="18" charset="0"/>
              </a:rPr>
              <a:t> or standards</a:t>
            </a:r>
            <a:r>
              <a:rPr lang="en-US" sz="3600" b="1" dirty="0" smtClean="0">
                <a:latin typeface="Times New Roman" pitchFamily="18" charset="0"/>
                <a:cs typeface="Times New Roman" pitchFamily="18" charset="0"/>
              </a:rPr>
              <a:t>,</a:t>
            </a:r>
          </a:p>
          <a:p>
            <a:pPr marL="1190625" indent="-742950" algn="just">
              <a:lnSpc>
                <a:spcPct val="114000"/>
              </a:lnSpc>
              <a:buFont typeface="+mj-lt"/>
              <a:buAutoNum type="arabicParenR"/>
            </a:pPr>
            <a:endParaRPr lang="en-US" b="1" dirty="0" smtClean="0">
              <a:latin typeface="Times New Roman" pitchFamily="18" charset="0"/>
              <a:cs typeface="Times New Roman" pitchFamily="18" charset="0"/>
            </a:endParaRPr>
          </a:p>
          <a:p>
            <a:pPr marL="1190625" indent="-742950" algn="just">
              <a:lnSpc>
                <a:spcPct val="114000"/>
              </a:lnSpc>
              <a:buFont typeface="+mj-lt"/>
              <a:buAutoNum type="arabicParenR"/>
            </a:pPr>
            <a:r>
              <a:rPr lang="en-US" sz="3600" b="1" dirty="0" smtClean="0">
                <a:latin typeface="Times New Roman" pitchFamily="18" charset="0"/>
                <a:cs typeface="Times New Roman" pitchFamily="18" charset="0"/>
              </a:rPr>
              <a:t>Comparing </a:t>
            </a:r>
            <a:r>
              <a:rPr lang="en-US" sz="3600" b="1" dirty="0">
                <a:latin typeface="Times New Roman" pitchFamily="18" charset="0"/>
                <a:cs typeface="Times New Roman" pitchFamily="18" charset="0"/>
                <a:hlinkClick r:id="rId6"/>
              </a:rPr>
              <a:t>actual</a:t>
            </a:r>
            <a:r>
              <a:rPr lang="en-US" sz="3600" b="1" dirty="0">
                <a:latin typeface="Times New Roman" pitchFamily="18" charset="0"/>
                <a:cs typeface="Times New Roman" pitchFamily="18" charset="0"/>
              </a:rPr>
              <a:t> </a:t>
            </a:r>
            <a:r>
              <a:rPr lang="en-US" sz="3600" b="1" dirty="0">
                <a:latin typeface="Times New Roman" pitchFamily="18" charset="0"/>
                <a:cs typeface="Times New Roman" pitchFamily="18" charset="0"/>
                <a:hlinkClick r:id="rId7"/>
              </a:rPr>
              <a:t>performance</a:t>
            </a:r>
            <a:r>
              <a:rPr lang="en-US" sz="3600" b="1" dirty="0">
                <a:latin typeface="Times New Roman" pitchFamily="18" charset="0"/>
                <a:cs typeface="Times New Roman" pitchFamily="18" charset="0"/>
              </a:rPr>
              <a:t> </a:t>
            </a:r>
            <a:r>
              <a:rPr lang="en-US" sz="3600" b="1" dirty="0">
                <a:latin typeface="Times New Roman" pitchFamily="18" charset="0"/>
                <a:cs typeface="Times New Roman" pitchFamily="18" charset="0"/>
                <a:hlinkClick r:id="rId8"/>
              </a:rPr>
              <a:t>against</a:t>
            </a:r>
            <a:r>
              <a:rPr lang="en-US" sz="3600" b="1" dirty="0">
                <a:latin typeface="Times New Roman" pitchFamily="18" charset="0"/>
                <a:cs typeface="Times New Roman" pitchFamily="18" charset="0"/>
              </a:rPr>
              <a:t> them, and </a:t>
            </a:r>
            <a:endParaRPr lang="en-US" sz="3600" b="1" dirty="0" smtClean="0">
              <a:latin typeface="Times New Roman" pitchFamily="18" charset="0"/>
              <a:cs typeface="Times New Roman" pitchFamily="18" charset="0"/>
            </a:endParaRPr>
          </a:p>
          <a:p>
            <a:pPr marL="1190625" indent="-742950" algn="just">
              <a:lnSpc>
                <a:spcPct val="114000"/>
              </a:lnSpc>
              <a:buFont typeface="+mj-lt"/>
              <a:buAutoNum type="arabicParenR"/>
            </a:pPr>
            <a:endParaRPr lang="en-US" b="1" dirty="0" smtClean="0">
              <a:latin typeface="Times New Roman" pitchFamily="18" charset="0"/>
              <a:cs typeface="Times New Roman" pitchFamily="18" charset="0"/>
            </a:endParaRPr>
          </a:p>
          <a:p>
            <a:pPr marL="1190625" indent="-742950" algn="just">
              <a:lnSpc>
                <a:spcPct val="114000"/>
              </a:lnSpc>
              <a:buFont typeface="+mj-lt"/>
              <a:buAutoNum type="arabicParenR"/>
            </a:pPr>
            <a:r>
              <a:rPr lang="en-US" sz="3600" b="1" dirty="0" smtClean="0">
                <a:latin typeface="Times New Roman" pitchFamily="18" charset="0"/>
                <a:cs typeface="Times New Roman" pitchFamily="18" charset="0"/>
              </a:rPr>
              <a:t>Taking </a:t>
            </a:r>
            <a:r>
              <a:rPr lang="en-US" sz="3600" b="1" dirty="0">
                <a:latin typeface="Times New Roman" pitchFamily="18" charset="0"/>
                <a:cs typeface="Times New Roman" pitchFamily="18" charset="0"/>
                <a:hlinkClick r:id="rId9"/>
              </a:rPr>
              <a:t>corrective action</a:t>
            </a:r>
            <a:r>
              <a:rPr lang="en-US" sz="3600" b="1" dirty="0">
                <a:latin typeface="Times New Roman" pitchFamily="18" charset="0"/>
                <a:cs typeface="Times New Roman" pitchFamily="18" charset="0"/>
              </a:rPr>
              <a:t>, if </a:t>
            </a:r>
            <a:r>
              <a:rPr lang="en-US" sz="3600" b="1" dirty="0">
                <a:latin typeface="Times New Roman" pitchFamily="18" charset="0"/>
                <a:cs typeface="Times New Roman" pitchFamily="18" charset="0"/>
                <a:hlinkClick r:id="rId10"/>
              </a:rPr>
              <a:t>required</a:t>
            </a:r>
            <a:endParaRPr lang="en-US" sz="3600" b="1" dirty="0">
              <a:latin typeface="Times New Roman" pitchFamily="18" charset="0"/>
              <a:cs typeface="Times New Roman" pitchFamily="18" charset="0"/>
            </a:endParaRPr>
          </a:p>
        </p:txBody>
      </p:sp>
      <p:sp>
        <p:nvSpPr>
          <p:cNvPr id="1945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19459" name="Rectangle 3"/>
          <p:cNvSpPr>
            <a:spLocks noChangeArrowheads="1"/>
          </p:cNvSpPr>
          <p:nvPr/>
        </p:nvSpPr>
        <p:spPr bwMode="auto">
          <a:xfrm>
            <a:off x="457200" y="8953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1946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19462" name="Rectangle 6"/>
          <p:cNvSpPr>
            <a:spLocks noChangeArrowheads="1"/>
          </p:cNvSpPr>
          <p:nvPr/>
        </p:nvSpPr>
        <p:spPr bwMode="auto">
          <a:xfrm>
            <a:off x="457200" y="9334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19464"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19465" name="Rectangle 9"/>
          <p:cNvSpPr>
            <a:spLocks noChangeArrowheads="1"/>
          </p:cNvSpPr>
          <p:nvPr/>
        </p:nvSpPr>
        <p:spPr bwMode="auto">
          <a:xfrm>
            <a:off x="0" y="6953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227718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fade">
                                      <p:cBhvr>
                                        <p:cTn id="13" dur="1000"/>
                                        <p:tgtEl>
                                          <p:spTgt spid="7">
                                            <p:txEl>
                                              <p:pRg st="3" end="3"/>
                                            </p:txEl>
                                          </p:spTgt>
                                        </p:tgtEl>
                                      </p:cBhvr>
                                    </p:animEffect>
                                    <p:anim calcmode="lin" valueType="num">
                                      <p:cBhvr>
                                        <p:cTn id="14"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5"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
                                            <p:txEl>
                                              <p:pRg st="5" end="5"/>
                                            </p:txEl>
                                          </p:spTgt>
                                        </p:tgtEl>
                                        <p:attrNameLst>
                                          <p:attrName>style.visibility</p:attrName>
                                        </p:attrNameLst>
                                      </p:cBhvr>
                                      <p:to>
                                        <p:strVal val="visible"/>
                                      </p:to>
                                    </p:set>
                                    <p:animEffect transition="in" filter="fade">
                                      <p:cBhvr>
                                        <p:cTn id="20" dur="1000"/>
                                        <p:tgtEl>
                                          <p:spTgt spid="7">
                                            <p:txEl>
                                              <p:pRg st="5" end="5"/>
                                            </p:txEl>
                                          </p:spTgt>
                                        </p:tgtEl>
                                      </p:cBhvr>
                                    </p:animEffect>
                                    <p:anim calcmode="lin" valueType="num">
                                      <p:cBhvr>
                                        <p:cTn id="21"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2"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animEffect transition="in" filter="fade">
                                      <p:cBhvr>
                                        <p:cTn id="27" dur="1000"/>
                                        <p:tgtEl>
                                          <p:spTgt spid="7">
                                            <p:txEl>
                                              <p:pRg st="7" end="7"/>
                                            </p:txEl>
                                          </p:spTgt>
                                        </p:tgtEl>
                                      </p:cBhvr>
                                    </p:animEffect>
                                    <p:anim calcmode="lin" valueType="num">
                                      <p:cBhvr>
                                        <p:cTn id="28"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0" y="274638"/>
            <a:ext cx="9144000" cy="792162"/>
          </a:xfrm>
        </p:spPr>
        <p:txBody>
          <a:bodyPr>
            <a:normAutofit/>
          </a:bodyPr>
          <a:lstStyle/>
          <a:p>
            <a:r>
              <a:rPr lang="en-US" b="1" dirty="0">
                <a:solidFill>
                  <a:srgbClr val="FF0000"/>
                </a:solidFill>
                <a:latin typeface="Times New Roman" pitchFamily="18" charset="0"/>
                <a:cs typeface="Times New Roman" pitchFamily="18" charset="0"/>
              </a:rPr>
              <a:t>6) Controlling</a:t>
            </a:r>
            <a:endParaRPr lang="ar-YE" dirty="0">
              <a:solidFill>
                <a:srgbClr val="FF0000"/>
              </a:solidFill>
            </a:endParaRPr>
          </a:p>
        </p:txBody>
      </p:sp>
      <p:sp>
        <p:nvSpPr>
          <p:cNvPr id="3" name="عنصر نائب للمحتوى 2"/>
          <p:cNvSpPr>
            <a:spLocks noGrp="1"/>
          </p:cNvSpPr>
          <p:nvPr>
            <p:ph idx="1"/>
          </p:nvPr>
        </p:nvSpPr>
        <p:spPr>
          <a:xfrm>
            <a:off x="0" y="1371600"/>
            <a:ext cx="9144000" cy="5349875"/>
          </a:xfrm>
        </p:spPr>
        <p:txBody>
          <a:bodyPr>
            <a:normAutofit fontScale="92500" lnSpcReduction="10000"/>
          </a:bodyPr>
          <a:lstStyle/>
          <a:p>
            <a:pPr marL="0" lvl="0" indent="0" algn="just">
              <a:lnSpc>
                <a:spcPct val="114000"/>
              </a:lnSpc>
              <a:buClr>
                <a:srgbClr val="FF0000"/>
              </a:buClr>
              <a:buNone/>
              <a:defRPr/>
            </a:pPr>
            <a:r>
              <a:rPr lang="en-US" sz="3900" b="1" dirty="0">
                <a:solidFill>
                  <a:srgbClr val="990099"/>
                </a:solidFill>
                <a:latin typeface="Times New Roman" pitchFamily="18" charset="0"/>
                <a:cs typeface="Times New Roman" pitchFamily="18" charset="0"/>
              </a:rPr>
              <a:t>Control function can be viewed as </a:t>
            </a:r>
            <a:r>
              <a:rPr lang="en-US" sz="3900" b="1" dirty="0" smtClean="0">
                <a:solidFill>
                  <a:srgbClr val="990099"/>
                </a:solidFill>
                <a:latin typeface="Times New Roman" pitchFamily="18" charset="0"/>
                <a:cs typeface="Times New Roman" pitchFamily="18" charset="0"/>
              </a:rPr>
              <a:t>follow:</a:t>
            </a:r>
          </a:p>
          <a:p>
            <a:pPr marL="0" lvl="0" indent="0" algn="just">
              <a:lnSpc>
                <a:spcPct val="114000"/>
              </a:lnSpc>
              <a:buClr>
                <a:srgbClr val="FF0000"/>
              </a:buClr>
              <a:buNone/>
              <a:defRPr/>
            </a:pPr>
            <a:endParaRPr lang="en-US" sz="1100" b="1" dirty="0" smtClean="0">
              <a:solidFill>
                <a:srgbClr val="990099"/>
              </a:solidFill>
              <a:latin typeface="Times New Roman" pitchFamily="18" charset="0"/>
              <a:cs typeface="Times New Roman" pitchFamily="18" charset="0"/>
            </a:endParaRPr>
          </a:p>
          <a:p>
            <a:pPr lvl="0" algn="just">
              <a:lnSpc>
                <a:spcPct val="114000"/>
              </a:lnSpc>
              <a:buFont typeface="Wingdings" pitchFamily="2" charset="2"/>
              <a:buChar char="Ø"/>
              <a:defRPr/>
            </a:pPr>
            <a:r>
              <a:rPr lang="en-US" sz="3500" b="1" dirty="0" smtClean="0">
                <a:latin typeface="Times New Roman" pitchFamily="18" charset="0"/>
                <a:cs typeface="Times New Roman" pitchFamily="18" charset="0"/>
              </a:rPr>
              <a:t>Controlling </a:t>
            </a:r>
            <a:r>
              <a:rPr lang="en-US" sz="3500" b="1" dirty="0">
                <a:latin typeface="Times New Roman" pitchFamily="18" charset="0"/>
                <a:cs typeface="Times New Roman" pitchFamily="18" charset="0"/>
              </a:rPr>
              <a:t>involves making sure that the results achieved are in line with the planned </a:t>
            </a:r>
            <a:r>
              <a:rPr lang="en-US" sz="3500" b="1" dirty="0" smtClean="0">
                <a:latin typeface="Times New Roman" pitchFamily="18" charset="0"/>
                <a:cs typeface="Times New Roman" pitchFamily="18" charset="0"/>
              </a:rPr>
              <a:t>results.</a:t>
            </a:r>
          </a:p>
          <a:p>
            <a:pPr lvl="0" algn="just">
              <a:lnSpc>
                <a:spcPct val="114000"/>
              </a:lnSpc>
              <a:buFont typeface="Wingdings" pitchFamily="2" charset="2"/>
              <a:buChar char="Ø"/>
              <a:defRPr/>
            </a:pPr>
            <a:endParaRPr lang="en-US" sz="1100" b="1" dirty="0" smtClean="0">
              <a:latin typeface="Times New Roman" pitchFamily="18" charset="0"/>
              <a:cs typeface="Times New Roman" pitchFamily="18" charset="0"/>
            </a:endParaRPr>
          </a:p>
          <a:p>
            <a:pPr lvl="0" algn="just">
              <a:lnSpc>
                <a:spcPct val="114000"/>
              </a:lnSpc>
              <a:buFont typeface="Wingdings" pitchFamily="2" charset="2"/>
              <a:buChar char="Ø"/>
              <a:defRPr/>
            </a:pPr>
            <a:r>
              <a:rPr lang="en-US" sz="3500" b="1" dirty="0" smtClean="0">
                <a:latin typeface="Times New Roman" pitchFamily="18" charset="0"/>
                <a:cs typeface="Times New Roman" pitchFamily="18" charset="0"/>
              </a:rPr>
              <a:t>The </a:t>
            </a:r>
            <a:r>
              <a:rPr lang="en-US" sz="3500" b="1" dirty="0">
                <a:latin typeface="Times New Roman" pitchFamily="18" charset="0"/>
                <a:cs typeface="Times New Roman" pitchFamily="18" charset="0"/>
              </a:rPr>
              <a:t>main feature of control is action to correct performance deviations and to insure that expected results are </a:t>
            </a:r>
            <a:r>
              <a:rPr lang="en-US" sz="3500" b="1" dirty="0" smtClean="0">
                <a:latin typeface="Times New Roman" pitchFamily="18" charset="0"/>
                <a:cs typeface="Times New Roman" pitchFamily="18" charset="0"/>
              </a:rPr>
              <a:t>forthcoming.</a:t>
            </a:r>
          </a:p>
          <a:p>
            <a:pPr lvl="0" algn="just">
              <a:lnSpc>
                <a:spcPct val="114000"/>
              </a:lnSpc>
              <a:buFont typeface="Wingdings" pitchFamily="2" charset="2"/>
              <a:buChar char="Ø"/>
              <a:defRPr/>
            </a:pPr>
            <a:endParaRPr lang="en-US" sz="1100" b="1" dirty="0" smtClean="0">
              <a:latin typeface="Times New Roman" pitchFamily="18" charset="0"/>
              <a:cs typeface="Times New Roman" pitchFamily="18" charset="0"/>
            </a:endParaRPr>
          </a:p>
          <a:p>
            <a:pPr lvl="0" algn="just">
              <a:lnSpc>
                <a:spcPct val="114000"/>
              </a:lnSpc>
              <a:buFont typeface="Wingdings" pitchFamily="2" charset="2"/>
              <a:buChar char="Ø"/>
              <a:defRPr/>
            </a:pPr>
            <a:r>
              <a:rPr lang="en-US" sz="3500" b="1" dirty="0" smtClean="0">
                <a:solidFill>
                  <a:srgbClr val="002060"/>
                </a:solidFill>
                <a:latin typeface="Times New Roman" pitchFamily="18" charset="0"/>
                <a:cs typeface="Times New Roman" pitchFamily="18" charset="0"/>
              </a:rPr>
              <a:t>Control </a:t>
            </a:r>
            <a:r>
              <a:rPr lang="en-US" sz="3500" b="1" dirty="0">
                <a:solidFill>
                  <a:srgbClr val="002060"/>
                </a:solidFill>
                <a:latin typeface="Times New Roman" pitchFamily="18" charset="0"/>
                <a:cs typeface="Times New Roman" pitchFamily="18" charset="0"/>
              </a:rPr>
              <a:t>= Monitor + Compare + Analysis + Action</a:t>
            </a:r>
            <a:endParaRPr lang="de-DE" sz="3500" b="1" dirty="0">
              <a:solidFill>
                <a:srgbClr val="002060"/>
              </a:solidFill>
              <a:latin typeface="Times New Roman" pitchFamily="18" charset="0"/>
              <a:cs typeface="Times New Roman" pitchFamily="18" charset="0"/>
            </a:endParaRPr>
          </a:p>
          <a:p>
            <a:pPr marL="0" indent="0">
              <a:buNone/>
            </a:pPr>
            <a:endParaRPr lang="ar-YE" dirty="0"/>
          </a:p>
        </p:txBody>
      </p:sp>
      <p:sp>
        <p:nvSpPr>
          <p:cNvPr id="4" name="عنصر نائب لرقم الشريحة 3"/>
          <p:cNvSpPr>
            <a:spLocks noGrp="1"/>
          </p:cNvSpPr>
          <p:nvPr>
            <p:ph type="sldNum" sz="quarter" idx="12"/>
          </p:nvPr>
        </p:nvSpPr>
        <p:spPr/>
        <p:txBody>
          <a:bodyPr/>
          <a:lstStyle/>
          <a:p>
            <a:fld id="{64F3F0E1-6389-4DAA-B649-2ED1A0C4FA57}" type="slidenum">
              <a:rPr lang="en-US" smtClean="0"/>
              <a:pPr/>
              <a:t>31</a:t>
            </a:fld>
            <a:endParaRPr lang="en-US" dirty="0"/>
          </a:p>
        </p:txBody>
      </p:sp>
    </p:spTree>
    <p:extLst>
      <p:ext uri="{BB962C8B-B14F-4D97-AF65-F5344CB8AC3E}">
        <p14:creationId xmlns:p14="http://schemas.microsoft.com/office/powerpoint/2010/main" val="385187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5400"/>
            <a:ext cx="9144000" cy="812800"/>
          </a:xfrm>
        </p:spPr>
        <p:txBody>
          <a:bodyPr>
            <a:normAutofit fontScale="90000"/>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sz="4900" b="1" dirty="0" smtClean="0">
                <a:latin typeface="Times New Roman" pitchFamily="18" charset="0"/>
                <a:cs typeface="Times New Roman" pitchFamily="18" charset="0"/>
              </a:rPr>
              <a:t> </a:t>
            </a:r>
            <a:r>
              <a:rPr lang="en-US" sz="4900" b="1" dirty="0">
                <a:solidFill>
                  <a:srgbClr val="FF0000"/>
                </a:solidFill>
                <a:latin typeface="Times New Roman" pitchFamily="18" charset="0"/>
                <a:cs typeface="Times New Roman" pitchFamily="18" charset="0"/>
              </a:rPr>
              <a:t>Project </a:t>
            </a:r>
            <a:r>
              <a:rPr lang="en-US" sz="4900" b="1" dirty="0" smtClean="0">
                <a:solidFill>
                  <a:srgbClr val="FF0000"/>
                </a:solidFill>
                <a:latin typeface="Times New Roman" pitchFamily="18" charset="0"/>
                <a:cs typeface="Times New Roman" pitchFamily="18" charset="0"/>
              </a:rPr>
              <a:t>Management</a:t>
            </a:r>
            <a:r>
              <a:rPr lang="en-US" sz="4000" b="1" dirty="0">
                <a:solidFill>
                  <a:srgbClr val="002060"/>
                </a:solidFill>
                <a:latin typeface="Times New Roman"/>
                <a:ea typeface="Times New Roman"/>
                <a:cs typeface="Arial"/>
              </a:rPr>
              <a:t/>
            </a:r>
            <a:br>
              <a:rPr lang="en-US" sz="4000" b="1" dirty="0">
                <a:solidFill>
                  <a:srgbClr val="002060"/>
                </a:solidFill>
                <a:latin typeface="Times New Roman"/>
                <a:ea typeface="Times New Roman"/>
                <a:cs typeface="Arial"/>
              </a:rPr>
            </a:br>
            <a: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32</a:t>
            </a:fld>
            <a:endParaRPr lang="en-US" dirty="0"/>
          </a:p>
        </p:txBody>
      </p:sp>
      <p:sp>
        <p:nvSpPr>
          <p:cNvPr id="9" name="TextBox 8"/>
          <p:cNvSpPr txBox="1"/>
          <p:nvPr/>
        </p:nvSpPr>
        <p:spPr>
          <a:xfrm>
            <a:off x="0" y="990600"/>
            <a:ext cx="9144000" cy="5909310"/>
          </a:xfrm>
          <a:prstGeom prst="rect">
            <a:avLst/>
          </a:prstGeom>
          <a:noFill/>
        </p:spPr>
        <p:txBody>
          <a:bodyPr wrap="square" rtlCol="1">
            <a:spAutoFit/>
          </a:bodyPr>
          <a:lstStyle/>
          <a:p>
            <a:pPr marL="457200" lvl="0" indent="-457200" algn="just">
              <a:buFont typeface="Wingdings" pitchFamily="2" charset="2"/>
              <a:buChar char="Ø"/>
            </a:pPr>
            <a:r>
              <a:rPr lang="en-US" sz="3200" b="1" dirty="0">
                <a:solidFill>
                  <a:srgbClr val="00B0F0"/>
                </a:solidFill>
                <a:latin typeface="Times New Roman" pitchFamily="18" charset="0"/>
                <a:cs typeface="Times New Roman" pitchFamily="18" charset="0"/>
              </a:rPr>
              <a:t>A </a:t>
            </a:r>
            <a:r>
              <a:rPr lang="en-US" sz="3200" b="1" dirty="0">
                <a:solidFill>
                  <a:srgbClr val="00B0F0"/>
                </a:solidFill>
                <a:effectLst>
                  <a:outerShdw blurRad="38100" dist="38100" dir="2700000" algn="tl">
                    <a:srgbClr val="C0C0C0"/>
                  </a:outerShdw>
                </a:effectLst>
                <a:latin typeface="Times New Roman" pitchFamily="18" charset="0"/>
                <a:cs typeface="Times New Roman" pitchFamily="18" charset="0"/>
              </a:rPr>
              <a:t>project</a:t>
            </a:r>
            <a:r>
              <a:rPr lang="en-US" sz="3200" b="1" dirty="0">
                <a:solidFill>
                  <a:srgbClr val="00B0F0"/>
                </a:solidFill>
                <a:latin typeface="Times New Roman" pitchFamily="18" charset="0"/>
                <a:cs typeface="Times New Roman" pitchFamily="18" charset="0"/>
              </a:rPr>
              <a:t> </a:t>
            </a:r>
            <a:r>
              <a:rPr lang="en-US" sz="3200" b="1" dirty="0">
                <a:latin typeface="Times New Roman" pitchFamily="18" charset="0"/>
                <a:cs typeface="Times New Roman" pitchFamily="18" charset="0"/>
              </a:rPr>
              <a:t>is a unique process, consisting of a set of coordinated and controlled activities with start and finish dates, undertaken to achieve an objective conforming to specific requirements, including the constraints of time, cost and resources</a:t>
            </a:r>
            <a:r>
              <a:rPr lang="en-US" sz="3200" b="1" dirty="0" smtClean="0">
                <a:latin typeface="Times New Roman" pitchFamily="18" charset="0"/>
                <a:cs typeface="Times New Roman" pitchFamily="18" charset="0"/>
              </a:rPr>
              <a:t>.</a:t>
            </a:r>
          </a:p>
          <a:p>
            <a:pPr marL="457200" lvl="0" indent="-457200" algn="just">
              <a:buFont typeface="Wingdings" pitchFamily="2" charset="2"/>
              <a:buChar char="Ø"/>
            </a:pPr>
            <a:endParaRPr lang="en-US" sz="1000" b="1" dirty="0">
              <a:latin typeface="Times New Roman" pitchFamily="18" charset="0"/>
              <a:cs typeface="Times New Roman" pitchFamily="18" charset="0"/>
            </a:endParaRPr>
          </a:p>
          <a:p>
            <a:pPr marL="457200" indent="-457200" algn="just">
              <a:buFont typeface="Wingdings" pitchFamily="2" charset="2"/>
              <a:buChar char="Ø"/>
            </a:pPr>
            <a:r>
              <a:rPr lang="en-US" sz="3200" b="1" dirty="0">
                <a:solidFill>
                  <a:srgbClr val="C00000"/>
                </a:solidFill>
                <a:latin typeface="Times New Roman" pitchFamily="18" charset="0"/>
                <a:cs typeface="Times New Roman" pitchFamily="18" charset="0"/>
              </a:rPr>
              <a:t>The outcome of a project may be one or several units of product</a:t>
            </a:r>
            <a:r>
              <a:rPr lang="en-US" sz="3200" b="1" dirty="0" smtClean="0">
                <a:solidFill>
                  <a:srgbClr val="C00000"/>
                </a:solidFill>
                <a:latin typeface="Times New Roman" pitchFamily="18" charset="0"/>
                <a:cs typeface="Times New Roman" pitchFamily="18" charset="0"/>
              </a:rPr>
              <a:t>.</a:t>
            </a:r>
          </a:p>
          <a:p>
            <a:pPr marL="457200" indent="-457200" algn="just">
              <a:buFont typeface="Wingdings" pitchFamily="2" charset="2"/>
              <a:buChar char="Ø"/>
            </a:pPr>
            <a:endParaRPr lang="en-US" sz="800" b="1" dirty="0">
              <a:solidFill>
                <a:srgbClr val="C00000"/>
              </a:solidFill>
              <a:latin typeface="Times New Roman" pitchFamily="18" charset="0"/>
              <a:cs typeface="Times New Roman" pitchFamily="18" charset="0"/>
            </a:endParaRPr>
          </a:p>
          <a:p>
            <a:pPr marL="457200" lvl="0" indent="-457200" algn="just">
              <a:buFont typeface="Wingdings" pitchFamily="2" charset="2"/>
              <a:buChar char="Ø"/>
            </a:pPr>
            <a:r>
              <a:rPr lang="en-US" sz="3200" dirty="0">
                <a:solidFill>
                  <a:srgbClr val="990099"/>
                </a:solidFill>
                <a:latin typeface="Times New Roman" pitchFamily="18" charset="0"/>
                <a:cs typeface="Times New Roman" pitchFamily="18" charset="0"/>
              </a:rPr>
              <a:t>A </a:t>
            </a:r>
            <a:r>
              <a:rPr lang="en-US" sz="3200" b="1" dirty="0">
                <a:solidFill>
                  <a:srgbClr val="990099"/>
                </a:solidFill>
                <a:latin typeface="Times New Roman" pitchFamily="18" charset="0"/>
                <a:cs typeface="Times New Roman" pitchFamily="18" charset="0"/>
              </a:rPr>
              <a:t>product</a:t>
            </a:r>
            <a:r>
              <a:rPr lang="en-US" sz="3200" dirty="0">
                <a:solidFill>
                  <a:srgbClr val="990099"/>
                </a:solidFill>
                <a:latin typeface="Times New Roman" pitchFamily="18" charset="0"/>
                <a:cs typeface="Times New Roman" pitchFamily="18" charset="0"/>
              </a:rPr>
              <a:t> is the result of a </a:t>
            </a:r>
            <a:r>
              <a:rPr lang="en-US" sz="3200" b="1" dirty="0">
                <a:solidFill>
                  <a:srgbClr val="990099"/>
                </a:solidFill>
                <a:latin typeface="Times New Roman" pitchFamily="18" charset="0"/>
                <a:cs typeface="Times New Roman" pitchFamily="18" charset="0"/>
              </a:rPr>
              <a:t>process</a:t>
            </a:r>
            <a:r>
              <a:rPr lang="en-US" sz="3200" dirty="0" smtClean="0">
                <a:solidFill>
                  <a:srgbClr val="990099"/>
                </a:solidFill>
                <a:latin typeface="Times New Roman" pitchFamily="18" charset="0"/>
                <a:cs typeface="Times New Roman" pitchFamily="18" charset="0"/>
              </a:rPr>
              <a:t>.</a:t>
            </a:r>
          </a:p>
          <a:p>
            <a:pPr marL="457200" lvl="0" indent="-457200" algn="just">
              <a:buFont typeface="Wingdings" pitchFamily="2" charset="2"/>
              <a:buChar char="Ø"/>
            </a:pPr>
            <a:endParaRPr lang="en-US" sz="800" dirty="0">
              <a:solidFill>
                <a:srgbClr val="990099"/>
              </a:solidFill>
              <a:latin typeface="Times New Roman" pitchFamily="18" charset="0"/>
              <a:cs typeface="Times New Roman" pitchFamily="18" charset="0"/>
            </a:endParaRPr>
          </a:p>
          <a:p>
            <a:pPr marL="457200" indent="-457200" algn="just">
              <a:buFont typeface="Wingdings" pitchFamily="2" charset="2"/>
              <a:buChar char="Ø"/>
            </a:pPr>
            <a:r>
              <a:rPr lang="en-US" sz="3200" b="1" dirty="0">
                <a:solidFill>
                  <a:srgbClr val="002060"/>
                </a:solidFill>
                <a:latin typeface="Times New Roman" pitchFamily="18" charset="0"/>
                <a:cs typeface="Times New Roman" pitchFamily="18" charset="0"/>
              </a:rPr>
              <a:t>A process is a set of interrelated or interacting activities which transforms inputs to outputs</a:t>
            </a:r>
            <a:r>
              <a:rPr lang="en-US" sz="3200" b="1" dirty="0" smtClean="0">
                <a:solidFill>
                  <a:srgbClr val="002060"/>
                </a:solidFill>
                <a:latin typeface="Times New Roman" pitchFamily="18" charset="0"/>
                <a:cs typeface="Times New Roman" pitchFamily="18" charset="0"/>
              </a:rPr>
              <a:t>.</a:t>
            </a:r>
            <a:endParaRPr lang="en-US" sz="3200"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719267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fade">
                                      <p:cBhvr>
                                        <p:cTn id="13" dur="1000"/>
                                        <p:tgtEl>
                                          <p:spTgt spid="9">
                                            <p:txEl>
                                              <p:pRg st="2" end="2"/>
                                            </p:txEl>
                                          </p:spTgt>
                                        </p:tgtEl>
                                      </p:cBhvr>
                                    </p:animEffect>
                                    <p:anim calcmode="lin" valueType="num">
                                      <p:cBhvr>
                                        <p:cTn id="14"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9">
                                            <p:txEl>
                                              <p:pRg st="4" end="4"/>
                                            </p:txEl>
                                          </p:spTgt>
                                        </p:tgtEl>
                                        <p:attrNameLst>
                                          <p:attrName>style.visibility</p:attrName>
                                        </p:attrNameLst>
                                      </p:cBhvr>
                                      <p:to>
                                        <p:strVal val="visible"/>
                                      </p:to>
                                    </p:set>
                                    <p:anim calcmode="lin" valueType="num">
                                      <p:cBhvr additive="base">
                                        <p:cTn id="20"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9">
                                            <p:txEl>
                                              <p:pRg st="6" end="6"/>
                                            </p:txEl>
                                          </p:spTgt>
                                        </p:tgtEl>
                                        <p:attrNameLst>
                                          <p:attrName>style.visibility</p:attrName>
                                        </p:attrNameLst>
                                      </p:cBhvr>
                                      <p:to>
                                        <p:strVal val="visible"/>
                                      </p:to>
                                    </p:set>
                                    <p:animEffect transition="in" filter="fade">
                                      <p:cBhvr>
                                        <p:cTn id="26" dur="1000"/>
                                        <p:tgtEl>
                                          <p:spTgt spid="9">
                                            <p:txEl>
                                              <p:pRg st="6" end="6"/>
                                            </p:txEl>
                                          </p:spTgt>
                                        </p:tgtEl>
                                      </p:cBhvr>
                                    </p:animEffect>
                                    <p:anim calcmode="lin" valueType="num">
                                      <p:cBhvr>
                                        <p:cTn id="27"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77225"/>
            <a:ext cx="9144000" cy="889575"/>
          </a:xfrm>
        </p:spPr>
        <p:txBody>
          <a:bodyPr>
            <a:normAutofit fontScale="90000"/>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sz="3200" b="1" dirty="0" smtClean="0"/>
              <a:t> </a:t>
            </a:r>
            <a:r>
              <a:rPr lang="en-US" sz="4900" b="1" dirty="0">
                <a:solidFill>
                  <a:srgbClr val="FF0000"/>
                </a:solidFill>
                <a:latin typeface="Times New Roman" pitchFamily="18" charset="0"/>
                <a:cs typeface="Times New Roman" pitchFamily="18" charset="0"/>
              </a:rPr>
              <a:t>Project </a:t>
            </a:r>
            <a:r>
              <a:rPr lang="en-US" sz="4900" b="1" dirty="0" smtClean="0">
                <a:solidFill>
                  <a:srgbClr val="FF0000"/>
                </a:solidFill>
                <a:latin typeface="Times New Roman" pitchFamily="18" charset="0"/>
                <a:cs typeface="Times New Roman" pitchFamily="18" charset="0"/>
              </a:rPr>
              <a:t>Management</a:t>
            </a:r>
            <a:r>
              <a:rPr lang="en-US" sz="4000" b="1" dirty="0">
                <a:solidFill>
                  <a:srgbClr val="002060"/>
                </a:solidFill>
                <a:latin typeface="Times New Roman"/>
                <a:ea typeface="Times New Roman"/>
                <a:cs typeface="Arial"/>
              </a:rPr>
              <a:t/>
            </a:r>
            <a:br>
              <a:rPr lang="en-US" sz="4000" b="1" dirty="0">
                <a:solidFill>
                  <a:srgbClr val="002060"/>
                </a:solidFill>
                <a:latin typeface="Times New Roman"/>
                <a:ea typeface="Times New Roman"/>
                <a:cs typeface="Arial"/>
              </a:rPr>
            </a:br>
            <a: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33</a:t>
            </a:fld>
            <a:endParaRPr lang="en-US" dirty="0"/>
          </a:p>
        </p:txBody>
      </p:sp>
      <p:sp>
        <p:nvSpPr>
          <p:cNvPr id="153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pic>
        <p:nvPicPr>
          <p:cNvPr id="15361" name="Picture 1"/>
          <p:cNvPicPr>
            <a:picLocks noChangeAspect="1" noChangeArrowheads="1"/>
          </p:cNvPicPr>
          <p:nvPr/>
        </p:nvPicPr>
        <p:blipFill>
          <a:blip r:embed="rId3">
            <a:clrChange>
              <a:clrFrom>
                <a:srgbClr val="FFFFFF"/>
              </a:clrFrom>
              <a:clrTo>
                <a:srgbClr val="FFFFFF">
                  <a:alpha val="0"/>
                </a:srgbClr>
              </a:clrTo>
            </a:clrChange>
            <a:lum bright="70000" contrast="-70000"/>
          </a:blip>
          <a:srcRect/>
          <a:stretch>
            <a:fillRect/>
          </a:stretch>
        </p:blipFill>
        <p:spPr bwMode="auto">
          <a:xfrm>
            <a:off x="3857625" y="2085975"/>
            <a:ext cx="1171575" cy="428625"/>
          </a:xfrm>
          <a:prstGeom prst="rect">
            <a:avLst/>
          </a:prstGeom>
          <a:noFill/>
        </p:spPr>
      </p:pic>
      <p:sp>
        <p:nvSpPr>
          <p:cNvPr id="1536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pic>
        <p:nvPicPr>
          <p:cNvPr id="15363" name="Picture 3"/>
          <p:cNvPicPr>
            <a:picLocks noChangeAspect="1" noChangeArrowheads="1"/>
          </p:cNvPicPr>
          <p:nvPr/>
        </p:nvPicPr>
        <p:blipFill>
          <a:blip r:embed="rId4">
            <a:clrChange>
              <a:clrFrom>
                <a:srgbClr val="FFFFFF"/>
              </a:clrFrom>
              <a:clrTo>
                <a:srgbClr val="FFFFFF">
                  <a:alpha val="0"/>
                </a:srgbClr>
              </a:clrTo>
            </a:clrChange>
            <a:lum bright="70000" contrast="-70000"/>
          </a:blip>
          <a:srcRect/>
          <a:stretch>
            <a:fillRect/>
          </a:stretch>
        </p:blipFill>
        <p:spPr bwMode="auto">
          <a:xfrm>
            <a:off x="5257800" y="2162175"/>
            <a:ext cx="1609725" cy="276225"/>
          </a:xfrm>
          <a:prstGeom prst="rect">
            <a:avLst/>
          </a:prstGeom>
          <a:noFill/>
        </p:spPr>
      </p:pic>
      <p:sp>
        <p:nvSpPr>
          <p:cNvPr id="1536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pic>
        <p:nvPicPr>
          <p:cNvPr id="15365" name="Picture 5"/>
          <p:cNvPicPr>
            <a:picLocks noChangeAspect="1" noChangeArrowheads="1"/>
          </p:cNvPicPr>
          <p:nvPr/>
        </p:nvPicPr>
        <p:blipFill>
          <a:blip r:embed="rId5">
            <a:clrChange>
              <a:clrFrom>
                <a:srgbClr val="FFFFFF"/>
              </a:clrFrom>
              <a:clrTo>
                <a:srgbClr val="FFFFFF">
                  <a:alpha val="0"/>
                </a:srgbClr>
              </a:clrTo>
            </a:clrChange>
            <a:lum bright="70000" contrast="-70000"/>
          </a:blip>
          <a:srcRect/>
          <a:stretch>
            <a:fillRect/>
          </a:stretch>
        </p:blipFill>
        <p:spPr bwMode="auto">
          <a:xfrm>
            <a:off x="7162800" y="2057400"/>
            <a:ext cx="466725" cy="438150"/>
          </a:xfrm>
          <a:prstGeom prst="rect">
            <a:avLst/>
          </a:prstGeom>
          <a:noFill/>
        </p:spPr>
      </p:pic>
      <p:sp>
        <p:nvSpPr>
          <p:cNvPr id="3" name="مربع نص 2"/>
          <p:cNvSpPr txBox="1"/>
          <p:nvPr/>
        </p:nvSpPr>
        <p:spPr>
          <a:xfrm>
            <a:off x="0" y="1600200"/>
            <a:ext cx="9144000" cy="3816429"/>
          </a:xfrm>
          <a:prstGeom prst="rect">
            <a:avLst/>
          </a:prstGeom>
          <a:noFill/>
        </p:spPr>
        <p:txBody>
          <a:bodyPr wrap="square" rtlCol="1">
            <a:spAutoFit/>
          </a:bodyPr>
          <a:lstStyle/>
          <a:p>
            <a:pPr marL="514350" indent="-514350">
              <a:buFont typeface="Wingdings" pitchFamily="2" charset="2"/>
              <a:buChar char="Ø"/>
            </a:pPr>
            <a:r>
              <a:rPr lang="en-GB" sz="3200" b="1" dirty="0">
                <a:solidFill>
                  <a:srgbClr val="990099"/>
                </a:solidFill>
                <a:latin typeface="Times New Roman" pitchFamily="18" charset="0"/>
                <a:cs typeface="Times New Roman" pitchFamily="18" charset="0"/>
              </a:rPr>
              <a:t>A project features the following </a:t>
            </a:r>
            <a:r>
              <a:rPr lang="en-GB" sz="3200" b="1" dirty="0" smtClean="0">
                <a:solidFill>
                  <a:srgbClr val="990099"/>
                </a:solidFill>
                <a:latin typeface="Times New Roman" pitchFamily="18" charset="0"/>
                <a:cs typeface="Times New Roman" pitchFamily="18" charset="0"/>
              </a:rPr>
              <a:t>characteristics:</a:t>
            </a:r>
          </a:p>
          <a:p>
            <a:pPr marL="514350" indent="-514350">
              <a:buFont typeface="Wingdings" pitchFamily="2" charset="2"/>
              <a:buChar char="Ø"/>
            </a:pPr>
            <a:endParaRPr lang="en-GB" sz="1200" b="1" dirty="0">
              <a:solidFill>
                <a:srgbClr val="990099"/>
              </a:solidFill>
              <a:latin typeface="Times New Roman" pitchFamily="18" charset="0"/>
              <a:cs typeface="Times New Roman" pitchFamily="18" charset="0"/>
            </a:endParaRPr>
          </a:p>
          <a:p>
            <a:pPr marL="914400" lvl="1" indent="-457200" algn="just">
              <a:buFont typeface="Wingdings" pitchFamily="2" charset="2"/>
              <a:buChar char="ü"/>
            </a:pPr>
            <a:r>
              <a:rPr lang="en-GB" sz="3200" b="1" dirty="0">
                <a:latin typeface="Times New Roman" pitchFamily="18" charset="0"/>
                <a:cs typeface="Times New Roman" pitchFamily="18" charset="0"/>
              </a:rPr>
              <a:t>Specific start and end </a:t>
            </a:r>
            <a:r>
              <a:rPr lang="en-GB" sz="3200" b="1" dirty="0" smtClean="0">
                <a:latin typeface="Times New Roman" pitchFamily="18" charset="0"/>
                <a:cs typeface="Times New Roman" pitchFamily="18" charset="0"/>
              </a:rPr>
              <a:t>date</a:t>
            </a:r>
          </a:p>
          <a:p>
            <a:pPr marL="914400" lvl="1" indent="-457200" algn="just">
              <a:buFont typeface="Wingdings" pitchFamily="2" charset="2"/>
              <a:buChar char="ü"/>
            </a:pPr>
            <a:endParaRPr lang="en-GB" sz="1000" b="1" dirty="0">
              <a:latin typeface="Times New Roman" pitchFamily="18" charset="0"/>
              <a:cs typeface="Times New Roman" pitchFamily="18" charset="0"/>
            </a:endParaRPr>
          </a:p>
          <a:p>
            <a:pPr marL="914400" lvl="1" indent="-457200" algn="just">
              <a:buFont typeface="Wingdings" pitchFamily="2" charset="2"/>
              <a:buChar char="ü"/>
            </a:pPr>
            <a:r>
              <a:rPr lang="en-GB" sz="3200" b="1" dirty="0">
                <a:latin typeface="Times New Roman" pitchFamily="18" charset="0"/>
                <a:cs typeface="Times New Roman" pitchFamily="18" charset="0"/>
              </a:rPr>
              <a:t>Series of tasks to achieve a defined outcome or </a:t>
            </a:r>
            <a:r>
              <a:rPr lang="en-GB" sz="3200" b="1" dirty="0" smtClean="0">
                <a:latin typeface="Times New Roman" pitchFamily="18" charset="0"/>
                <a:cs typeface="Times New Roman" pitchFamily="18" charset="0"/>
              </a:rPr>
              <a:t>objective</a:t>
            </a:r>
          </a:p>
          <a:p>
            <a:pPr marL="914400" lvl="1" indent="-457200" algn="just">
              <a:buFont typeface="Wingdings" pitchFamily="2" charset="2"/>
              <a:buChar char="ü"/>
            </a:pPr>
            <a:endParaRPr lang="en-GB" sz="1000" b="1" dirty="0">
              <a:latin typeface="Times New Roman" pitchFamily="18" charset="0"/>
              <a:cs typeface="Times New Roman" pitchFamily="18" charset="0"/>
            </a:endParaRPr>
          </a:p>
          <a:p>
            <a:pPr marL="914400" lvl="1" indent="-457200" algn="just">
              <a:buFont typeface="Wingdings" pitchFamily="2" charset="2"/>
              <a:buChar char="ü"/>
            </a:pPr>
            <a:r>
              <a:rPr lang="en-GB" sz="3200" b="1" dirty="0">
                <a:latin typeface="Times New Roman" pitchFamily="18" charset="0"/>
                <a:cs typeface="Times New Roman" pitchFamily="18" charset="0"/>
              </a:rPr>
              <a:t>Uses people or resources to achieve that objective</a:t>
            </a:r>
          </a:p>
          <a:p>
            <a:endParaRPr lang="ar-YE" dirty="0"/>
          </a:p>
        </p:txBody>
      </p:sp>
    </p:spTree>
    <p:extLst>
      <p:ext uri="{BB962C8B-B14F-4D97-AF65-F5344CB8AC3E}">
        <p14:creationId xmlns:p14="http://schemas.microsoft.com/office/powerpoint/2010/main" val="41099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7076"/>
            <a:ext cx="9144000" cy="741124"/>
          </a:xfrm>
        </p:spPr>
        <p:txBody>
          <a:bodyPr>
            <a:normAutofit fontScale="90000"/>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sz="4000" b="1" dirty="0" smtClean="0"/>
              <a:t> </a:t>
            </a:r>
            <a:r>
              <a:rPr lang="en-US" sz="4900" b="1" dirty="0">
                <a:solidFill>
                  <a:srgbClr val="FF0000"/>
                </a:solidFill>
                <a:latin typeface="Times New Roman" pitchFamily="18" charset="0"/>
                <a:cs typeface="Times New Roman" pitchFamily="18" charset="0"/>
              </a:rPr>
              <a:t>Project </a:t>
            </a:r>
            <a:r>
              <a:rPr lang="en-US" sz="4900" b="1" dirty="0" smtClean="0">
                <a:solidFill>
                  <a:srgbClr val="FF0000"/>
                </a:solidFill>
                <a:latin typeface="Times New Roman" pitchFamily="18" charset="0"/>
                <a:cs typeface="Times New Roman" pitchFamily="18" charset="0"/>
              </a:rPr>
              <a:t>Management</a:t>
            </a:r>
            <a:r>
              <a:rPr lang="en-US" sz="4000" b="1" dirty="0">
                <a:solidFill>
                  <a:srgbClr val="002060"/>
                </a:solidFill>
                <a:latin typeface="Times New Roman"/>
                <a:ea typeface="Times New Roman"/>
                <a:cs typeface="Arial"/>
              </a:rPr>
              <a:t/>
            </a:r>
            <a:br>
              <a:rPr lang="en-US" sz="4000" b="1" dirty="0">
                <a:solidFill>
                  <a:srgbClr val="002060"/>
                </a:solidFill>
                <a:latin typeface="Times New Roman"/>
                <a:ea typeface="Times New Roman"/>
                <a:cs typeface="Arial"/>
              </a:rPr>
            </a:br>
            <a: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34</a:t>
            </a:fld>
            <a:endParaRPr lang="en-US" dirty="0"/>
          </a:p>
        </p:txBody>
      </p:sp>
      <p:sp>
        <p:nvSpPr>
          <p:cNvPr id="15" name="TextBox 14"/>
          <p:cNvSpPr txBox="1"/>
          <p:nvPr/>
        </p:nvSpPr>
        <p:spPr>
          <a:xfrm>
            <a:off x="0" y="954643"/>
            <a:ext cx="9144000" cy="6018186"/>
          </a:xfrm>
          <a:prstGeom prst="rect">
            <a:avLst/>
          </a:prstGeom>
          <a:noFill/>
        </p:spPr>
        <p:txBody>
          <a:bodyPr wrap="square" rtlCol="1">
            <a:spAutoFit/>
          </a:bodyPr>
          <a:lstStyle/>
          <a:p>
            <a:pPr algn="just">
              <a:lnSpc>
                <a:spcPct val="114000"/>
              </a:lnSpc>
              <a:spcBef>
                <a:spcPts val="0"/>
              </a:spcBef>
            </a:pPr>
            <a:r>
              <a:rPr lang="en-US" sz="3200" b="1" u="sng" dirty="0">
                <a:solidFill>
                  <a:srgbClr val="00B0F0"/>
                </a:solidFill>
                <a:latin typeface="Times New Roman" pitchFamily="18" charset="0"/>
                <a:cs typeface="Times New Roman" pitchFamily="18" charset="0"/>
              </a:rPr>
              <a:t>Project </a:t>
            </a:r>
            <a:r>
              <a:rPr lang="en-US" sz="3200" b="1" u="sng" dirty="0" smtClean="0">
                <a:solidFill>
                  <a:srgbClr val="00B0F0"/>
                </a:solidFill>
                <a:latin typeface="Times New Roman" pitchFamily="18" charset="0"/>
                <a:cs typeface="Times New Roman" pitchFamily="18" charset="0"/>
              </a:rPr>
              <a:t>management:</a:t>
            </a:r>
          </a:p>
          <a:p>
            <a:pPr algn="just">
              <a:lnSpc>
                <a:spcPct val="114000"/>
              </a:lnSpc>
              <a:spcBef>
                <a:spcPts val="0"/>
              </a:spcBef>
            </a:pPr>
            <a:endParaRPr lang="en-US" b="1" u="sng" dirty="0">
              <a:solidFill>
                <a:srgbClr val="00B0F0"/>
              </a:solidFill>
              <a:latin typeface="Times New Roman" pitchFamily="18" charset="0"/>
              <a:cs typeface="Times New Roman" pitchFamily="18" charset="0"/>
            </a:endParaRPr>
          </a:p>
          <a:p>
            <a:pPr marL="514350" indent="-514350" algn="just">
              <a:lnSpc>
                <a:spcPct val="114000"/>
              </a:lnSpc>
              <a:spcBef>
                <a:spcPts val="0"/>
              </a:spcBef>
              <a:buFont typeface="+mj-lt"/>
              <a:buAutoNum type="arabicPeriod"/>
            </a:pPr>
            <a:r>
              <a:rPr lang="en-US" sz="3200" b="1" dirty="0" smtClean="0">
                <a:latin typeface="Times New Roman" pitchFamily="18" charset="0"/>
                <a:cs typeface="Times New Roman" pitchFamily="18" charset="0"/>
              </a:rPr>
              <a:t>It </a:t>
            </a:r>
            <a:r>
              <a:rPr lang="en-US" sz="3200" b="1" dirty="0">
                <a:latin typeface="Times New Roman" pitchFamily="18" charset="0"/>
                <a:cs typeface="Times New Roman" pitchFamily="18" charset="0"/>
              </a:rPr>
              <a:t>is the discipline of </a:t>
            </a:r>
            <a:r>
              <a:rPr lang="en-US" sz="3200" b="1" dirty="0">
                <a:latin typeface="Times New Roman" pitchFamily="18" charset="0"/>
                <a:cs typeface="Times New Roman" pitchFamily="18" charset="0"/>
                <a:hlinkClick r:id="rId3" tooltip="Planning"/>
              </a:rPr>
              <a:t>planning</a:t>
            </a:r>
            <a:r>
              <a:rPr lang="en-US" sz="3200" b="1" dirty="0">
                <a:latin typeface="Times New Roman" pitchFamily="18" charset="0"/>
                <a:cs typeface="Times New Roman" pitchFamily="18" charset="0"/>
              </a:rPr>
              <a:t>, </a:t>
            </a:r>
            <a:r>
              <a:rPr lang="en-US" sz="3200" b="1" dirty="0">
                <a:latin typeface="Times New Roman" pitchFamily="18" charset="0"/>
                <a:cs typeface="Times New Roman" pitchFamily="18" charset="0"/>
                <a:hlinkClick r:id="rId4" tooltip="Organizing"/>
              </a:rPr>
              <a:t>organizing</a:t>
            </a:r>
            <a:r>
              <a:rPr lang="en-US" sz="3200" b="1" dirty="0">
                <a:latin typeface="Times New Roman" pitchFamily="18" charset="0"/>
                <a:cs typeface="Times New Roman" pitchFamily="18" charset="0"/>
              </a:rPr>
              <a:t>, securing and </a:t>
            </a:r>
            <a:r>
              <a:rPr lang="en-US" sz="3200" b="1" dirty="0">
                <a:latin typeface="Times New Roman" pitchFamily="18" charset="0"/>
                <a:cs typeface="Times New Roman" pitchFamily="18" charset="0"/>
                <a:hlinkClick r:id="rId5" tooltip="Managing"/>
              </a:rPr>
              <a:t>managing</a:t>
            </a:r>
            <a:r>
              <a:rPr lang="en-US" sz="3200" b="1" dirty="0">
                <a:latin typeface="Times New Roman" pitchFamily="18" charset="0"/>
                <a:cs typeface="Times New Roman" pitchFamily="18" charset="0"/>
              </a:rPr>
              <a:t> </a:t>
            </a:r>
            <a:r>
              <a:rPr lang="en-US" sz="3200" b="1" dirty="0">
                <a:latin typeface="Times New Roman" pitchFamily="18" charset="0"/>
                <a:cs typeface="Times New Roman" pitchFamily="18" charset="0"/>
                <a:hlinkClick r:id="rId6" tooltip="Resources"/>
              </a:rPr>
              <a:t>resources</a:t>
            </a:r>
            <a:r>
              <a:rPr lang="en-US" sz="3200" b="1" dirty="0">
                <a:latin typeface="Times New Roman" pitchFamily="18" charset="0"/>
                <a:cs typeface="Times New Roman" pitchFamily="18" charset="0"/>
              </a:rPr>
              <a:t> to bring about the successful completion of specific project goals and </a:t>
            </a:r>
            <a:r>
              <a:rPr lang="en-US" sz="3200" b="1" dirty="0" smtClean="0">
                <a:latin typeface="Times New Roman" pitchFamily="18" charset="0"/>
                <a:cs typeface="Times New Roman" pitchFamily="18" charset="0"/>
              </a:rPr>
              <a:t>objectives</a:t>
            </a:r>
            <a:r>
              <a:rPr lang="en-US" sz="3200" dirty="0" smtClean="0">
                <a:latin typeface="Times New Roman" pitchFamily="18" charset="0"/>
                <a:cs typeface="Times New Roman" pitchFamily="18" charset="0"/>
              </a:rPr>
              <a:t>.</a:t>
            </a:r>
          </a:p>
          <a:p>
            <a:pPr marL="342900" indent="-342900" algn="just">
              <a:lnSpc>
                <a:spcPct val="114000"/>
              </a:lnSpc>
              <a:spcBef>
                <a:spcPts val="0"/>
              </a:spcBef>
              <a:buFont typeface="+mj-lt"/>
              <a:buAutoNum type="arabicPeriod"/>
            </a:pPr>
            <a:endParaRPr lang="en-US" sz="1600" dirty="0">
              <a:latin typeface="Times New Roman" pitchFamily="18" charset="0"/>
              <a:cs typeface="Times New Roman" pitchFamily="18" charset="0"/>
            </a:endParaRPr>
          </a:p>
          <a:p>
            <a:pPr marL="514350" indent="-514350" algn="just">
              <a:lnSpc>
                <a:spcPct val="114000"/>
              </a:lnSpc>
              <a:spcBef>
                <a:spcPts val="0"/>
              </a:spcBef>
              <a:buFont typeface="+mj-lt"/>
              <a:buAutoNum type="arabicPeriod"/>
            </a:pPr>
            <a:r>
              <a:rPr lang="en-US" sz="3200" b="1" dirty="0" smtClean="0">
                <a:latin typeface="Times New Roman" pitchFamily="18" charset="0"/>
                <a:cs typeface="Times New Roman" pitchFamily="18" charset="0"/>
              </a:rPr>
              <a:t>It </a:t>
            </a:r>
            <a:r>
              <a:rPr lang="en-US" sz="3200" b="1" dirty="0">
                <a:latin typeface="Times New Roman" pitchFamily="18" charset="0"/>
                <a:cs typeface="Times New Roman" pitchFamily="18" charset="0"/>
              </a:rPr>
              <a:t>is the Coordinated activities to direct and control a project organization to realize a set of defined deliverables up to quality standards and requirements. </a:t>
            </a:r>
            <a:endParaRPr lang="en-US" sz="3200" b="1" i="1" u="sng" dirty="0">
              <a:solidFill>
                <a:srgbClr val="0000CC"/>
              </a:solidFill>
              <a:latin typeface="Times New Roman" pitchFamily="18" charset="0"/>
              <a:cs typeface="Times New Roman" pitchFamily="18" charset="0"/>
            </a:endParaRPr>
          </a:p>
          <a:p>
            <a:endParaRPr lang="ar-EG" dirty="0"/>
          </a:p>
        </p:txBody>
      </p:sp>
    </p:spTree>
    <p:extLst>
      <p:ext uri="{BB962C8B-B14F-4D97-AF65-F5344CB8AC3E}">
        <p14:creationId xmlns:p14="http://schemas.microsoft.com/office/powerpoint/2010/main" val="1426635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anim calcmode="lin" valueType="num">
                                      <p:cBhvr additive="base">
                                        <p:cTn id="7"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xEl>
                                              <p:pRg st="4" end="4"/>
                                            </p:txEl>
                                          </p:spTgt>
                                        </p:tgtEl>
                                        <p:attrNameLst>
                                          <p:attrName>style.visibility</p:attrName>
                                        </p:attrNameLst>
                                      </p:cBhvr>
                                      <p:to>
                                        <p:strVal val="visible"/>
                                      </p:to>
                                    </p:set>
                                    <p:anim calcmode="lin" valueType="num">
                                      <p:cBhvr additive="base">
                                        <p:cTn id="13"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399"/>
            <a:ext cx="9144000" cy="771525"/>
          </a:xfrm>
        </p:spPr>
        <p:txBody>
          <a:bodyPr>
            <a:noAutofit/>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b="1" dirty="0" smtClean="0">
                <a:solidFill>
                  <a:srgbClr val="FF0000"/>
                </a:solidFill>
              </a:rPr>
              <a:t> </a:t>
            </a:r>
            <a:r>
              <a:rPr lang="en-US" b="1" dirty="0">
                <a:solidFill>
                  <a:srgbClr val="FF0000"/>
                </a:solidFill>
                <a:latin typeface="Times New Roman" pitchFamily="18" charset="0"/>
                <a:cs typeface="Times New Roman" pitchFamily="18" charset="0"/>
              </a:rPr>
              <a:t>Project </a:t>
            </a:r>
            <a:r>
              <a:rPr lang="en-US" b="1" dirty="0" smtClean="0">
                <a:solidFill>
                  <a:srgbClr val="FF0000"/>
                </a:solidFill>
                <a:latin typeface="Times New Roman" pitchFamily="18" charset="0"/>
                <a:cs typeface="Times New Roman" pitchFamily="18" charset="0"/>
              </a:rPr>
              <a:t>Management</a:t>
            </a:r>
            <a:r>
              <a:rPr lang="en-US" b="1" dirty="0">
                <a:solidFill>
                  <a:srgbClr val="FF0000"/>
                </a:solidFill>
                <a:latin typeface="Times New Roman"/>
                <a:ea typeface="Times New Roman"/>
                <a:cs typeface="Arial"/>
              </a:rPr>
              <a:t/>
            </a:r>
            <a:br>
              <a:rPr lang="en-US" b="1" dirty="0">
                <a:solidFill>
                  <a:srgbClr val="FF0000"/>
                </a:solidFill>
                <a:latin typeface="Times New Roman"/>
                <a:ea typeface="Times New Roman"/>
                <a:cs typeface="Arial"/>
              </a:rPr>
            </a:br>
            <a:r>
              <a:rPr lang="en-US" b="1" dirty="0">
                <a:solidFill>
                  <a:srgbClr val="FF0000"/>
                </a:solidFill>
                <a:latin typeface="Times New Roman"/>
                <a:ea typeface="Times New Roman"/>
                <a:cs typeface="Arial"/>
              </a:rPr>
              <a:t/>
            </a:r>
            <a:br>
              <a:rPr lang="en-US" b="1" dirty="0">
                <a:solidFill>
                  <a:srgbClr val="FF0000"/>
                </a:solidFill>
                <a:latin typeface="Times New Roman"/>
                <a:ea typeface="Times New Roman"/>
                <a:cs typeface="Arial"/>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endParaRPr lang="en-US" dirty="0">
              <a:solidFill>
                <a:srgbClr val="FF0000"/>
              </a:solidFill>
            </a:endParaRPr>
          </a:p>
        </p:txBody>
      </p:sp>
      <p:sp>
        <p:nvSpPr>
          <p:cNvPr id="6" name="Slide Number Placeholder 5"/>
          <p:cNvSpPr>
            <a:spLocks noGrp="1"/>
          </p:cNvSpPr>
          <p:nvPr>
            <p:ph type="sldNum" sz="quarter" idx="12"/>
          </p:nvPr>
        </p:nvSpPr>
        <p:spPr/>
        <p:txBody>
          <a:bodyPr/>
          <a:lstStyle/>
          <a:p>
            <a:fld id="{64F3F0E1-6389-4DAA-B649-2ED1A0C4FA57}" type="slidenum">
              <a:rPr lang="en-US" smtClean="0"/>
              <a:pPr/>
              <a:t>35</a:t>
            </a:fld>
            <a:endParaRPr lang="en-US" dirty="0"/>
          </a:p>
        </p:txBody>
      </p:sp>
      <p:sp>
        <p:nvSpPr>
          <p:cNvPr id="1126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11267" name="Rectangle 3"/>
          <p:cNvSpPr>
            <a:spLocks noChangeArrowheads="1"/>
          </p:cNvSpPr>
          <p:nvPr/>
        </p:nvSpPr>
        <p:spPr bwMode="auto">
          <a:xfrm>
            <a:off x="0" y="9239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1126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11270" name="Rectangle 6"/>
          <p:cNvSpPr>
            <a:spLocks noChangeArrowheads="1"/>
          </p:cNvSpPr>
          <p:nvPr/>
        </p:nvSpPr>
        <p:spPr bwMode="auto">
          <a:xfrm>
            <a:off x="0" y="8858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11272"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11273" name="Rectangle 9"/>
          <p:cNvSpPr>
            <a:spLocks noChangeArrowheads="1"/>
          </p:cNvSpPr>
          <p:nvPr/>
        </p:nvSpPr>
        <p:spPr bwMode="auto">
          <a:xfrm>
            <a:off x="0" y="9239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11275"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11276" name="Rectangle 12"/>
          <p:cNvSpPr>
            <a:spLocks noChangeArrowheads="1"/>
          </p:cNvSpPr>
          <p:nvPr/>
        </p:nvSpPr>
        <p:spPr bwMode="auto">
          <a:xfrm>
            <a:off x="0" y="10858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مربع نص 2"/>
          <p:cNvSpPr txBox="1"/>
          <p:nvPr/>
        </p:nvSpPr>
        <p:spPr>
          <a:xfrm>
            <a:off x="0" y="1219200"/>
            <a:ext cx="9144000" cy="5791650"/>
          </a:xfrm>
          <a:prstGeom prst="rect">
            <a:avLst/>
          </a:prstGeom>
          <a:noFill/>
        </p:spPr>
        <p:txBody>
          <a:bodyPr wrap="square" rtlCol="1">
            <a:spAutoFit/>
          </a:bodyPr>
          <a:lstStyle/>
          <a:p>
            <a:pPr lvl="0" algn="just">
              <a:lnSpc>
                <a:spcPct val="114000"/>
              </a:lnSpc>
              <a:spcBef>
                <a:spcPts val="1200"/>
              </a:spcBef>
              <a:defRPr/>
            </a:pPr>
            <a:r>
              <a:rPr lang="en-US" sz="3200" b="1" u="sng" dirty="0">
                <a:solidFill>
                  <a:srgbClr val="00B0F0"/>
                </a:solidFill>
                <a:latin typeface="Times New Roman" pitchFamily="18" charset="0"/>
                <a:cs typeface="Times New Roman" pitchFamily="18" charset="0"/>
              </a:rPr>
              <a:t>project </a:t>
            </a:r>
            <a:r>
              <a:rPr lang="en-US" sz="3200" b="1" u="sng" dirty="0" smtClean="0">
                <a:solidFill>
                  <a:srgbClr val="00B0F0"/>
                </a:solidFill>
                <a:latin typeface="Times New Roman" pitchFamily="18" charset="0"/>
                <a:cs typeface="Times New Roman" pitchFamily="18" charset="0"/>
              </a:rPr>
              <a:t>manager:</a:t>
            </a:r>
          </a:p>
          <a:p>
            <a:pPr lvl="0" algn="just">
              <a:lnSpc>
                <a:spcPct val="114000"/>
              </a:lnSpc>
              <a:spcBef>
                <a:spcPts val="1200"/>
              </a:spcBef>
              <a:defRPr/>
            </a:pPr>
            <a:endParaRPr lang="en-US" sz="1000" b="1" u="sng" dirty="0">
              <a:solidFill>
                <a:srgbClr val="00B0F0"/>
              </a:solidFill>
              <a:latin typeface="Times New Roman" pitchFamily="18" charset="0"/>
              <a:cs typeface="Times New Roman" pitchFamily="18" charset="0"/>
            </a:endParaRPr>
          </a:p>
          <a:p>
            <a:pPr marL="457200" lvl="0" indent="-457200" algn="just">
              <a:lnSpc>
                <a:spcPct val="114000"/>
              </a:lnSpc>
              <a:spcBef>
                <a:spcPts val="1200"/>
              </a:spcBef>
              <a:buFont typeface="Wingdings" pitchFamily="2" charset="2"/>
              <a:buChar char="Ø"/>
              <a:defRPr/>
            </a:pPr>
            <a:r>
              <a:rPr lang="en-US" sz="3200" b="1" dirty="0" smtClean="0">
                <a:latin typeface="Times New Roman" pitchFamily="18" charset="0"/>
                <a:cs typeface="Times New Roman" pitchFamily="18" charset="0"/>
              </a:rPr>
              <a:t>He </a:t>
            </a:r>
            <a:r>
              <a:rPr lang="en-US" sz="3200" b="1" dirty="0">
                <a:latin typeface="Times New Roman" pitchFamily="18" charset="0"/>
                <a:cs typeface="Times New Roman" pitchFamily="18" charset="0"/>
              </a:rPr>
              <a:t>is the professional specialist who plans and controls a project</a:t>
            </a:r>
            <a:r>
              <a:rPr lang="en-US" sz="3200" b="1" dirty="0" smtClean="0">
                <a:latin typeface="Times New Roman" pitchFamily="18" charset="0"/>
                <a:cs typeface="Times New Roman" pitchFamily="18" charset="0"/>
              </a:rPr>
              <a:t>.</a:t>
            </a:r>
          </a:p>
          <a:p>
            <a:pPr marL="457200" lvl="0" indent="-457200" algn="just">
              <a:lnSpc>
                <a:spcPct val="114000"/>
              </a:lnSpc>
              <a:spcBef>
                <a:spcPts val="1200"/>
              </a:spcBef>
              <a:buFont typeface="Wingdings" pitchFamily="2" charset="2"/>
              <a:buChar char="Ø"/>
              <a:defRPr/>
            </a:pPr>
            <a:endParaRPr lang="en-US" sz="800" b="1" dirty="0" smtClean="0">
              <a:latin typeface="Times New Roman" pitchFamily="18" charset="0"/>
              <a:cs typeface="Times New Roman" pitchFamily="18" charset="0"/>
            </a:endParaRPr>
          </a:p>
          <a:p>
            <a:pPr marL="457200" lvl="0" indent="-457200" algn="just">
              <a:lnSpc>
                <a:spcPct val="114000"/>
              </a:lnSpc>
              <a:spcBef>
                <a:spcPts val="1200"/>
              </a:spcBef>
              <a:buFont typeface="Wingdings" pitchFamily="2" charset="2"/>
              <a:buChar char="Ø"/>
              <a:defRPr/>
            </a:pPr>
            <a:r>
              <a:rPr lang="en-US" sz="3200" b="1" dirty="0" smtClean="0">
                <a:latin typeface="Times New Roman" pitchFamily="18" charset="0"/>
                <a:cs typeface="Times New Roman" pitchFamily="18" charset="0"/>
              </a:rPr>
              <a:t>He </a:t>
            </a:r>
            <a:r>
              <a:rPr lang="en-US" sz="3200" b="1" dirty="0">
                <a:latin typeface="Times New Roman" pitchFamily="18" charset="0"/>
                <a:cs typeface="Times New Roman" pitchFamily="18" charset="0"/>
              </a:rPr>
              <a:t>is the person who acts in a transparent manner for the sake of the whole project to satisfy the expectations of the customers, the partners delivering goods and services for the project and the other interested parties.</a:t>
            </a:r>
          </a:p>
          <a:p>
            <a:endParaRPr lang="ar-YE" dirty="0"/>
          </a:p>
        </p:txBody>
      </p:sp>
    </p:spTree>
    <p:extLst>
      <p:ext uri="{BB962C8B-B14F-4D97-AF65-F5344CB8AC3E}">
        <p14:creationId xmlns:p14="http://schemas.microsoft.com/office/powerpoint/2010/main" val="2068363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6372"/>
            <a:ext cx="9144000" cy="762000"/>
          </a:xfrm>
        </p:spPr>
        <p:txBody>
          <a:bodyPr>
            <a:noAutofit/>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b="1" dirty="0" smtClean="0">
                <a:solidFill>
                  <a:srgbClr val="FF0000"/>
                </a:solidFill>
              </a:rPr>
              <a:t> </a:t>
            </a:r>
            <a:r>
              <a:rPr lang="en-US" b="1" dirty="0">
                <a:solidFill>
                  <a:srgbClr val="FF0000"/>
                </a:solidFill>
                <a:latin typeface="Times New Roman" pitchFamily="18" charset="0"/>
                <a:cs typeface="Times New Roman" pitchFamily="18" charset="0"/>
              </a:rPr>
              <a:t>Project </a:t>
            </a:r>
            <a:r>
              <a:rPr lang="en-US" b="1" dirty="0" smtClean="0">
                <a:solidFill>
                  <a:srgbClr val="FF0000"/>
                </a:solidFill>
                <a:latin typeface="Times New Roman" pitchFamily="18" charset="0"/>
                <a:cs typeface="Times New Roman" pitchFamily="18" charset="0"/>
              </a:rPr>
              <a:t>Management</a:t>
            </a:r>
            <a:r>
              <a:rPr lang="en-US" b="1" dirty="0">
                <a:solidFill>
                  <a:srgbClr val="FF0000"/>
                </a:solidFill>
                <a:latin typeface="Times New Roman"/>
                <a:ea typeface="Times New Roman"/>
                <a:cs typeface="Arial"/>
              </a:rPr>
              <a:t/>
            </a:r>
            <a:br>
              <a:rPr lang="en-US" b="1" dirty="0">
                <a:solidFill>
                  <a:srgbClr val="FF0000"/>
                </a:solidFill>
                <a:latin typeface="Times New Roman"/>
                <a:ea typeface="Times New Roman"/>
                <a:cs typeface="Arial"/>
              </a:rPr>
            </a:br>
            <a:r>
              <a:rPr lang="en-US" b="1" dirty="0">
                <a:solidFill>
                  <a:srgbClr val="FF0000"/>
                </a:solidFill>
                <a:latin typeface="Times New Roman"/>
                <a:ea typeface="Times New Roman"/>
                <a:cs typeface="Arial"/>
              </a:rPr>
              <a:t/>
            </a:r>
            <a:br>
              <a:rPr lang="en-US" b="1" dirty="0">
                <a:solidFill>
                  <a:srgbClr val="FF0000"/>
                </a:solidFill>
                <a:latin typeface="Times New Roman"/>
                <a:ea typeface="Times New Roman"/>
                <a:cs typeface="Arial"/>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endParaRPr lang="en-US" dirty="0">
              <a:solidFill>
                <a:srgbClr val="FF0000"/>
              </a:solidFill>
            </a:endParaRPr>
          </a:p>
        </p:txBody>
      </p:sp>
      <p:sp>
        <p:nvSpPr>
          <p:cNvPr id="6" name="Slide Number Placeholder 5"/>
          <p:cNvSpPr>
            <a:spLocks noGrp="1"/>
          </p:cNvSpPr>
          <p:nvPr>
            <p:ph type="sldNum" sz="quarter" idx="12"/>
          </p:nvPr>
        </p:nvSpPr>
        <p:spPr/>
        <p:txBody>
          <a:bodyPr/>
          <a:lstStyle/>
          <a:p>
            <a:fld id="{64F3F0E1-6389-4DAA-B649-2ED1A0C4FA57}" type="slidenum">
              <a:rPr lang="en-US" smtClean="0"/>
              <a:pPr/>
              <a:t>36</a:t>
            </a:fld>
            <a:endParaRPr lang="en-US" dirty="0"/>
          </a:p>
        </p:txBody>
      </p:sp>
      <p:sp>
        <p:nvSpPr>
          <p:cNvPr id="3" name="مربع نص 2"/>
          <p:cNvSpPr txBox="1"/>
          <p:nvPr/>
        </p:nvSpPr>
        <p:spPr>
          <a:xfrm>
            <a:off x="0" y="1143000"/>
            <a:ext cx="9144000" cy="6617196"/>
          </a:xfrm>
          <a:prstGeom prst="rect">
            <a:avLst/>
          </a:prstGeom>
          <a:noFill/>
        </p:spPr>
        <p:txBody>
          <a:bodyPr wrap="square" rtlCol="1">
            <a:spAutoFit/>
          </a:bodyPr>
          <a:lstStyle/>
          <a:p>
            <a:pPr marL="457200" indent="-457200">
              <a:buFont typeface="Wingdings" pitchFamily="2" charset="2"/>
              <a:buChar char="Ø"/>
            </a:pPr>
            <a:r>
              <a:rPr lang="en-AU" sz="3200" b="1" dirty="0">
                <a:solidFill>
                  <a:srgbClr val="990099"/>
                </a:solidFill>
                <a:latin typeface="Times New Roman" pitchFamily="18" charset="0"/>
                <a:cs typeface="Times New Roman" pitchFamily="18" charset="0"/>
              </a:rPr>
              <a:t>Project managers should be</a:t>
            </a:r>
            <a:r>
              <a:rPr lang="en-AU" sz="3200" b="1" dirty="0" smtClean="0">
                <a:solidFill>
                  <a:srgbClr val="990099"/>
                </a:solidFill>
                <a:latin typeface="Times New Roman" pitchFamily="18" charset="0"/>
                <a:cs typeface="Times New Roman" pitchFamily="18" charset="0"/>
              </a:rPr>
              <a:t>:</a:t>
            </a:r>
          </a:p>
          <a:p>
            <a:pPr marL="457200" indent="-457200">
              <a:buFont typeface="Wingdings" pitchFamily="2" charset="2"/>
              <a:buChar char="Ø"/>
            </a:pPr>
            <a:endParaRPr lang="en-AU" sz="1400" b="1" dirty="0" smtClean="0">
              <a:solidFill>
                <a:srgbClr val="990099"/>
              </a:solidFill>
              <a:latin typeface="Times New Roman" pitchFamily="18" charset="0"/>
              <a:cs typeface="Times New Roman" pitchFamily="18" charset="0"/>
            </a:endParaRPr>
          </a:p>
          <a:p>
            <a:pPr marL="457200" indent="-457200" algn="just">
              <a:lnSpc>
                <a:spcPct val="90000"/>
              </a:lnSpc>
              <a:spcBef>
                <a:spcPct val="40000"/>
              </a:spcBef>
              <a:buFont typeface="Wingdings" pitchFamily="2" charset="2"/>
              <a:buChar char="ü"/>
            </a:pPr>
            <a:r>
              <a:rPr lang="en-AU" sz="3200" b="1" dirty="0">
                <a:latin typeface="Times New Roman" pitchFamily="18" charset="0"/>
                <a:cs typeface="Times New Roman" pitchFamily="18" charset="0"/>
              </a:rPr>
              <a:t>Good </a:t>
            </a:r>
            <a:r>
              <a:rPr lang="en-AU" sz="3200" b="1" dirty="0" smtClean="0">
                <a:latin typeface="Times New Roman" pitchFamily="18" charset="0"/>
                <a:cs typeface="Times New Roman" pitchFamily="18" charset="0"/>
              </a:rPr>
              <a:t>coaches</a:t>
            </a:r>
          </a:p>
          <a:p>
            <a:pPr marL="457200" indent="-457200" algn="just">
              <a:lnSpc>
                <a:spcPct val="90000"/>
              </a:lnSpc>
              <a:spcBef>
                <a:spcPct val="40000"/>
              </a:spcBef>
              <a:buFont typeface="Wingdings" pitchFamily="2" charset="2"/>
              <a:buChar char="ü"/>
            </a:pPr>
            <a:endParaRPr lang="en-AU" sz="800" b="1" dirty="0">
              <a:latin typeface="Times New Roman" pitchFamily="18" charset="0"/>
              <a:cs typeface="Times New Roman" pitchFamily="18" charset="0"/>
            </a:endParaRPr>
          </a:p>
          <a:p>
            <a:pPr marL="457200" indent="-457200" algn="just">
              <a:lnSpc>
                <a:spcPct val="90000"/>
              </a:lnSpc>
              <a:spcBef>
                <a:spcPct val="40000"/>
              </a:spcBef>
              <a:buFont typeface="Wingdings" pitchFamily="2" charset="2"/>
              <a:buChar char="ü"/>
            </a:pPr>
            <a:r>
              <a:rPr lang="en-AU" sz="3200" b="1" dirty="0">
                <a:latin typeface="Times New Roman" pitchFamily="18" charset="0"/>
                <a:cs typeface="Times New Roman" pitchFamily="18" charset="0"/>
              </a:rPr>
              <a:t>Good </a:t>
            </a:r>
            <a:r>
              <a:rPr lang="en-AU" sz="3200" b="1" dirty="0" smtClean="0">
                <a:latin typeface="Times New Roman" pitchFamily="18" charset="0"/>
                <a:cs typeface="Times New Roman" pitchFamily="18" charset="0"/>
              </a:rPr>
              <a:t>communicators</a:t>
            </a:r>
          </a:p>
          <a:p>
            <a:pPr marL="457200" indent="-457200" algn="just">
              <a:lnSpc>
                <a:spcPct val="90000"/>
              </a:lnSpc>
              <a:spcBef>
                <a:spcPct val="40000"/>
              </a:spcBef>
              <a:buFont typeface="Wingdings" pitchFamily="2" charset="2"/>
              <a:buChar char="ü"/>
            </a:pPr>
            <a:endParaRPr lang="en-AU" sz="800" b="1" dirty="0">
              <a:latin typeface="Times New Roman" pitchFamily="18" charset="0"/>
              <a:cs typeface="Times New Roman" pitchFamily="18" charset="0"/>
            </a:endParaRPr>
          </a:p>
          <a:p>
            <a:pPr marL="457200" indent="-457200" algn="just">
              <a:lnSpc>
                <a:spcPct val="90000"/>
              </a:lnSpc>
              <a:spcBef>
                <a:spcPct val="40000"/>
              </a:spcBef>
              <a:buFont typeface="Wingdings" pitchFamily="2" charset="2"/>
              <a:buChar char="ü"/>
            </a:pPr>
            <a:r>
              <a:rPr lang="en-AU" sz="3200" b="1" dirty="0">
                <a:latin typeface="Times New Roman" pitchFamily="18" charset="0"/>
                <a:cs typeface="Times New Roman" pitchFamily="18" charset="0"/>
              </a:rPr>
              <a:t>Able to organize activities from a variety of </a:t>
            </a:r>
            <a:r>
              <a:rPr lang="en-AU" sz="3200" b="1" dirty="0" smtClean="0">
                <a:latin typeface="Times New Roman" pitchFamily="18" charset="0"/>
                <a:cs typeface="Times New Roman" pitchFamily="18" charset="0"/>
              </a:rPr>
              <a:t>disciplines</a:t>
            </a:r>
          </a:p>
          <a:p>
            <a:pPr marL="457200" indent="-457200" algn="just">
              <a:lnSpc>
                <a:spcPct val="90000"/>
              </a:lnSpc>
              <a:spcBef>
                <a:spcPct val="40000"/>
              </a:spcBef>
              <a:buFont typeface="Wingdings" pitchFamily="2" charset="2"/>
              <a:buChar char="ü"/>
            </a:pPr>
            <a:endParaRPr lang="en-AU" sz="2000" b="1" dirty="0">
              <a:latin typeface="Times New Roman" pitchFamily="18" charset="0"/>
              <a:cs typeface="Times New Roman" pitchFamily="18" charset="0"/>
            </a:endParaRPr>
          </a:p>
          <a:p>
            <a:pPr marL="457200" indent="-457200" algn="just">
              <a:lnSpc>
                <a:spcPct val="90000"/>
              </a:lnSpc>
              <a:spcBef>
                <a:spcPct val="40000"/>
              </a:spcBef>
              <a:buFont typeface="Wingdings" pitchFamily="2" charset="2"/>
              <a:buChar char="Ø"/>
            </a:pPr>
            <a:r>
              <a:rPr lang="en-GB" sz="3200" b="1" dirty="0">
                <a:solidFill>
                  <a:srgbClr val="C00000"/>
                </a:solidFill>
                <a:latin typeface="Times New Roman" pitchFamily="18" charset="0"/>
                <a:cs typeface="Times New Roman" pitchFamily="18" charset="0"/>
              </a:rPr>
              <a:t>Logical sequence of activities to accomplish the project’s goals or </a:t>
            </a:r>
            <a:r>
              <a:rPr lang="en-GB" sz="3200" b="1" dirty="0" smtClean="0">
                <a:solidFill>
                  <a:srgbClr val="C00000"/>
                </a:solidFill>
                <a:latin typeface="Times New Roman" pitchFamily="18" charset="0"/>
                <a:cs typeface="Times New Roman" pitchFamily="18" charset="0"/>
              </a:rPr>
              <a:t>objectives:</a:t>
            </a:r>
            <a:endParaRPr lang="en-US" sz="3200" b="1" dirty="0">
              <a:solidFill>
                <a:srgbClr val="C00000"/>
              </a:solidFill>
              <a:latin typeface="Times New Roman" pitchFamily="18" charset="0"/>
              <a:cs typeface="Times New Roman" pitchFamily="18" charset="0"/>
            </a:endParaRPr>
          </a:p>
          <a:p>
            <a:pPr algn="just">
              <a:lnSpc>
                <a:spcPct val="90000"/>
              </a:lnSpc>
              <a:spcBef>
                <a:spcPct val="40000"/>
              </a:spcBef>
            </a:pPr>
            <a:endParaRPr lang="en-AU" sz="3200" b="1" dirty="0">
              <a:latin typeface="Times New Roman" pitchFamily="18" charset="0"/>
              <a:cs typeface="Times New Roman" pitchFamily="18" charset="0"/>
            </a:endParaRPr>
          </a:p>
          <a:p>
            <a:endParaRPr lang="en-AU" sz="3200" b="1" dirty="0">
              <a:solidFill>
                <a:srgbClr val="990099"/>
              </a:solidFill>
              <a:latin typeface="Times New Roman" pitchFamily="18" charset="0"/>
              <a:cs typeface="Times New Roman" pitchFamily="18" charset="0"/>
            </a:endParaRPr>
          </a:p>
          <a:p>
            <a:endParaRPr lang="ar-YE" dirty="0"/>
          </a:p>
        </p:txBody>
      </p:sp>
    </p:spTree>
    <p:extLst>
      <p:ext uri="{BB962C8B-B14F-4D97-AF65-F5344CB8AC3E}">
        <p14:creationId xmlns:p14="http://schemas.microsoft.com/office/powerpoint/2010/main" val="3557731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additive="base">
                                        <p:cTn id="1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 calcmode="lin" valueType="num">
                                      <p:cBhvr additive="base">
                                        <p:cTn id="2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 calcmode="lin" valueType="num">
                                      <p:cBhvr additive="base">
                                        <p:cTn id="2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1000"/>
                                        <p:tgtEl>
                                          <p:spTgt spid="3">
                                            <p:txEl>
                                              <p:pRg st="8" end="8"/>
                                            </p:txEl>
                                          </p:spTgt>
                                        </p:tgtEl>
                                      </p:cBhvr>
                                    </p:animEffect>
                                    <p:anim calcmode="lin" valueType="num">
                                      <p:cBhvr>
                                        <p:cTn id="3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838200"/>
          </a:xfrm>
        </p:spPr>
        <p:txBody>
          <a:bodyPr>
            <a:normAutofit fontScale="90000"/>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b="1" dirty="0" smtClean="0"/>
              <a:t> </a:t>
            </a:r>
            <a:r>
              <a:rPr lang="en-US" sz="4900" b="1" dirty="0">
                <a:solidFill>
                  <a:srgbClr val="FF0000"/>
                </a:solidFill>
                <a:latin typeface="Times New Roman" pitchFamily="18" charset="0"/>
                <a:cs typeface="Times New Roman" pitchFamily="18" charset="0"/>
              </a:rPr>
              <a:t>Project </a:t>
            </a:r>
            <a:r>
              <a:rPr lang="en-US" sz="4900" b="1" dirty="0" smtClean="0">
                <a:solidFill>
                  <a:srgbClr val="FF0000"/>
                </a:solidFill>
                <a:latin typeface="Times New Roman" pitchFamily="18" charset="0"/>
                <a:cs typeface="Times New Roman" pitchFamily="18" charset="0"/>
              </a:rPr>
              <a:t>Management</a:t>
            </a:r>
            <a:r>
              <a:rPr lang="en-US" sz="4000" b="1" dirty="0">
                <a:solidFill>
                  <a:srgbClr val="002060"/>
                </a:solidFill>
                <a:latin typeface="Times New Roman"/>
                <a:ea typeface="Times New Roman"/>
                <a:cs typeface="Arial"/>
              </a:rPr>
              <a:t/>
            </a:r>
            <a:br>
              <a:rPr lang="en-US" sz="4000" b="1" dirty="0">
                <a:solidFill>
                  <a:srgbClr val="002060"/>
                </a:solidFill>
                <a:latin typeface="Times New Roman"/>
                <a:ea typeface="Times New Roman"/>
                <a:cs typeface="Arial"/>
              </a:rPr>
            </a:br>
            <a: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37</a:t>
            </a:fld>
            <a:endParaRPr lang="en-US" dirty="0"/>
          </a:p>
        </p:txBody>
      </p:sp>
      <p:sp>
        <p:nvSpPr>
          <p:cNvPr id="717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7171" name="Rectangle 3"/>
          <p:cNvSpPr>
            <a:spLocks noChangeArrowheads="1"/>
          </p:cNvSpPr>
          <p:nvPr/>
        </p:nvSpPr>
        <p:spPr bwMode="auto">
          <a:xfrm>
            <a:off x="0" y="11906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717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7174" name="Rectangle 6"/>
          <p:cNvSpPr>
            <a:spLocks noChangeArrowheads="1"/>
          </p:cNvSpPr>
          <p:nvPr/>
        </p:nvSpPr>
        <p:spPr bwMode="auto">
          <a:xfrm>
            <a:off x="0" y="11906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7176"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sp>
        <p:nvSpPr>
          <p:cNvPr id="7177" name="Rectangle 9"/>
          <p:cNvSpPr>
            <a:spLocks noChangeArrowheads="1"/>
          </p:cNvSpPr>
          <p:nvPr/>
        </p:nvSpPr>
        <p:spPr bwMode="auto">
          <a:xfrm>
            <a:off x="0" y="7143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17" name="Rectangle 8"/>
          <p:cNvSpPr>
            <a:spLocks noChangeArrowheads="1"/>
          </p:cNvSpPr>
          <p:nvPr/>
        </p:nvSpPr>
        <p:spPr bwMode="auto">
          <a:xfrm>
            <a:off x="7690371" y="1524000"/>
            <a:ext cx="1081088" cy="792162"/>
          </a:xfrm>
          <a:prstGeom prst="rect">
            <a:avLst/>
          </a:prstGeom>
          <a:solidFill>
            <a:srgbClr val="0070C0"/>
          </a:solidFill>
          <a:ln w="9525" algn="ctr">
            <a:solidFill>
              <a:schemeClr val="tx1"/>
            </a:solidFill>
            <a:round/>
            <a:headEnd/>
            <a:tailEnd/>
          </a:ln>
        </p:spPr>
        <p:txBody>
          <a:bodyPr anchor="ctr"/>
          <a:lstStyle/>
          <a:p>
            <a:pPr algn="ctr"/>
            <a:r>
              <a:rPr lang="en-GB" sz="1600" b="1">
                <a:solidFill>
                  <a:schemeClr val="bg1"/>
                </a:solidFill>
              </a:rPr>
              <a:t>Close</a:t>
            </a:r>
            <a:endParaRPr lang="en-US" sz="1600" b="1">
              <a:solidFill>
                <a:schemeClr val="bg1"/>
              </a:solidFill>
            </a:endParaRPr>
          </a:p>
        </p:txBody>
      </p:sp>
      <p:grpSp>
        <p:nvGrpSpPr>
          <p:cNvPr id="3" name="مجموعة 2"/>
          <p:cNvGrpSpPr/>
          <p:nvPr/>
        </p:nvGrpSpPr>
        <p:grpSpPr>
          <a:xfrm>
            <a:off x="304800" y="1524000"/>
            <a:ext cx="1750218" cy="792162"/>
            <a:chOff x="595313" y="3170238"/>
            <a:chExt cx="1750218" cy="792162"/>
          </a:xfrm>
        </p:grpSpPr>
        <p:sp>
          <p:nvSpPr>
            <p:cNvPr id="11" name="Rectangle 4"/>
            <p:cNvSpPr>
              <a:spLocks noChangeArrowheads="1"/>
            </p:cNvSpPr>
            <p:nvPr/>
          </p:nvSpPr>
          <p:spPr bwMode="auto">
            <a:xfrm>
              <a:off x="595313" y="3170238"/>
              <a:ext cx="1081087" cy="792162"/>
            </a:xfrm>
            <a:prstGeom prst="rect">
              <a:avLst/>
            </a:prstGeom>
            <a:solidFill>
              <a:srgbClr val="0070C0"/>
            </a:solidFill>
            <a:ln w="9525" algn="ctr">
              <a:solidFill>
                <a:schemeClr val="tx1"/>
              </a:solidFill>
              <a:round/>
              <a:headEnd/>
              <a:tailEnd/>
            </a:ln>
          </p:spPr>
          <p:txBody>
            <a:bodyPr anchor="ctr"/>
            <a:lstStyle/>
            <a:p>
              <a:pPr algn="ctr"/>
              <a:r>
                <a:rPr lang="en-GB" sz="1600" b="1">
                  <a:solidFill>
                    <a:schemeClr val="bg1"/>
                  </a:solidFill>
                </a:rPr>
                <a:t>Initiate</a:t>
              </a:r>
              <a:endParaRPr lang="en-US" sz="1600" b="1">
                <a:solidFill>
                  <a:schemeClr val="bg1"/>
                </a:solidFill>
              </a:endParaRPr>
            </a:p>
          </p:txBody>
        </p:sp>
        <p:cxnSp>
          <p:nvCxnSpPr>
            <p:cNvPr id="18" name="Straight Arrow Connector 10"/>
            <p:cNvCxnSpPr>
              <a:cxnSpLocks noChangeShapeType="1"/>
            </p:cNvCxnSpPr>
            <p:nvPr/>
          </p:nvCxnSpPr>
          <p:spPr bwMode="auto">
            <a:xfrm flipV="1">
              <a:off x="1769268" y="3548465"/>
              <a:ext cx="576263" cy="794"/>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grpSp>
        <p:nvGrpSpPr>
          <p:cNvPr id="10" name="مجموعة 9"/>
          <p:cNvGrpSpPr/>
          <p:nvPr/>
        </p:nvGrpSpPr>
        <p:grpSpPr>
          <a:xfrm>
            <a:off x="2057400" y="1524000"/>
            <a:ext cx="1862138" cy="792162"/>
            <a:chOff x="2268538" y="3141663"/>
            <a:chExt cx="1862138" cy="792162"/>
          </a:xfrm>
        </p:grpSpPr>
        <p:sp>
          <p:nvSpPr>
            <p:cNvPr id="13" name="Rectangle 5"/>
            <p:cNvSpPr>
              <a:spLocks noChangeArrowheads="1"/>
            </p:cNvSpPr>
            <p:nvPr/>
          </p:nvSpPr>
          <p:spPr bwMode="auto">
            <a:xfrm>
              <a:off x="2268538" y="3141663"/>
              <a:ext cx="1079500" cy="792162"/>
            </a:xfrm>
            <a:prstGeom prst="rect">
              <a:avLst/>
            </a:prstGeom>
            <a:solidFill>
              <a:srgbClr val="0070C0"/>
            </a:solidFill>
            <a:ln w="9525" algn="ctr">
              <a:solidFill>
                <a:schemeClr val="tx1"/>
              </a:solidFill>
              <a:round/>
              <a:headEnd/>
              <a:tailEnd/>
            </a:ln>
          </p:spPr>
          <p:txBody>
            <a:bodyPr anchor="ctr"/>
            <a:lstStyle/>
            <a:p>
              <a:pPr algn="ctr"/>
              <a:r>
                <a:rPr lang="en-GB" sz="1600" b="1">
                  <a:solidFill>
                    <a:schemeClr val="bg1"/>
                  </a:solidFill>
                </a:rPr>
                <a:t>Plan</a:t>
              </a:r>
              <a:endParaRPr lang="en-US" sz="1600" b="1">
                <a:solidFill>
                  <a:schemeClr val="bg1"/>
                </a:solidFill>
              </a:endParaRPr>
            </a:p>
          </p:txBody>
        </p:sp>
        <p:cxnSp>
          <p:nvCxnSpPr>
            <p:cNvPr id="19" name="Straight Arrow Connector 12"/>
            <p:cNvCxnSpPr>
              <a:cxnSpLocks noChangeShapeType="1"/>
              <a:stCxn id="13" idx="3"/>
              <a:endCxn id="15" idx="1"/>
            </p:cNvCxnSpPr>
            <p:nvPr/>
          </p:nvCxnSpPr>
          <p:spPr bwMode="auto">
            <a:xfrm>
              <a:off x="3348038" y="3537744"/>
              <a:ext cx="782638"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grpSp>
        <p:nvGrpSpPr>
          <p:cNvPr id="23" name="مجموعة 22"/>
          <p:cNvGrpSpPr/>
          <p:nvPr/>
        </p:nvGrpSpPr>
        <p:grpSpPr>
          <a:xfrm>
            <a:off x="3919538" y="1524000"/>
            <a:ext cx="1896683" cy="792162"/>
            <a:chOff x="3995738" y="3141663"/>
            <a:chExt cx="1896683" cy="792162"/>
          </a:xfrm>
        </p:grpSpPr>
        <p:sp>
          <p:nvSpPr>
            <p:cNvPr id="15" name="Rectangle 6"/>
            <p:cNvSpPr>
              <a:spLocks noChangeArrowheads="1"/>
            </p:cNvSpPr>
            <p:nvPr/>
          </p:nvSpPr>
          <p:spPr bwMode="auto">
            <a:xfrm>
              <a:off x="3995738" y="3141663"/>
              <a:ext cx="1081087" cy="792162"/>
            </a:xfrm>
            <a:prstGeom prst="rect">
              <a:avLst/>
            </a:prstGeom>
            <a:solidFill>
              <a:srgbClr val="0070C0"/>
            </a:solidFill>
            <a:ln w="9525" algn="ctr">
              <a:solidFill>
                <a:schemeClr val="tx1"/>
              </a:solidFill>
              <a:round/>
              <a:headEnd/>
              <a:tailEnd/>
            </a:ln>
          </p:spPr>
          <p:txBody>
            <a:bodyPr anchor="ctr"/>
            <a:lstStyle/>
            <a:p>
              <a:pPr algn="ctr"/>
              <a:r>
                <a:rPr lang="en-GB" sz="1600" b="1">
                  <a:solidFill>
                    <a:schemeClr val="bg1"/>
                  </a:solidFill>
                </a:rPr>
                <a:t>Deliver</a:t>
              </a:r>
              <a:endParaRPr lang="en-US" sz="1600" b="1">
                <a:solidFill>
                  <a:schemeClr val="bg1"/>
                </a:solidFill>
              </a:endParaRPr>
            </a:p>
          </p:txBody>
        </p:sp>
        <p:cxnSp>
          <p:nvCxnSpPr>
            <p:cNvPr id="20" name="Straight Arrow Connector 14"/>
            <p:cNvCxnSpPr>
              <a:cxnSpLocks noChangeShapeType="1"/>
            </p:cNvCxnSpPr>
            <p:nvPr/>
          </p:nvCxnSpPr>
          <p:spPr bwMode="auto">
            <a:xfrm>
              <a:off x="5101845" y="3537744"/>
              <a:ext cx="790576"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grpSp>
        <p:nvGrpSpPr>
          <p:cNvPr id="7" name="مجموعة 6"/>
          <p:cNvGrpSpPr/>
          <p:nvPr/>
        </p:nvGrpSpPr>
        <p:grpSpPr>
          <a:xfrm>
            <a:off x="5816221" y="1524000"/>
            <a:ext cx="1874150" cy="792162"/>
            <a:chOff x="5867400" y="3141663"/>
            <a:chExt cx="1874150" cy="792162"/>
          </a:xfrm>
        </p:grpSpPr>
        <p:sp>
          <p:nvSpPr>
            <p:cNvPr id="16" name="Rectangle 7"/>
            <p:cNvSpPr>
              <a:spLocks noChangeArrowheads="1"/>
            </p:cNvSpPr>
            <p:nvPr/>
          </p:nvSpPr>
          <p:spPr bwMode="auto">
            <a:xfrm>
              <a:off x="5867400" y="3141663"/>
              <a:ext cx="1081088" cy="792162"/>
            </a:xfrm>
            <a:prstGeom prst="rect">
              <a:avLst/>
            </a:prstGeom>
            <a:solidFill>
              <a:srgbClr val="0070C0"/>
            </a:solidFill>
            <a:ln w="9525" algn="ctr">
              <a:solidFill>
                <a:schemeClr val="tx1"/>
              </a:solidFill>
              <a:round/>
              <a:headEnd/>
              <a:tailEnd/>
            </a:ln>
          </p:spPr>
          <p:txBody>
            <a:bodyPr anchor="ctr"/>
            <a:lstStyle/>
            <a:p>
              <a:pPr algn="ctr"/>
              <a:r>
                <a:rPr lang="en-GB" sz="1600" b="1">
                  <a:solidFill>
                    <a:schemeClr val="bg1"/>
                  </a:solidFill>
                </a:rPr>
                <a:t>Review</a:t>
              </a:r>
              <a:endParaRPr lang="en-US" sz="1600" b="1">
                <a:solidFill>
                  <a:schemeClr val="bg1"/>
                </a:solidFill>
              </a:endParaRPr>
            </a:p>
          </p:txBody>
        </p:sp>
        <p:cxnSp>
          <p:nvCxnSpPr>
            <p:cNvPr id="21" name="Straight Arrow Connector 16"/>
            <p:cNvCxnSpPr>
              <a:cxnSpLocks noChangeShapeType="1"/>
              <a:stCxn id="16" idx="3"/>
              <a:endCxn id="17" idx="1"/>
            </p:cNvCxnSpPr>
            <p:nvPr/>
          </p:nvCxnSpPr>
          <p:spPr bwMode="auto">
            <a:xfrm>
              <a:off x="6948488" y="3537744"/>
              <a:ext cx="793062"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sp>
        <p:nvSpPr>
          <p:cNvPr id="25" name="مربع نص 24"/>
          <p:cNvSpPr txBox="1"/>
          <p:nvPr/>
        </p:nvSpPr>
        <p:spPr>
          <a:xfrm>
            <a:off x="0" y="3458051"/>
            <a:ext cx="9144000" cy="1723549"/>
          </a:xfrm>
          <a:prstGeom prst="rect">
            <a:avLst/>
          </a:prstGeom>
          <a:noFill/>
        </p:spPr>
        <p:txBody>
          <a:bodyPr wrap="square" rtlCol="1">
            <a:spAutoFit/>
          </a:bodyPr>
          <a:lstStyle/>
          <a:p>
            <a:r>
              <a:rPr lang="en-GB" sz="3200" b="1" dirty="0" smtClean="0">
                <a:solidFill>
                  <a:srgbClr val="C00000"/>
                </a:solidFill>
                <a:latin typeface="Times New Roman" pitchFamily="18" charset="0"/>
                <a:cs typeface="Times New Roman" pitchFamily="18" charset="0"/>
              </a:rPr>
              <a:t>Initiate:</a:t>
            </a:r>
          </a:p>
          <a:p>
            <a:endParaRPr lang="en-GB" sz="1000" b="1" dirty="0" smtClean="0">
              <a:solidFill>
                <a:srgbClr val="C00000"/>
              </a:solidFill>
              <a:latin typeface="Times New Roman" pitchFamily="18" charset="0"/>
              <a:cs typeface="Times New Roman" pitchFamily="18" charset="0"/>
            </a:endParaRPr>
          </a:p>
          <a:p>
            <a:pPr marL="457200" indent="-457200">
              <a:buFont typeface="Wingdings" pitchFamily="2" charset="2"/>
              <a:buChar char="ü"/>
            </a:pPr>
            <a:r>
              <a:rPr lang="en-GB" sz="3200" b="1" dirty="0" smtClean="0">
                <a:latin typeface="Times New Roman" pitchFamily="18" charset="0"/>
                <a:cs typeface="Times New Roman" pitchFamily="18" charset="0"/>
              </a:rPr>
              <a:t>Define scope</a:t>
            </a:r>
          </a:p>
          <a:p>
            <a:pPr marL="457200" indent="-457200">
              <a:buFont typeface="Wingdings" pitchFamily="2" charset="2"/>
              <a:buChar char="ü"/>
            </a:pPr>
            <a:r>
              <a:rPr lang="en-GB" sz="3200" b="1" dirty="0" smtClean="0">
                <a:latin typeface="Times New Roman" pitchFamily="18" charset="0"/>
                <a:cs typeface="Times New Roman" pitchFamily="18" charset="0"/>
              </a:rPr>
              <a:t>Develop </a:t>
            </a:r>
            <a:r>
              <a:rPr lang="en-GB" sz="3200" b="1" dirty="0">
                <a:latin typeface="Times New Roman" pitchFamily="18" charset="0"/>
                <a:cs typeface="Times New Roman" pitchFamily="18" charset="0"/>
              </a:rPr>
              <a:t>outline business case</a:t>
            </a:r>
            <a:endParaRPr lang="ar-YE" sz="3200" b="1" dirty="0">
              <a:latin typeface="Times New Roman" pitchFamily="18" charset="0"/>
              <a:cs typeface="Times New Roman" pitchFamily="18" charset="0"/>
            </a:endParaRPr>
          </a:p>
        </p:txBody>
      </p:sp>
    </p:spTree>
    <p:extLst>
      <p:ext uri="{BB962C8B-B14F-4D97-AF65-F5344CB8AC3E}">
        <p14:creationId xmlns:p14="http://schemas.microsoft.com/office/powerpoint/2010/main" val="2247953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25">
                                            <p:txEl>
                                              <p:pRg st="0" end="0"/>
                                            </p:txEl>
                                          </p:spTgt>
                                        </p:tgtEl>
                                        <p:attrNameLst>
                                          <p:attrName>style.visibility</p:attrName>
                                        </p:attrNameLst>
                                      </p:cBhvr>
                                      <p:to>
                                        <p:strVal val="visible"/>
                                      </p:to>
                                    </p:set>
                                    <p:animEffect transition="in" filter="fade">
                                      <p:cBhvr>
                                        <p:cTn id="37" dur="1000"/>
                                        <p:tgtEl>
                                          <p:spTgt spid="25">
                                            <p:txEl>
                                              <p:pRg st="0" end="0"/>
                                            </p:txEl>
                                          </p:spTgt>
                                        </p:tgtEl>
                                      </p:cBhvr>
                                    </p:animEffect>
                                    <p:anim calcmode="lin" valueType="num">
                                      <p:cBhvr>
                                        <p:cTn id="38" dur="1000" fill="hold"/>
                                        <p:tgtEl>
                                          <p:spTgt spid="25">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2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25">
                                            <p:txEl>
                                              <p:pRg st="2" end="2"/>
                                            </p:txEl>
                                          </p:spTgt>
                                        </p:tgtEl>
                                        <p:attrNameLst>
                                          <p:attrName>style.visibility</p:attrName>
                                        </p:attrNameLst>
                                      </p:cBhvr>
                                      <p:to>
                                        <p:strVal val="visible"/>
                                      </p:to>
                                    </p:set>
                                    <p:animEffect transition="in" filter="fade">
                                      <p:cBhvr>
                                        <p:cTn id="44" dur="1000"/>
                                        <p:tgtEl>
                                          <p:spTgt spid="25">
                                            <p:txEl>
                                              <p:pRg st="2" end="2"/>
                                            </p:txEl>
                                          </p:spTgt>
                                        </p:tgtEl>
                                      </p:cBhvr>
                                    </p:animEffect>
                                    <p:anim calcmode="lin" valueType="num">
                                      <p:cBhvr>
                                        <p:cTn id="45" dur="1000" fill="hold"/>
                                        <p:tgtEl>
                                          <p:spTgt spid="25">
                                            <p:txEl>
                                              <p:pRg st="2" end="2"/>
                                            </p:txEl>
                                          </p:spTgt>
                                        </p:tgtEl>
                                        <p:attrNameLst>
                                          <p:attrName>ppt_x</p:attrName>
                                        </p:attrNameLst>
                                      </p:cBhvr>
                                      <p:tavLst>
                                        <p:tav tm="0">
                                          <p:val>
                                            <p:strVal val="#ppt_x"/>
                                          </p:val>
                                        </p:tav>
                                        <p:tav tm="100000">
                                          <p:val>
                                            <p:strVal val="#ppt_x"/>
                                          </p:val>
                                        </p:tav>
                                      </p:tavLst>
                                    </p:anim>
                                    <p:anim calcmode="lin" valueType="num">
                                      <p:cBhvr>
                                        <p:cTn id="46" dur="1000" fill="hold"/>
                                        <p:tgtEl>
                                          <p:spTgt spid="2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25">
                                            <p:txEl>
                                              <p:pRg st="3" end="3"/>
                                            </p:txEl>
                                          </p:spTgt>
                                        </p:tgtEl>
                                        <p:attrNameLst>
                                          <p:attrName>style.visibility</p:attrName>
                                        </p:attrNameLst>
                                      </p:cBhvr>
                                      <p:to>
                                        <p:strVal val="visible"/>
                                      </p:to>
                                    </p:set>
                                    <p:animEffect transition="in" filter="fade">
                                      <p:cBhvr>
                                        <p:cTn id="51" dur="1000"/>
                                        <p:tgtEl>
                                          <p:spTgt spid="25">
                                            <p:txEl>
                                              <p:pRg st="3" end="3"/>
                                            </p:txEl>
                                          </p:spTgt>
                                        </p:tgtEl>
                                      </p:cBhvr>
                                    </p:animEffect>
                                    <p:anim calcmode="lin" valueType="num">
                                      <p:cBhvr>
                                        <p:cTn id="52" dur="1000" fill="hold"/>
                                        <p:tgtEl>
                                          <p:spTgt spid="25">
                                            <p:txEl>
                                              <p:pRg st="3" end="3"/>
                                            </p:txEl>
                                          </p:spTgt>
                                        </p:tgtEl>
                                        <p:attrNameLst>
                                          <p:attrName>ppt_x</p:attrName>
                                        </p:attrNameLst>
                                      </p:cBhvr>
                                      <p:tavLst>
                                        <p:tav tm="0">
                                          <p:val>
                                            <p:strVal val="#ppt_x"/>
                                          </p:val>
                                        </p:tav>
                                        <p:tav tm="100000">
                                          <p:val>
                                            <p:strVal val="#ppt_x"/>
                                          </p:val>
                                        </p:tav>
                                      </p:tavLst>
                                    </p:anim>
                                    <p:anim calcmode="lin" valueType="num">
                                      <p:cBhvr>
                                        <p:cTn id="53" dur="1000" fill="hold"/>
                                        <p:tgtEl>
                                          <p:spTgt spid="2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0" y="76200"/>
            <a:ext cx="9144000" cy="868362"/>
          </a:xfrm>
        </p:spPr>
        <p:txBody>
          <a:bodyPr/>
          <a:lstStyle/>
          <a:p>
            <a:r>
              <a:rPr lang="en-US" b="1" dirty="0">
                <a:solidFill>
                  <a:srgbClr val="FF0000"/>
                </a:solidFill>
                <a:latin typeface="Times New Roman" pitchFamily="18" charset="0"/>
                <a:cs typeface="Times New Roman" pitchFamily="18" charset="0"/>
              </a:rPr>
              <a:t>Project </a:t>
            </a:r>
            <a:r>
              <a:rPr lang="en-US" b="1" dirty="0" smtClean="0">
                <a:solidFill>
                  <a:srgbClr val="FF0000"/>
                </a:solidFill>
                <a:latin typeface="Times New Roman" pitchFamily="18" charset="0"/>
                <a:cs typeface="Times New Roman" pitchFamily="18" charset="0"/>
              </a:rPr>
              <a:t>Management</a:t>
            </a:r>
            <a:endParaRPr lang="ar-YE" dirty="0"/>
          </a:p>
        </p:txBody>
      </p:sp>
      <p:sp>
        <p:nvSpPr>
          <p:cNvPr id="3" name="عنصر نائب للمحتوى 2"/>
          <p:cNvSpPr>
            <a:spLocks noGrp="1"/>
          </p:cNvSpPr>
          <p:nvPr>
            <p:ph idx="1"/>
          </p:nvPr>
        </p:nvSpPr>
        <p:spPr>
          <a:xfrm>
            <a:off x="0" y="1447800"/>
            <a:ext cx="9144000" cy="4724400"/>
          </a:xfrm>
        </p:spPr>
        <p:txBody>
          <a:bodyPr>
            <a:normAutofit/>
          </a:bodyPr>
          <a:lstStyle/>
          <a:p>
            <a:pPr marL="0" indent="0">
              <a:buNone/>
            </a:pPr>
            <a:r>
              <a:rPr lang="en-GB" b="1" dirty="0" smtClean="0">
                <a:solidFill>
                  <a:srgbClr val="C00000"/>
                </a:solidFill>
                <a:latin typeface="Times New Roman" pitchFamily="18" charset="0"/>
                <a:cs typeface="Times New Roman" pitchFamily="18" charset="0"/>
              </a:rPr>
              <a:t>Plan:</a:t>
            </a:r>
          </a:p>
          <a:p>
            <a:pPr>
              <a:buFont typeface="Wingdings" pitchFamily="2" charset="2"/>
              <a:buChar char="ü"/>
            </a:pPr>
            <a:r>
              <a:rPr lang="en-GB" sz="3200" b="1" dirty="0" smtClean="0">
                <a:latin typeface="Times New Roman" pitchFamily="18" charset="0"/>
                <a:cs typeface="Times New Roman" pitchFamily="18" charset="0"/>
              </a:rPr>
              <a:t>Identify </a:t>
            </a:r>
            <a:r>
              <a:rPr lang="en-GB" sz="3200" b="1" dirty="0">
                <a:latin typeface="Times New Roman" pitchFamily="18" charset="0"/>
                <a:cs typeface="Times New Roman" pitchFamily="18" charset="0"/>
              </a:rPr>
              <a:t>milestones and </a:t>
            </a:r>
            <a:r>
              <a:rPr lang="en-GB" sz="3200" b="1" dirty="0" smtClean="0">
                <a:latin typeface="Times New Roman" pitchFamily="18" charset="0"/>
                <a:cs typeface="Times New Roman" pitchFamily="18" charset="0"/>
              </a:rPr>
              <a:t>outputs</a:t>
            </a:r>
          </a:p>
          <a:p>
            <a:pPr>
              <a:buFont typeface="Wingdings" pitchFamily="2" charset="2"/>
              <a:buChar char="ü"/>
            </a:pPr>
            <a:r>
              <a:rPr lang="en-GB" sz="3200" b="1" dirty="0" smtClean="0">
                <a:latin typeface="Times New Roman" pitchFamily="18" charset="0"/>
                <a:cs typeface="Times New Roman" pitchFamily="18" charset="0"/>
              </a:rPr>
              <a:t>Identify </a:t>
            </a:r>
            <a:r>
              <a:rPr lang="en-GB" sz="3200" b="1" dirty="0">
                <a:latin typeface="Times New Roman" pitchFamily="18" charset="0"/>
                <a:cs typeface="Times New Roman" pitchFamily="18" charset="0"/>
              </a:rPr>
              <a:t>required funding and </a:t>
            </a:r>
            <a:r>
              <a:rPr lang="en-GB" sz="3200" b="1" dirty="0" smtClean="0">
                <a:latin typeface="Times New Roman" pitchFamily="18" charset="0"/>
                <a:cs typeface="Times New Roman" pitchFamily="18" charset="0"/>
              </a:rPr>
              <a:t>resources</a:t>
            </a:r>
          </a:p>
          <a:p>
            <a:pPr>
              <a:buFont typeface="Wingdings" pitchFamily="2" charset="2"/>
              <a:buChar char="ü"/>
            </a:pPr>
            <a:r>
              <a:rPr lang="en-GB" sz="3200" b="1" dirty="0" smtClean="0">
                <a:latin typeface="Times New Roman" pitchFamily="18" charset="0"/>
                <a:cs typeface="Times New Roman" pitchFamily="18" charset="0"/>
              </a:rPr>
              <a:t>Identify </a:t>
            </a:r>
            <a:r>
              <a:rPr lang="en-GB" sz="3200" b="1" dirty="0">
                <a:latin typeface="Times New Roman" pitchFamily="18" charset="0"/>
                <a:cs typeface="Times New Roman" pitchFamily="18" charset="0"/>
              </a:rPr>
              <a:t>and analyse risks </a:t>
            </a:r>
            <a:endParaRPr lang="en-GB" sz="3200" b="1" dirty="0" smtClean="0">
              <a:latin typeface="Times New Roman" pitchFamily="18" charset="0"/>
              <a:cs typeface="Times New Roman" pitchFamily="18" charset="0"/>
            </a:endParaRPr>
          </a:p>
          <a:p>
            <a:pPr>
              <a:buFont typeface="Wingdings" pitchFamily="2" charset="2"/>
              <a:buChar char="ü"/>
            </a:pPr>
            <a:r>
              <a:rPr lang="en-GB" sz="3200" b="1" dirty="0" smtClean="0">
                <a:latin typeface="Times New Roman" pitchFamily="18" charset="0"/>
                <a:cs typeface="Times New Roman" pitchFamily="18" charset="0"/>
              </a:rPr>
              <a:t>Identify </a:t>
            </a:r>
            <a:r>
              <a:rPr lang="en-GB" sz="3200" b="1" dirty="0">
                <a:latin typeface="Times New Roman" pitchFamily="18" charset="0"/>
                <a:cs typeface="Times New Roman" pitchFamily="18" charset="0"/>
              </a:rPr>
              <a:t>and analyse </a:t>
            </a:r>
            <a:r>
              <a:rPr lang="en-GB" sz="3200" b="1" dirty="0" smtClean="0">
                <a:latin typeface="Times New Roman" pitchFamily="18" charset="0"/>
                <a:cs typeface="Times New Roman" pitchFamily="18" charset="0"/>
              </a:rPr>
              <a:t>stakeholders</a:t>
            </a:r>
          </a:p>
          <a:p>
            <a:pPr>
              <a:buFont typeface="Wingdings" pitchFamily="2" charset="2"/>
              <a:buChar char="ü"/>
            </a:pPr>
            <a:r>
              <a:rPr lang="en-GB" sz="3200" b="1" dirty="0" smtClean="0">
                <a:latin typeface="Times New Roman" pitchFamily="18" charset="0"/>
                <a:cs typeface="Times New Roman" pitchFamily="18" charset="0"/>
              </a:rPr>
              <a:t>Develop </a:t>
            </a:r>
            <a:r>
              <a:rPr lang="en-GB" sz="3200" b="1" dirty="0">
                <a:latin typeface="Times New Roman" pitchFamily="18" charset="0"/>
                <a:cs typeface="Times New Roman" pitchFamily="18" charset="0"/>
              </a:rPr>
              <a:t>project initiation document</a:t>
            </a:r>
          </a:p>
          <a:p>
            <a:pPr marL="0" indent="0">
              <a:buNone/>
            </a:pPr>
            <a:endParaRPr lang="ar-YE" dirty="0"/>
          </a:p>
        </p:txBody>
      </p:sp>
      <p:sp>
        <p:nvSpPr>
          <p:cNvPr id="4" name="عنصر نائب لرقم الشريحة 3"/>
          <p:cNvSpPr>
            <a:spLocks noGrp="1"/>
          </p:cNvSpPr>
          <p:nvPr>
            <p:ph type="sldNum" sz="quarter" idx="12"/>
          </p:nvPr>
        </p:nvSpPr>
        <p:spPr/>
        <p:txBody>
          <a:bodyPr/>
          <a:lstStyle/>
          <a:p>
            <a:fld id="{64F3F0E1-6389-4DAA-B649-2ED1A0C4FA57}" type="slidenum">
              <a:rPr lang="en-US" smtClean="0"/>
              <a:pPr/>
              <a:t>38</a:t>
            </a:fld>
            <a:endParaRPr lang="en-US" dirty="0"/>
          </a:p>
        </p:txBody>
      </p:sp>
    </p:spTree>
    <p:extLst>
      <p:ext uri="{BB962C8B-B14F-4D97-AF65-F5344CB8AC3E}">
        <p14:creationId xmlns:p14="http://schemas.microsoft.com/office/powerpoint/2010/main" val="3544267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874831"/>
          </a:xfrm>
        </p:spPr>
        <p:txBody>
          <a:bodyPr>
            <a:noAutofit/>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b="1" dirty="0" smtClean="0">
                <a:solidFill>
                  <a:srgbClr val="FF0000"/>
                </a:solidFill>
              </a:rPr>
              <a:t> </a:t>
            </a:r>
            <a:r>
              <a:rPr lang="en-US" b="1" dirty="0">
                <a:solidFill>
                  <a:srgbClr val="FF0000"/>
                </a:solidFill>
                <a:latin typeface="Times New Roman" pitchFamily="18" charset="0"/>
                <a:cs typeface="Times New Roman" pitchFamily="18" charset="0"/>
              </a:rPr>
              <a:t>Project </a:t>
            </a:r>
            <a:r>
              <a:rPr lang="en-US" b="1" dirty="0" smtClean="0">
                <a:solidFill>
                  <a:srgbClr val="FF0000"/>
                </a:solidFill>
                <a:latin typeface="Times New Roman" pitchFamily="18" charset="0"/>
                <a:cs typeface="Times New Roman" pitchFamily="18" charset="0"/>
              </a:rPr>
              <a:t>Management</a:t>
            </a:r>
            <a:r>
              <a:rPr lang="en-US" b="1" dirty="0" smtClean="0">
                <a:solidFill>
                  <a:srgbClr val="FF0000"/>
                </a:solidFill>
                <a:latin typeface="Times New Roman"/>
                <a:ea typeface="Times New Roman"/>
                <a:cs typeface="Arial"/>
              </a:rPr>
              <a:t/>
            </a:r>
            <a:br>
              <a:rPr lang="en-US" b="1" dirty="0" smtClean="0">
                <a:solidFill>
                  <a:srgbClr val="FF0000"/>
                </a:solidFill>
                <a:latin typeface="Times New Roman"/>
                <a:ea typeface="Times New Roman"/>
                <a:cs typeface="Arial"/>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br>
            <a:endParaRPr lang="en-US" dirty="0">
              <a:solidFill>
                <a:srgbClr val="FF0000"/>
              </a:solidFill>
            </a:endParaRPr>
          </a:p>
        </p:txBody>
      </p:sp>
      <p:sp>
        <p:nvSpPr>
          <p:cNvPr id="6" name="Slide Number Placeholder 5"/>
          <p:cNvSpPr>
            <a:spLocks noGrp="1"/>
          </p:cNvSpPr>
          <p:nvPr>
            <p:ph type="sldNum" sz="quarter" idx="12"/>
          </p:nvPr>
        </p:nvSpPr>
        <p:spPr/>
        <p:txBody>
          <a:bodyPr/>
          <a:lstStyle/>
          <a:p>
            <a:fld id="{64F3F0E1-6389-4DAA-B649-2ED1A0C4FA57}" type="slidenum">
              <a:rPr lang="en-US" smtClean="0"/>
              <a:pPr/>
              <a:t>39</a:t>
            </a:fld>
            <a:endParaRPr lang="en-US" dirty="0"/>
          </a:p>
        </p:txBody>
      </p:sp>
      <p:sp>
        <p:nvSpPr>
          <p:cNvPr id="3" name="مربع نص 2"/>
          <p:cNvSpPr txBox="1"/>
          <p:nvPr/>
        </p:nvSpPr>
        <p:spPr>
          <a:xfrm>
            <a:off x="0" y="1744682"/>
            <a:ext cx="9144000" cy="3970318"/>
          </a:xfrm>
          <a:prstGeom prst="rect">
            <a:avLst/>
          </a:prstGeom>
          <a:noFill/>
        </p:spPr>
        <p:txBody>
          <a:bodyPr wrap="square" rtlCol="1">
            <a:spAutoFit/>
          </a:bodyPr>
          <a:lstStyle/>
          <a:p>
            <a:pPr algn="just"/>
            <a:r>
              <a:rPr lang="en-GB" sz="3200" b="1" dirty="0" smtClean="0">
                <a:solidFill>
                  <a:srgbClr val="C00000"/>
                </a:solidFill>
                <a:latin typeface="Times New Roman" pitchFamily="18" charset="0"/>
                <a:cs typeface="Times New Roman" pitchFamily="18" charset="0"/>
              </a:rPr>
              <a:t>Deliver:</a:t>
            </a:r>
          </a:p>
          <a:p>
            <a:pPr algn="just"/>
            <a:endParaRPr lang="en-GB" sz="1000" b="1" dirty="0" smtClean="0">
              <a:solidFill>
                <a:srgbClr val="C00000"/>
              </a:solidFill>
              <a:latin typeface="Times New Roman" pitchFamily="18" charset="0"/>
              <a:cs typeface="Times New Roman" pitchFamily="18" charset="0"/>
            </a:endParaRPr>
          </a:p>
          <a:p>
            <a:pPr marL="457200" indent="-457200" algn="just">
              <a:buFont typeface="Wingdings" pitchFamily="2" charset="2"/>
              <a:buChar char="ü"/>
            </a:pPr>
            <a:r>
              <a:rPr lang="en-GB" sz="3200" b="1" dirty="0" smtClean="0">
                <a:latin typeface="Times New Roman" pitchFamily="18" charset="0"/>
                <a:cs typeface="Times New Roman" pitchFamily="18" charset="0"/>
              </a:rPr>
              <a:t>Communicate </a:t>
            </a:r>
            <a:r>
              <a:rPr lang="en-GB" sz="3200" b="1" dirty="0">
                <a:latin typeface="Times New Roman" pitchFamily="18" charset="0"/>
                <a:cs typeface="Times New Roman" pitchFamily="18" charset="0"/>
              </a:rPr>
              <a:t>with </a:t>
            </a:r>
            <a:r>
              <a:rPr lang="en-GB" sz="3200" b="1" dirty="0" smtClean="0">
                <a:latin typeface="Times New Roman" pitchFamily="18" charset="0"/>
                <a:cs typeface="Times New Roman" pitchFamily="18" charset="0"/>
              </a:rPr>
              <a:t>stakeholders</a:t>
            </a:r>
          </a:p>
          <a:p>
            <a:pPr marL="457200" indent="-457200" algn="just">
              <a:buFont typeface="Wingdings" pitchFamily="2" charset="2"/>
              <a:buChar char="ü"/>
            </a:pPr>
            <a:r>
              <a:rPr lang="en-GB" sz="3200" b="1" dirty="0" smtClean="0">
                <a:latin typeface="Times New Roman" pitchFamily="18" charset="0"/>
                <a:cs typeface="Times New Roman" pitchFamily="18" charset="0"/>
              </a:rPr>
              <a:t>Identify </a:t>
            </a:r>
            <a:r>
              <a:rPr lang="en-GB" sz="3200" b="1" dirty="0">
                <a:latin typeface="Times New Roman" pitchFamily="18" charset="0"/>
                <a:cs typeface="Times New Roman" pitchFamily="18" charset="0"/>
              </a:rPr>
              <a:t>project governance </a:t>
            </a:r>
            <a:r>
              <a:rPr lang="en-GB" sz="3200" b="1" dirty="0" smtClean="0">
                <a:latin typeface="Times New Roman" pitchFamily="18" charset="0"/>
                <a:cs typeface="Times New Roman" pitchFamily="18" charset="0"/>
              </a:rPr>
              <a:t>requirements</a:t>
            </a:r>
          </a:p>
          <a:p>
            <a:pPr marL="457200" indent="-457200" algn="just">
              <a:buFont typeface="Wingdings" pitchFamily="2" charset="2"/>
              <a:buChar char="ü"/>
            </a:pPr>
            <a:r>
              <a:rPr lang="en-GB" sz="3200" b="1" dirty="0" smtClean="0">
                <a:latin typeface="Times New Roman" pitchFamily="18" charset="0"/>
                <a:cs typeface="Times New Roman" pitchFamily="18" charset="0"/>
              </a:rPr>
              <a:t>Identify </a:t>
            </a:r>
            <a:r>
              <a:rPr lang="en-GB" sz="3200" b="1" dirty="0">
                <a:latin typeface="Times New Roman" pitchFamily="18" charset="0"/>
                <a:cs typeface="Times New Roman" pitchFamily="18" charset="0"/>
              </a:rPr>
              <a:t>and undertake commissioning </a:t>
            </a:r>
            <a:r>
              <a:rPr lang="en-GB" sz="3200" b="1" dirty="0" smtClean="0">
                <a:latin typeface="Times New Roman" pitchFamily="18" charset="0"/>
                <a:cs typeface="Times New Roman" pitchFamily="18" charset="0"/>
              </a:rPr>
              <a:t>exercises</a:t>
            </a:r>
          </a:p>
          <a:p>
            <a:pPr marL="457200" indent="-457200" algn="just">
              <a:buFont typeface="Wingdings" pitchFamily="2" charset="2"/>
              <a:buChar char="ü"/>
            </a:pPr>
            <a:r>
              <a:rPr lang="en-GB" sz="3200" b="1" dirty="0" smtClean="0">
                <a:latin typeface="Times New Roman" pitchFamily="18" charset="0"/>
                <a:cs typeface="Times New Roman" pitchFamily="18" charset="0"/>
              </a:rPr>
              <a:t>Monitor </a:t>
            </a:r>
            <a:r>
              <a:rPr lang="en-GB" sz="3200" b="1" dirty="0">
                <a:latin typeface="Times New Roman" pitchFamily="18" charset="0"/>
                <a:cs typeface="Times New Roman" pitchFamily="18" charset="0"/>
              </a:rPr>
              <a:t>and report on project </a:t>
            </a:r>
            <a:r>
              <a:rPr lang="en-GB" sz="3200" b="1" dirty="0" smtClean="0">
                <a:latin typeface="Times New Roman" pitchFamily="18" charset="0"/>
                <a:cs typeface="Times New Roman" pitchFamily="18" charset="0"/>
              </a:rPr>
              <a:t>progress</a:t>
            </a:r>
          </a:p>
          <a:p>
            <a:pPr marL="457200" indent="-457200" algn="just">
              <a:buFont typeface="Wingdings" pitchFamily="2" charset="2"/>
              <a:buChar char="ü"/>
            </a:pPr>
            <a:r>
              <a:rPr lang="en-GB" sz="3200" b="1" dirty="0" smtClean="0">
                <a:latin typeface="Times New Roman" pitchFamily="18" charset="0"/>
                <a:cs typeface="Times New Roman" pitchFamily="18" charset="0"/>
              </a:rPr>
              <a:t>Manage risks</a:t>
            </a:r>
          </a:p>
          <a:p>
            <a:pPr marL="457200" indent="-457200" algn="just">
              <a:buFont typeface="Wingdings" pitchFamily="2" charset="2"/>
              <a:buChar char="ü"/>
            </a:pPr>
            <a:r>
              <a:rPr lang="en-GB" sz="3200" b="1" dirty="0" smtClean="0">
                <a:latin typeface="Times New Roman" pitchFamily="18" charset="0"/>
                <a:cs typeface="Times New Roman" pitchFamily="18" charset="0"/>
              </a:rPr>
              <a:t>Record </a:t>
            </a:r>
            <a:r>
              <a:rPr lang="en-GB" sz="3200" b="1" dirty="0">
                <a:latin typeface="Times New Roman" pitchFamily="18" charset="0"/>
                <a:cs typeface="Times New Roman" pitchFamily="18" charset="0"/>
              </a:rPr>
              <a:t>lessons learned</a:t>
            </a:r>
          </a:p>
          <a:p>
            <a:endParaRPr lang="ar-YE" dirty="0"/>
          </a:p>
        </p:txBody>
      </p:sp>
    </p:spTree>
    <p:extLst>
      <p:ext uri="{BB962C8B-B14F-4D97-AF65-F5344CB8AC3E}">
        <p14:creationId xmlns:p14="http://schemas.microsoft.com/office/powerpoint/2010/main" val="193501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additive="base">
                                        <p:cTn id="1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 calcmode="lin" valueType="num">
                                      <p:cBhvr additive="base">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 calcmode="lin" valueType="num">
                                      <p:cBhvr additive="base">
                                        <p:cTn id="2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 calcmode="lin" valueType="num">
                                      <p:cBhvr additive="base">
                                        <p:cTn id="3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 calcmode="lin" valueType="num">
                                      <p:cBhvr additive="base">
                                        <p:cTn id="4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920869"/>
          </a:xfrm>
        </p:spPr>
        <p:txBody>
          <a:bodyPr>
            <a:normAutofit fontScale="90000"/>
          </a:bodyPr>
          <a:lstStyle/>
          <a:p>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sz="3600" b="1" dirty="0" smtClean="0"/>
              <a:t> </a:t>
            </a:r>
            <a:r>
              <a:rPr lang="en-US" sz="4900" b="1" dirty="0">
                <a:solidFill>
                  <a:srgbClr val="FF0000"/>
                </a:solidFill>
                <a:latin typeface="Times New Roman" pitchFamily="18" charset="0"/>
                <a:cs typeface="Times New Roman" pitchFamily="18" charset="0"/>
              </a:rPr>
              <a:t>Project </a:t>
            </a:r>
            <a:r>
              <a:rPr lang="en-US" sz="4900" b="1" dirty="0" smtClean="0">
                <a:solidFill>
                  <a:srgbClr val="FF0000"/>
                </a:solidFill>
                <a:latin typeface="Times New Roman" pitchFamily="18" charset="0"/>
                <a:cs typeface="Times New Roman" pitchFamily="18" charset="0"/>
              </a:rPr>
              <a:t>Management</a:t>
            </a:r>
            <a:r>
              <a:rPr lang="en-US" sz="4000" b="1" dirty="0">
                <a:solidFill>
                  <a:srgbClr val="002060"/>
                </a:solidFill>
                <a:latin typeface="Times New Roman"/>
                <a:ea typeface="Times New Roman"/>
                <a:cs typeface="Arial"/>
              </a:rPr>
              <a:t/>
            </a:r>
            <a:br>
              <a:rPr lang="en-US" sz="4000" b="1" dirty="0">
                <a:solidFill>
                  <a:srgbClr val="002060"/>
                </a:solidFill>
                <a:latin typeface="Times New Roman"/>
                <a:ea typeface="Times New Roman"/>
                <a:cs typeface="Arial"/>
              </a:rPr>
            </a:br>
            <a:r>
              <a:rPr lang="en-US" sz="4000" b="1" dirty="0">
                <a:solidFill>
                  <a:srgbClr val="002060"/>
                </a:solidFill>
                <a:latin typeface="Times New Roman"/>
                <a:ea typeface="Times New Roman"/>
                <a:cs typeface="Arial"/>
              </a:rPr>
              <a:t/>
            </a:r>
            <a:br>
              <a:rPr lang="en-US" sz="4000" b="1" dirty="0">
                <a:solidFill>
                  <a:srgbClr val="002060"/>
                </a:solidFill>
                <a:latin typeface="Times New Roman"/>
                <a:ea typeface="Times New Roman"/>
                <a:cs typeface="Arial"/>
              </a:rPr>
            </a:br>
            <a: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sz="4000"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t/>
            </a:r>
            <a:br>
              <a:rPr lang="en-US" dirty="0" smtClean="0">
                <a:ln>
                  <a:gradFill>
                    <a:gsLst>
                      <a:gs pos="0">
                        <a:srgbClr val="000082"/>
                      </a:gs>
                      <a:gs pos="30000">
                        <a:srgbClr val="66008F"/>
                      </a:gs>
                      <a:gs pos="64999">
                        <a:srgbClr val="BA0066"/>
                      </a:gs>
                      <a:gs pos="89999">
                        <a:srgbClr val="FF0000"/>
                      </a:gs>
                      <a:gs pos="100000">
                        <a:srgbClr val="FF8200"/>
                      </a:gs>
                    </a:gsLst>
                    <a:lin ang="5400000" scaled="0"/>
                  </a:gradFill>
                </a:ln>
                <a:solidFill>
                  <a:srgbClr val="002060"/>
                </a:solidFill>
                <a:latin typeface="Times New Roman" pitchFamily="18" charset="0"/>
                <a:cs typeface="Times New Roman" pitchFamily="18" charset="0"/>
              </a:rPr>
            </a:br>
            <a:endParaRPr lang="en-US" dirty="0"/>
          </a:p>
        </p:txBody>
      </p:sp>
      <p:sp>
        <p:nvSpPr>
          <p:cNvPr id="6" name="Slide Number Placeholder 5"/>
          <p:cNvSpPr>
            <a:spLocks noGrp="1"/>
          </p:cNvSpPr>
          <p:nvPr>
            <p:ph type="sldNum" sz="quarter" idx="12"/>
          </p:nvPr>
        </p:nvSpPr>
        <p:spPr/>
        <p:txBody>
          <a:bodyPr/>
          <a:lstStyle/>
          <a:p>
            <a:fld id="{64F3F0E1-6389-4DAA-B649-2ED1A0C4FA57}" type="slidenum">
              <a:rPr lang="en-US" smtClean="0"/>
              <a:pPr/>
              <a:t>40</a:t>
            </a:fld>
            <a:endParaRPr lang="en-US" dirty="0"/>
          </a:p>
        </p:txBody>
      </p:sp>
      <p:sp>
        <p:nvSpPr>
          <p:cNvPr id="3" name="مربع نص 2"/>
          <p:cNvSpPr txBox="1"/>
          <p:nvPr/>
        </p:nvSpPr>
        <p:spPr>
          <a:xfrm>
            <a:off x="0" y="1888391"/>
            <a:ext cx="9144000" cy="3293209"/>
          </a:xfrm>
          <a:prstGeom prst="rect">
            <a:avLst/>
          </a:prstGeom>
          <a:noFill/>
        </p:spPr>
        <p:txBody>
          <a:bodyPr wrap="square" rtlCol="1">
            <a:spAutoFit/>
          </a:bodyPr>
          <a:lstStyle/>
          <a:p>
            <a:r>
              <a:rPr lang="en-GB" sz="3600" b="1" dirty="0" smtClean="0">
                <a:solidFill>
                  <a:srgbClr val="C00000"/>
                </a:solidFill>
                <a:latin typeface="Times New Roman" pitchFamily="18" charset="0"/>
                <a:cs typeface="Times New Roman" pitchFamily="18" charset="0"/>
              </a:rPr>
              <a:t>Review:</a:t>
            </a:r>
          </a:p>
          <a:p>
            <a:endParaRPr lang="en-GB" sz="1000" b="1" dirty="0" smtClean="0">
              <a:solidFill>
                <a:srgbClr val="C00000"/>
              </a:solidFill>
              <a:latin typeface="Times New Roman" pitchFamily="18" charset="0"/>
              <a:cs typeface="Times New Roman" pitchFamily="18" charset="0"/>
            </a:endParaRPr>
          </a:p>
          <a:p>
            <a:pPr marL="571500" indent="-571500">
              <a:buFont typeface="Wingdings" pitchFamily="2" charset="2"/>
              <a:buChar char="ü"/>
            </a:pPr>
            <a:r>
              <a:rPr lang="en-GB" sz="3600" b="1" dirty="0" smtClean="0">
                <a:latin typeface="Times New Roman" pitchFamily="18" charset="0"/>
                <a:cs typeface="Times New Roman" pitchFamily="18" charset="0"/>
              </a:rPr>
              <a:t>Hold </a:t>
            </a:r>
            <a:r>
              <a:rPr lang="en-GB" sz="3600" b="1" dirty="0">
                <a:latin typeface="Times New Roman" pitchFamily="18" charset="0"/>
                <a:cs typeface="Times New Roman" pitchFamily="18" charset="0"/>
              </a:rPr>
              <a:t>post project review meeting</a:t>
            </a:r>
          </a:p>
          <a:p>
            <a:pPr lvl="1"/>
            <a:endParaRPr lang="en-GB" sz="2400" b="1" dirty="0">
              <a:latin typeface="Times New Roman" pitchFamily="18" charset="0"/>
              <a:cs typeface="Times New Roman" pitchFamily="18" charset="0"/>
            </a:endParaRPr>
          </a:p>
          <a:p>
            <a:r>
              <a:rPr lang="en-GB" sz="3600" b="1" dirty="0" smtClean="0">
                <a:solidFill>
                  <a:srgbClr val="C00000"/>
                </a:solidFill>
                <a:latin typeface="Times New Roman" pitchFamily="18" charset="0"/>
                <a:cs typeface="Times New Roman" pitchFamily="18" charset="0"/>
              </a:rPr>
              <a:t>Close:</a:t>
            </a:r>
          </a:p>
          <a:p>
            <a:endParaRPr lang="en-GB" sz="1200" b="1" dirty="0" smtClean="0">
              <a:solidFill>
                <a:srgbClr val="C00000"/>
              </a:solidFill>
              <a:latin typeface="Times New Roman" pitchFamily="18" charset="0"/>
              <a:cs typeface="Times New Roman" pitchFamily="18" charset="0"/>
            </a:endParaRPr>
          </a:p>
          <a:p>
            <a:pPr marL="571500" indent="-571500">
              <a:buFont typeface="Wingdings" pitchFamily="2" charset="2"/>
              <a:buChar char="ü"/>
            </a:pPr>
            <a:r>
              <a:rPr lang="en-GB" sz="3600" b="1" dirty="0" smtClean="0">
                <a:latin typeface="Times New Roman" pitchFamily="18" charset="0"/>
                <a:cs typeface="Times New Roman" pitchFamily="18" charset="0"/>
              </a:rPr>
              <a:t>Close </a:t>
            </a:r>
            <a:r>
              <a:rPr lang="en-GB" sz="3600" b="1" dirty="0">
                <a:latin typeface="Times New Roman" pitchFamily="18" charset="0"/>
                <a:cs typeface="Times New Roman" pitchFamily="18" charset="0"/>
              </a:rPr>
              <a:t>project</a:t>
            </a:r>
            <a:endParaRPr lang="en-US" sz="3600" b="1" dirty="0">
              <a:latin typeface="Times New Roman" pitchFamily="18" charset="0"/>
              <a:cs typeface="Times New Roman" pitchFamily="18" charset="0"/>
            </a:endParaRPr>
          </a:p>
          <a:p>
            <a:endParaRPr lang="ar-YE" dirty="0"/>
          </a:p>
        </p:txBody>
      </p:sp>
    </p:spTree>
    <p:extLst>
      <p:ext uri="{BB962C8B-B14F-4D97-AF65-F5344CB8AC3E}">
        <p14:creationId xmlns:p14="http://schemas.microsoft.com/office/powerpoint/2010/main" val="1039540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additive="base">
                                        <p:cTn id="1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1000"/>
                                        <p:tgtEl>
                                          <p:spTgt spid="3">
                                            <p:txEl>
                                              <p:pRg st="4" end="4"/>
                                            </p:txEl>
                                          </p:spTgt>
                                        </p:tgtEl>
                                      </p:cBhvr>
                                    </p:animEffect>
                                    <p:anim calcmode="lin" valueType="num">
                                      <p:cBhvr>
                                        <p:cTn id="2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4F3F0E1-6389-4DAA-B649-2ED1A0C4FA57}" type="slidenum">
              <a:rPr lang="en-US" smtClean="0"/>
              <a:pPr/>
              <a:t>41</a:t>
            </a:fld>
            <a:endParaRPr lang="en-US" dirty="0"/>
          </a:p>
        </p:txBody>
      </p:sp>
      <p:sp>
        <p:nvSpPr>
          <p:cNvPr id="2" name="مستطيل 1"/>
          <p:cNvSpPr/>
          <p:nvPr/>
        </p:nvSpPr>
        <p:spPr>
          <a:xfrm>
            <a:off x="3034600" y="3104157"/>
            <a:ext cx="3594800" cy="707886"/>
          </a:xfrm>
          <a:prstGeom prst="rect">
            <a:avLst/>
          </a:prstGeom>
        </p:spPr>
        <p:txBody>
          <a:bodyPr wrap="square">
            <a:spAutoFit/>
          </a:bodyPr>
          <a:lstStyle/>
          <a:p>
            <a:r>
              <a:rPr lang="en-US" sz="4000" b="1" dirty="0">
                <a:ln>
                  <a:gradFill>
                    <a:gsLst>
                      <a:gs pos="0">
                        <a:srgbClr val="000082"/>
                      </a:gs>
                      <a:gs pos="30000">
                        <a:srgbClr val="66008F"/>
                      </a:gs>
                      <a:gs pos="64999">
                        <a:srgbClr val="BA0066"/>
                      </a:gs>
                      <a:gs pos="89999">
                        <a:srgbClr val="FF0000"/>
                      </a:gs>
                      <a:gs pos="100000">
                        <a:srgbClr val="FF8200"/>
                      </a:gs>
                    </a:gsLst>
                    <a:lin ang="5400000" scaled="0"/>
                  </a:gradFill>
                </a:ln>
                <a:solidFill>
                  <a:srgbClr val="FF0000"/>
                </a:solidFill>
                <a:latin typeface="Times New Roman" pitchFamily="18" charset="0"/>
                <a:cs typeface="Times New Roman" pitchFamily="18" charset="0"/>
              </a:rPr>
              <a:t>THANK YOU</a:t>
            </a:r>
            <a:endParaRPr lang="en-US" sz="1600" b="1" dirty="0">
              <a:solidFill>
                <a:srgbClr val="FF000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21341</TotalTime>
  <Words>1484</Words>
  <Application>Microsoft Office PowerPoint</Application>
  <PresentationFormat>عرض على الشاشة (3:4)‏</PresentationFormat>
  <Paragraphs>349</Paragraphs>
  <Slides>41</Slides>
  <Notes>24</Notes>
  <HiddenSlides>0</HiddenSlides>
  <MMClips>0</MMClips>
  <ScaleCrop>false</ScaleCrop>
  <HeadingPairs>
    <vt:vector size="4" baseType="variant">
      <vt:variant>
        <vt:lpstr>نسق</vt:lpstr>
      </vt:variant>
      <vt:variant>
        <vt:i4>1</vt:i4>
      </vt:variant>
      <vt:variant>
        <vt:lpstr>عناوين الشرائح</vt:lpstr>
      </vt:variant>
      <vt:variant>
        <vt:i4>41</vt:i4>
      </vt:variant>
    </vt:vector>
  </HeadingPairs>
  <TitlesOfParts>
    <vt:vector size="42" baseType="lpstr">
      <vt:lpstr>Office Theme</vt:lpstr>
      <vt:lpstr>عرض تقديمي في PowerPoint</vt:lpstr>
      <vt:lpstr>   Mining Management and Planning   </vt:lpstr>
      <vt:lpstr>Mining Management and Planning</vt:lpstr>
      <vt:lpstr>Mining Management and Planning</vt:lpstr>
      <vt:lpstr>    Mining Management and Planning   </vt:lpstr>
      <vt:lpstr> Mining Management and Planning</vt:lpstr>
      <vt:lpstr>Mining Management and Planning</vt:lpstr>
      <vt:lpstr>Mining Management and Planning</vt:lpstr>
      <vt:lpstr>    Mining Management and Planning   </vt:lpstr>
      <vt:lpstr>عرض تقديمي في PowerPoint</vt:lpstr>
      <vt:lpstr>Introduction for management of engineering projects</vt:lpstr>
      <vt:lpstr>   Engineering  </vt:lpstr>
      <vt:lpstr> Engineering</vt:lpstr>
      <vt:lpstr>   Management  </vt:lpstr>
      <vt:lpstr> Management</vt:lpstr>
      <vt:lpstr> Engineering Management</vt:lpstr>
      <vt:lpstr>   Engineering Management  </vt:lpstr>
      <vt:lpstr>   Engineering Management  </vt:lpstr>
      <vt:lpstr>    Functions of Engineering Management   </vt:lpstr>
      <vt:lpstr>    1) Planning   </vt:lpstr>
      <vt:lpstr>1) Planning</vt:lpstr>
      <vt:lpstr>    2) Organizing   </vt:lpstr>
      <vt:lpstr> 2) Organizing</vt:lpstr>
      <vt:lpstr>    3) Coordinating / Directing   </vt:lpstr>
      <vt:lpstr>    3) Coordinating / Directing   </vt:lpstr>
      <vt:lpstr>3) Coordinating / Directing</vt:lpstr>
      <vt:lpstr>    4) Communicating   </vt:lpstr>
      <vt:lpstr> 4) Communicating</vt:lpstr>
      <vt:lpstr>   5) Motivating   </vt:lpstr>
      <vt:lpstr>    6) Controlling   </vt:lpstr>
      <vt:lpstr>6) Controlling</vt:lpstr>
      <vt:lpstr>    Project Management   </vt:lpstr>
      <vt:lpstr>    Project Management   </vt:lpstr>
      <vt:lpstr>    Project Management   </vt:lpstr>
      <vt:lpstr>     Project Management    </vt:lpstr>
      <vt:lpstr>     Project Management    </vt:lpstr>
      <vt:lpstr>    Project Management   </vt:lpstr>
      <vt:lpstr>Project Management</vt:lpstr>
      <vt:lpstr>    Project Management   </vt:lpstr>
      <vt:lpstr>     Project Management    </vt:lpstr>
      <vt:lpstr>عرض تقديمي في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Salim</dc:creator>
  <cp:lastModifiedBy>DR.Ahmed Saker 2o1O</cp:lastModifiedBy>
  <cp:revision>1684</cp:revision>
  <dcterms:created xsi:type="dcterms:W3CDTF">2010-10-28T12:47:28Z</dcterms:created>
  <dcterms:modified xsi:type="dcterms:W3CDTF">2025-09-01T06:13:46Z</dcterms:modified>
</cp:coreProperties>
</file>